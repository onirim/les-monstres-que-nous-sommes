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6858000" cy="9906000" type="A4"/>
  <p:notesSz cx="6858000" cy="9144000"/>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2160"/>
        <p:guide pos="312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24053472" name="Espace réservé d'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435121435" name="Espace réservé pour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fr-FR"/>
              <a:t>10/10/2025</a:t>
            </a:fld>
            <a:endParaRPr lang="fr-FR"/>
          </a:p>
        </p:txBody>
      </p:sp>
      <p:sp>
        <p:nvSpPr>
          <p:cNvPr id="138981030" name="Espace réservé pour l'image de la diapositive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1593933100" name="Remarques Espace réservé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33375030"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523080392"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3458530" name="Espace réservé pour l'image de la diapositive 1"/>
          <p:cNvSpPr>
            <a:spLocks noChangeAspect="1" noGrp="1" noRot="1"/>
          </p:cNvSpPr>
          <p:nvPr>
            <p:ph type="sldImg"/>
          </p:nvPr>
        </p:nvSpPr>
        <p:spPr bwMode="auto">
          <a:xfrm>
            <a:off x="2360611" y="1143000"/>
            <a:ext cx="2136773" cy="3086100"/>
          </a:xfrm>
        </p:spPr>
      </p:sp>
      <p:sp>
        <p:nvSpPr>
          <p:cNvPr id="596918037" name="Remarques Espace réservé 2"/>
          <p:cNvSpPr>
            <a:spLocks noGrp="1"/>
          </p:cNvSpPr>
          <p:nvPr>
            <p:ph type="body" idx="1"/>
          </p:nvPr>
        </p:nvSpPr>
        <p:spPr bwMode="auto"/>
        <p:txBody>
          <a:bodyPr/>
          <a:lstStyle/>
          <a:p>
            <a:pPr>
              <a:defRPr/>
            </a:pPr>
            <a:endParaRPr lang="fr-FR">
              <a:latin typeface="Arial"/>
              <a:cs typeface="Arial"/>
            </a:endParaRPr>
          </a:p>
        </p:txBody>
      </p:sp>
      <p:sp>
        <p:nvSpPr>
          <p:cNvPr id="1522199719" name="Espace réservé pour le numéro de diapositive 3"/>
          <p:cNvSpPr>
            <a:spLocks noGrp="1"/>
          </p:cNvSpPr>
          <p:nvPr>
            <p:ph type="sldNum" sz="quarter" idx="10"/>
          </p:nvPr>
        </p:nvSpPr>
        <p:spPr bwMode="auto"/>
        <p:txBody>
          <a:bodyPr/>
          <a:lstStyle/>
          <a:p>
            <a:pPr>
              <a:defRPr/>
            </a:pPr>
            <a:fld id="{55581762-C1F8-3E96-73C0-907FD0C662FA}"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7457419" name="Espace réservé pour l'image de la diapositive 1"/>
          <p:cNvSpPr>
            <a:spLocks noChangeAspect="1" noGrp="1" noRot="1"/>
          </p:cNvSpPr>
          <p:nvPr>
            <p:ph type="sldImg"/>
          </p:nvPr>
        </p:nvSpPr>
        <p:spPr bwMode="auto">
          <a:xfrm>
            <a:off x="2360611" y="1143000"/>
            <a:ext cx="2136773" cy="3086100"/>
          </a:xfrm>
        </p:spPr>
      </p:sp>
      <p:sp>
        <p:nvSpPr>
          <p:cNvPr id="776618428" name="Remarques Espace réservé 2"/>
          <p:cNvSpPr>
            <a:spLocks noGrp="1"/>
          </p:cNvSpPr>
          <p:nvPr>
            <p:ph type="body" idx="1"/>
          </p:nvPr>
        </p:nvSpPr>
        <p:spPr bwMode="auto"/>
        <p:txBody>
          <a:bodyPr/>
          <a:lstStyle/>
          <a:p>
            <a:pPr>
              <a:defRPr/>
            </a:pPr>
            <a:endParaRPr lang="fr-FR">
              <a:latin typeface="Arial"/>
              <a:cs typeface="Arial"/>
            </a:endParaRPr>
          </a:p>
        </p:txBody>
      </p:sp>
      <p:sp>
        <p:nvSpPr>
          <p:cNvPr id="2120926757" name="Espace réservé pour le numéro de diapositive 3"/>
          <p:cNvSpPr>
            <a:spLocks noGrp="1"/>
          </p:cNvSpPr>
          <p:nvPr>
            <p:ph type="sldNum" sz="quarter" idx="10"/>
          </p:nvPr>
        </p:nvSpPr>
        <p:spPr bwMode="auto"/>
        <p:txBody>
          <a:bodyPr/>
          <a:lstStyle/>
          <a:p>
            <a:pPr>
              <a:defRPr/>
            </a:pPr>
            <a:fld id="{33F5B264-1543-156C-C5BD-F85852917A2E}" type="slidenum">
              <a:rPr lang="fr-FR"/>
              <a:t>1</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4272156" name="Espace réservé pour l'image de la diapositive 1"/>
          <p:cNvSpPr>
            <a:spLocks noChangeAspect="1" noGrp="1" noRot="1"/>
          </p:cNvSpPr>
          <p:nvPr>
            <p:ph type="sldImg"/>
          </p:nvPr>
        </p:nvSpPr>
        <p:spPr bwMode="auto">
          <a:xfrm>
            <a:off x="2360613" y="1143000"/>
            <a:ext cx="2136775" cy="3086100"/>
          </a:xfrm>
        </p:spPr>
      </p:sp>
      <p:sp>
        <p:nvSpPr>
          <p:cNvPr id="449958747" name="Remarques Espace réservé 2"/>
          <p:cNvSpPr>
            <a:spLocks noGrp="1"/>
          </p:cNvSpPr>
          <p:nvPr>
            <p:ph type="body" idx="1"/>
          </p:nvPr>
        </p:nvSpPr>
        <p:spPr bwMode="auto"/>
        <p:txBody>
          <a:bodyPr/>
          <a:lstStyle/>
          <a:p>
            <a:pPr>
              <a:defRPr/>
            </a:pPr>
            <a:endParaRPr lang="fr-FR">
              <a:latin typeface="Arial"/>
              <a:cs typeface="Arial"/>
            </a:endParaRPr>
          </a:p>
        </p:txBody>
      </p:sp>
      <p:sp>
        <p:nvSpPr>
          <p:cNvPr id="1419703755" name="Espace réservé pour le numéro de diapositive 3"/>
          <p:cNvSpPr>
            <a:spLocks noGrp="1"/>
          </p:cNvSpPr>
          <p:nvPr>
            <p:ph type="sldNum" sz="quarter" idx="10"/>
          </p:nvPr>
        </p:nvSpPr>
        <p:spPr bwMode="auto"/>
        <p:txBody>
          <a:bodyPr/>
          <a:lstStyle/>
          <a:p>
            <a:pPr>
              <a:defRPr/>
            </a:pPr>
            <a:fld id="{9A9A4C31-699B-2D82-956C-67AB58149746}" type="slidenum">
              <a:rPr lang="fr-FR"/>
              <a:t>2</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9770318" name="Espace réservé pour l'image de la diapositive 1"/>
          <p:cNvSpPr>
            <a:spLocks noChangeAspect="1" noGrp="1" noRot="1"/>
          </p:cNvSpPr>
          <p:nvPr>
            <p:ph type="sldImg"/>
          </p:nvPr>
        </p:nvSpPr>
        <p:spPr bwMode="auto">
          <a:xfrm>
            <a:off x="2360613" y="1143000"/>
            <a:ext cx="2136775" cy="3086100"/>
          </a:xfrm>
        </p:spPr>
      </p:sp>
      <p:sp>
        <p:nvSpPr>
          <p:cNvPr id="402614777" name="Remarques Espace réservé 2"/>
          <p:cNvSpPr>
            <a:spLocks noGrp="1"/>
          </p:cNvSpPr>
          <p:nvPr>
            <p:ph type="body" idx="1"/>
          </p:nvPr>
        </p:nvSpPr>
        <p:spPr bwMode="auto"/>
        <p:txBody>
          <a:bodyPr/>
          <a:lstStyle/>
          <a:p>
            <a:pPr>
              <a:defRPr/>
            </a:pPr>
            <a:endParaRPr lang="fr-FR">
              <a:latin typeface="Arial"/>
              <a:cs typeface="Arial"/>
            </a:endParaRPr>
          </a:p>
        </p:txBody>
      </p:sp>
      <p:sp>
        <p:nvSpPr>
          <p:cNvPr id="1800351018" name="Espace réservé pour le numéro de diapositive 3"/>
          <p:cNvSpPr>
            <a:spLocks noGrp="1"/>
          </p:cNvSpPr>
          <p:nvPr>
            <p:ph type="sldNum" sz="quarter" idx="10"/>
          </p:nvPr>
        </p:nvSpPr>
        <p:spPr bwMode="auto"/>
        <p:txBody>
          <a:bodyPr/>
          <a:lstStyle/>
          <a:p>
            <a:pPr>
              <a:defRPr/>
            </a:pPr>
            <a:fld id="{90F4A2F6-2FA5-D03A-5D12-F9BFA873BBC6}" type="slidenum">
              <a:rPr lang="fr-FR"/>
              <a:t>3</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8109999" name="Espace réservé pour l'image de la diapositive 1"/>
          <p:cNvSpPr>
            <a:spLocks noChangeAspect="1" noGrp="1" noRot="1"/>
          </p:cNvSpPr>
          <p:nvPr>
            <p:ph type="sldImg"/>
          </p:nvPr>
        </p:nvSpPr>
        <p:spPr bwMode="auto">
          <a:xfrm>
            <a:off x="2360613" y="1143000"/>
            <a:ext cx="2136775" cy="3086100"/>
          </a:xfrm>
        </p:spPr>
      </p:sp>
      <p:sp>
        <p:nvSpPr>
          <p:cNvPr id="1200477376" name="Remarques Espace réservé 2"/>
          <p:cNvSpPr>
            <a:spLocks noGrp="1"/>
          </p:cNvSpPr>
          <p:nvPr>
            <p:ph type="body" idx="1"/>
          </p:nvPr>
        </p:nvSpPr>
        <p:spPr bwMode="auto"/>
        <p:txBody>
          <a:bodyPr/>
          <a:lstStyle/>
          <a:p>
            <a:pPr>
              <a:defRPr/>
            </a:pPr>
            <a:endParaRPr lang="fr-FR">
              <a:latin typeface="Arial"/>
              <a:cs typeface="Arial"/>
            </a:endParaRPr>
          </a:p>
        </p:txBody>
      </p:sp>
      <p:sp>
        <p:nvSpPr>
          <p:cNvPr id="1359239459" name="Espace réservé pour le numéro de diapositive 3"/>
          <p:cNvSpPr>
            <a:spLocks noGrp="1"/>
          </p:cNvSpPr>
          <p:nvPr>
            <p:ph type="sldNum" sz="quarter" idx="10"/>
          </p:nvPr>
        </p:nvSpPr>
        <p:spPr bwMode="auto"/>
        <p:txBody>
          <a:bodyPr/>
          <a:lstStyle/>
          <a:p>
            <a:pPr>
              <a:defRPr/>
            </a:pPr>
            <a:fld id="{35732B75-3C70-026C-2C86-1DCCC9CA34DA}" type="slidenum">
              <a:rPr lang="fr-FR"/>
              <a:t>4</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133477" name="Espace réservé pour l'image de la diapositive 1"/>
          <p:cNvSpPr>
            <a:spLocks noChangeAspect="1" noGrp="1" noRot="1"/>
          </p:cNvSpPr>
          <p:nvPr>
            <p:ph type="sldImg"/>
          </p:nvPr>
        </p:nvSpPr>
        <p:spPr bwMode="auto">
          <a:xfrm>
            <a:off x="2360612" y="1143000"/>
            <a:ext cx="2136774" cy="3086100"/>
          </a:xfrm>
        </p:spPr>
      </p:sp>
      <p:sp>
        <p:nvSpPr>
          <p:cNvPr id="1103178183" name="Remarques Espace réservé 2"/>
          <p:cNvSpPr>
            <a:spLocks noGrp="1"/>
          </p:cNvSpPr>
          <p:nvPr>
            <p:ph type="body" idx="1"/>
          </p:nvPr>
        </p:nvSpPr>
        <p:spPr bwMode="auto"/>
        <p:txBody>
          <a:bodyPr/>
          <a:lstStyle/>
          <a:p>
            <a:pPr>
              <a:defRPr/>
            </a:pPr>
            <a:endParaRPr lang="fr-FR">
              <a:latin typeface="Arial"/>
              <a:cs typeface="Arial"/>
            </a:endParaRPr>
          </a:p>
        </p:txBody>
      </p:sp>
      <p:sp>
        <p:nvSpPr>
          <p:cNvPr id="924254884" name="Espace réservé pour le numéro de diapositive 3"/>
          <p:cNvSpPr>
            <a:spLocks noGrp="1"/>
          </p:cNvSpPr>
          <p:nvPr>
            <p:ph type="sldNum" sz="quarter" idx="10"/>
          </p:nvPr>
        </p:nvSpPr>
        <p:spPr bwMode="auto"/>
        <p:txBody>
          <a:bodyPr/>
          <a:lstStyle/>
          <a:p>
            <a:pPr>
              <a:defRPr/>
            </a:pPr>
            <a:fld id="{FDA857BD-F29D-B3C7-D908-3A38D5173B0B}" type="slidenum">
              <a:rPr lang="fr-FR"/>
              <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sp>
        <p:nvSpPr>
          <p:cNvPr id="1111955085" name="Titre 1"/>
          <p:cNvSpPr>
            <a:spLocks noGrp="1"/>
          </p:cNvSpPr>
          <p:nvPr>
            <p:ph type="ctrTitle"/>
          </p:nvPr>
        </p:nvSpPr>
        <p:spPr bwMode="auto">
          <a:xfrm>
            <a:off x="857250" y="1621191"/>
            <a:ext cx="5143500" cy="3448755"/>
          </a:xfrm>
        </p:spPr>
        <p:txBody>
          <a:bodyPr anchor="b"/>
          <a:lstStyle>
            <a:lvl1pPr algn="ctr">
              <a:defRPr sz="6000"/>
            </a:lvl1pPr>
          </a:lstStyle>
          <a:p>
            <a:pPr>
              <a:defRPr/>
            </a:pPr>
            <a:r>
              <a:rPr lang="fr-FR"/>
              <a:t>Modifiez le style du titre</a:t>
            </a:r>
            <a:endParaRPr/>
          </a:p>
        </p:txBody>
      </p:sp>
      <p:sp>
        <p:nvSpPr>
          <p:cNvPr id="551298870" name="Sous-titre 2"/>
          <p:cNvSpPr>
            <a:spLocks noGrp="1"/>
          </p:cNvSpPr>
          <p:nvPr>
            <p:ph type="subTitle" idx="1"/>
          </p:nvPr>
        </p:nvSpPr>
        <p:spPr bwMode="auto">
          <a:xfrm>
            <a:off x="857250" y="5202943"/>
            <a:ext cx="5143500" cy="239165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1955126386"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247310803" name="Espace réservé du pied de page 4"/>
          <p:cNvSpPr>
            <a:spLocks noGrp="1"/>
          </p:cNvSpPr>
          <p:nvPr>
            <p:ph type="ftr" sz="quarter" idx="11"/>
          </p:nvPr>
        </p:nvSpPr>
        <p:spPr bwMode="auto"/>
        <p:txBody>
          <a:bodyPr/>
          <a:lstStyle/>
          <a:p>
            <a:pPr>
              <a:defRPr/>
            </a:pPr>
            <a:endParaRPr lang="fr-FR"/>
          </a:p>
        </p:txBody>
      </p:sp>
      <p:sp>
        <p:nvSpPr>
          <p:cNvPr id="652240188"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re et contenu">
    <p:spTree>
      <p:nvGrpSpPr>
        <p:cNvPr id="1" name=""/>
        <p:cNvGrpSpPr/>
        <p:nvPr/>
      </p:nvGrpSpPr>
      <p:grpSpPr bwMode="auto">
        <a:xfrm>
          <a:off x="0" y="0"/>
          <a:ext cx="0" cy="0"/>
          <a:chOff x="0" y="0"/>
          <a:chExt cx="0" cy="0"/>
        </a:xfrm>
      </p:grpSpPr>
      <p:sp>
        <p:nvSpPr>
          <p:cNvPr id="492328630" name="Titre 1"/>
          <p:cNvSpPr>
            <a:spLocks noGrp="1"/>
          </p:cNvSpPr>
          <p:nvPr>
            <p:ph type="title"/>
          </p:nvPr>
        </p:nvSpPr>
        <p:spPr bwMode="auto"/>
        <p:txBody>
          <a:bodyPr/>
          <a:lstStyle/>
          <a:p>
            <a:pPr>
              <a:defRPr/>
            </a:pPr>
            <a:r>
              <a:rPr lang="fr-FR"/>
              <a:t>Modifiez le style du titre</a:t>
            </a:r>
            <a:endParaRPr/>
          </a:p>
        </p:txBody>
      </p:sp>
      <p:sp>
        <p:nvSpPr>
          <p:cNvPr id="566495090"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904673102"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803669641" name="Espace réservé du pied de page 4"/>
          <p:cNvSpPr>
            <a:spLocks noGrp="1"/>
          </p:cNvSpPr>
          <p:nvPr>
            <p:ph type="ftr" sz="quarter" idx="11"/>
          </p:nvPr>
        </p:nvSpPr>
        <p:spPr bwMode="auto"/>
        <p:txBody>
          <a:bodyPr/>
          <a:lstStyle/>
          <a:p>
            <a:pPr>
              <a:defRPr/>
            </a:pPr>
            <a:endParaRPr lang="fr-FR"/>
          </a:p>
        </p:txBody>
      </p:sp>
      <p:sp>
        <p:nvSpPr>
          <p:cNvPr id="686312119"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Titre de section">
    <p:spTree>
      <p:nvGrpSpPr>
        <p:cNvPr id="1" name=""/>
        <p:cNvGrpSpPr/>
        <p:nvPr/>
      </p:nvGrpSpPr>
      <p:grpSpPr bwMode="auto">
        <a:xfrm>
          <a:off x="0" y="0"/>
          <a:ext cx="0" cy="0"/>
          <a:chOff x="0" y="0"/>
          <a:chExt cx="0" cy="0"/>
        </a:xfrm>
      </p:grpSpPr>
      <p:sp>
        <p:nvSpPr>
          <p:cNvPr id="681654160" name="Titre 1"/>
          <p:cNvSpPr>
            <a:spLocks noGrp="1"/>
          </p:cNvSpPr>
          <p:nvPr>
            <p:ph type="title"/>
          </p:nvPr>
        </p:nvSpPr>
        <p:spPr bwMode="auto">
          <a:xfrm>
            <a:off x="467914" y="2469621"/>
            <a:ext cx="5915025" cy="4120620"/>
          </a:xfrm>
        </p:spPr>
        <p:txBody>
          <a:bodyPr anchor="b"/>
          <a:lstStyle>
            <a:lvl1pPr>
              <a:defRPr sz="6000"/>
            </a:lvl1pPr>
          </a:lstStyle>
          <a:p>
            <a:pPr>
              <a:defRPr/>
            </a:pPr>
            <a:r>
              <a:rPr lang="fr-FR"/>
              <a:t>Modifiez le style du titre</a:t>
            </a:r>
            <a:endParaRPr/>
          </a:p>
        </p:txBody>
      </p:sp>
      <p:sp>
        <p:nvSpPr>
          <p:cNvPr id="334970833" name="Espace réservé du texte 2"/>
          <p:cNvSpPr>
            <a:spLocks noGrp="1"/>
          </p:cNvSpPr>
          <p:nvPr>
            <p:ph type="body" idx="1"/>
          </p:nvPr>
        </p:nvSpPr>
        <p:spPr bwMode="auto">
          <a:xfrm>
            <a:off x="467914" y="6629224"/>
            <a:ext cx="5915025" cy="216693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Modifiez les styles du texte du masque</a:t>
            </a:r>
            <a:endParaRPr/>
          </a:p>
        </p:txBody>
      </p:sp>
      <p:sp>
        <p:nvSpPr>
          <p:cNvPr id="686677399"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607091024" name="Espace réservé du pied de page 4"/>
          <p:cNvSpPr>
            <a:spLocks noGrp="1"/>
          </p:cNvSpPr>
          <p:nvPr>
            <p:ph type="ftr" sz="quarter" idx="11"/>
          </p:nvPr>
        </p:nvSpPr>
        <p:spPr bwMode="auto"/>
        <p:txBody>
          <a:bodyPr/>
          <a:lstStyle/>
          <a:p>
            <a:pPr>
              <a:defRPr/>
            </a:pPr>
            <a:endParaRPr lang="fr-FR"/>
          </a:p>
        </p:txBody>
      </p:sp>
      <p:sp>
        <p:nvSpPr>
          <p:cNvPr id="101288565"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eux contenus">
    <p:spTree>
      <p:nvGrpSpPr>
        <p:cNvPr id="1" name=""/>
        <p:cNvGrpSpPr/>
        <p:nvPr/>
      </p:nvGrpSpPr>
      <p:grpSpPr bwMode="auto">
        <a:xfrm>
          <a:off x="0" y="0"/>
          <a:ext cx="0" cy="0"/>
          <a:chOff x="0" y="0"/>
          <a:chExt cx="0" cy="0"/>
        </a:xfrm>
      </p:grpSpPr>
      <p:sp>
        <p:nvSpPr>
          <p:cNvPr id="1523126754" name="Titre 1"/>
          <p:cNvSpPr>
            <a:spLocks noGrp="1"/>
          </p:cNvSpPr>
          <p:nvPr>
            <p:ph type="title"/>
          </p:nvPr>
        </p:nvSpPr>
        <p:spPr bwMode="auto"/>
        <p:txBody>
          <a:bodyPr/>
          <a:lstStyle/>
          <a:p>
            <a:pPr>
              <a:defRPr/>
            </a:pPr>
            <a:r>
              <a:rPr lang="fr-FR"/>
              <a:t>Modifiez le style du titre</a:t>
            </a:r>
            <a:endParaRPr/>
          </a:p>
        </p:txBody>
      </p:sp>
      <p:sp>
        <p:nvSpPr>
          <p:cNvPr id="1160453935" name="Espace réservé du contenu 2"/>
          <p:cNvSpPr>
            <a:spLocks noGrp="1"/>
          </p:cNvSpPr>
          <p:nvPr>
            <p:ph sz="half" idx="1"/>
          </p:nvPr>
        </p:nvSpPr>
        <p:spPr bwMode="auto">
          <a:xfrm>
            <a:off x="471487" y="2637012"/>
            <a:ext cx="2914650" cy="6285266"/>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52913649" name="Espace réservé du contenu 3"/>
          <p:cNvSpPr>
            <a:spLocks noGrp="1"/>
          </p:cNvSpPr>
          <p:nvPr>
            <p:ph sz="half" idx="2"/>
          </p:nvPr>
        </p:nvSpPr>
        <p:spPr bwMode="auto">
          <a:xfrm>
            <a:off x="3471862" y="2637012"/>
            <a:ext cx="2914650" cy="6285266"/>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8806063"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454709391" name="Espace réservé du pied de page 5"/>
          <p:cNvSpPr>
            <a:spLocks noGrp="1"/>
          </p:cNvSpPr>
          <p:nvPr>
            <p:ph type="ftr" sz="quarter" idx="11"/>
          </p:nvPr>
        </p:nvSpPr>
        <p:spPr bwMode="auto"/>
        <p:txBody>
          <a:bodyPr/>
          <a:lstStyle/>
          <a:p>
            <a:pPr>
              <a:defRPr/>
            </a:pPr>
            <a:endParaRPr lang="fr-FR"/>
          </a:p>
        </p:txBody>
      </p:sp>
      <p:sp>
        <p:nvSpPr>
          <p:cNvPr id="835859745"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1196606919" name="Titre 1"/>
          <p:cNvSpPr>
            <a:spLocks noGrp="1"/>
          </p:cNvSpPr>
          <p:nvPr>
            <p:ph type="title"/>
          </p:nvPr>
        </p:nvSpPr>
        <p:spPr bwMode="auto">
          <a:xfrm>
            <a:off x="472380" y="527402"/>
            <a:ext cx="5915025" cy="1914702"/>
          </a:xfrm>
        </p:spPr>
        <p:txBody>
          <a:bodyPr/>
          <a:lstStyle/>
          <a:p>
            <a:pPr>
              <a:defRPr/>
            </a:pPr>
            <a:r>
              <a:rPr lang="fr-FR"/>
              <a:t>Modifiez le style du titre</a:t>
            </a:r>
            <a:endParaRPr/>
          </a:p>
        </p:txBody>
      </p:sp>
      <p:sp>
        <p:nvSpPr>
          <p:cNvPr id="1921057878" name="Espace réservé du texte 2"/>
          <p:cNvSpPr>
            <a:spLocks noGrp="1"/>
          </p:cNvSpPr>
          <p:nvPr>
            <p:ph type="body" idx="1"/>
          </p:nvPr>
        </p:nvSpPr>
        <p:spPr bwMode="auto">
          <a:xfrm>
            <a:off x="472380" y="2428346"/>
            <a:ext cx="2901255" cy="119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32064156" name="Espace réservé du contenu 3"/>
          <p:cNvSpPr>
            <a:spLocks noGrp="1"/>
          </p:cNvSpPr>
          <p:nvPr>
            <p:ph sz="half" idx="2"/>
          </p:nvPr>
        </p:nvSpPr>
        <p:spPr bwMode="auto">
          <a:xfrm>
            <a:off x="472380" y="3618441"/>
            <a:ext cx="2901255" cy="5322182"/>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09390530" name="Espace réservé du texte 4"/>
          <p:cNvSpPr>
            <a:spLocks noGrp="1"/>
          </p:cNvSpPr>
          <p:nvPr>
            <p:ph type="body" sz="quarter" idx="3"/>
          </p:nvPr>
        </p:nvSpPr>
        <p:spPr bwMode="auto">
          <a:xfrm>
            <a:off x="3471862" y="2428346"/>
            <a:ext cx="2915543" cy="119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340396071" name="Espace réservé du contenu 5"/>
          <p:cNvSpPr>
            <a:spLocks noGrp="1"/>
          </p:cNvSpPr>
          <p:nvPr>
            <p:ph sz="quarter" idx="4"/>
          </p:nvPr>
        </p:nvSpPr>
        <p:spPr bwMode="auto">
          <a:xfrm>
            <a:off x="3471862" y="3618441"/>
            <a:ext cx="2915543" cy="5322182"/>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508385240" name="Espace réservé de la date 6"/>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281965444" name="Espace réservé du pied de page 7"/>
          <p:cNvSpPr>
            <a:spLocks noGrp="1"/>
          </p:cNvSpPr>
          <p:nvPr>
            <p:ph type="ftr" sz="quarter" idx="11"/>
          </p:nvPr>
        </p:nvSpPr>
        <p:spPr bwMode="auto"/>
        <p:txBody>
          <a:bodyPr/>
          <a:lstStyle/>
          <a:p>
            <a:pPr>
              <a:defRPr/>
            </a:pPr>
            <a:endParaRPr lang="fr-FR"/>
          </a:p>
        </p:txBody>
      </p:sp>
      <p:sp>
        <p:nvSpPr>
          <p:cNvPr id="436443957" name="Espace réservé du numéro de diapositive 8"/>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seul">
    <p:spTree>
      <p:nvGrpSpPr>
        <p:cNvPr id="1" name=""/>
        <p:cNvGrpSpPr/>
        <p:nvPr/>
      </p:nvGrpSpPr>
      <p:grpSpPr bwMode="auto">
        <a:xfrm>
          <a:off x="0" y="0"/>
          <a:ext cx="0" cy="0"/>
          <a:chOff x="0" y="0"/>
          <a:chExt cx="0" cy="0"/>
        </a:xfrm>
      </p:grpSpPr>
      <p:sp>
        <p:nvSpPr>
          <p:cNvPr id="61652500" name="Titre 1"/>
          <p:cNvSpPr>
            <a:spLocks noGrp="1"/>
          </p:cNvSpPr>
          <p:nvPr>
            <p:ph type="title"/>
          </p:nvPr>
        </p:nvSpPr>
        <p:spPr bwMode="auto"/>
        <p:txBody>
          <a:bodyPr/>
          <a:lstStyle/>
          <a:p>
            <a:pPr>
              <a:defRPr/>
            </a:pPr>
            <a:r>
              <a:rPr lang="fr-FR"/>
              <a:t>Modifiez le style du titre</a:t>
            </a:r>
            <a:endParaRPr/>
          </a:p>
        </p:txBody>
      </p:sp>
      <p:sp>
        <p:nvSpPr>
          <p:cNvPr id="333842678" name="Espace réservé de la date 2"/>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20096233" name="Espace réservé du pied de page 3"/>
          <p:cNvSpPr>
            <a:spLocks noGrp="1"/>
          </p:cNvSpPr>
          <p:nvPr>
            <p:ph type="ftr" sz="quarter" idx="11"/>
          </p:nvPr>
        </p:nvSpPr>
        <p:spPr bwMode="auto"/>
        <p:txBody>
          <a:bodyPr/>
          <a:lstStyle/>
          <a:p>
            <a:pPr>
              <a:defRPr/>
            </a:pPr>
            <a:endParaRPr lang="fr-FR"/>
          </a:p>
        </p:txBody>
      </p:sp>
      <p:sp>
        <p:nvSpPr>
          <p:cNvPr id="35788139" name="Espace réservé du numéro de diapositive 4"/>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spTree>
      <p:nvGrpSpPr>
        <p:cNvPr id="1" name=""/>
        <p:cNvGrpSpPr/>
        <p:nvPr/>
      </p:nvGrpSpPr>
      <p:grpSpPr bwMode="auto">
        <a:xfrm>
          <a:off x="0" y="0"/>
          <a:ext cx="0" cy="0"/>
          <a:chOff x="0" y="0"/>
          <a:chExt cx="0" cy="0"/>
        </a:xfrm>
      </p:grpSpPr>
      <p:sp>
        <p:nvSpPr>
          <p:cNvPr id="670438681" name="Espace réservé de la date 1"/>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383955478" name="Espace réservé du pied de page 2"/>
          <p:cNvSpPr>
            <a:spLocks noGrp="1"/>
          </p:cNvSpPr>
          <p:nvPr>
            <p:ph type="ftr" sz="quarter" idx="11"/>
          </p:nvPr>
        </p:nvSpPr>
        <p:spPr bwMode="auto"/>
        <p:txBody>
          <a:bodyPr/>
          <a:lstStyle/>
          <a:p>
            <a:pPr>
              <a:defRPr/>
            </a:pPr>
            <a:endParaRPr lang="fr-FR"/>
          </a:p>
        </p:txBody>
      </p:sp>
      <p:sp>
        <p:nvSpPr>
          <p:cNvPr id="953540517" name="Espace réservé du numéro de diapositive 3"/>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u avec légende">
    <p:spTree>
      <p:nvGrpSpPr>
        <p:cNvPr id="1" name=""/>
        <p:cNvGrpSpPr/>
        <p:nvPr/>
      </p:nvGrpSpPr>
      <p:grpSpPr bwMode="auto">
        <a:xfrm>
          <a:off x="0" y="0"/>
          <a:ext cx="0" cy="0"/>
          <a:chOff x="0" y="0"/>
          <a:chExt cx="0" cy="0"/>
        </a:xfrm>
      </p:grpSpPr>
      <p:sp>
        <p:nvSpPr>
          <p:cNvPr id="1258440417" name="Titre 1"/>
          <p:cNvSpPr>
            <a:spLocks noGrp="1"/>
          </p:cNvSpPr>
          <p:nvPr>
            <p:ph type="title"/>
          </p:nvPr>
        </p:nvSpPr>
        <p:spPr bwMode="auto">
          <a:xfrm>
            <a:off x="472380" y="660400"/>
            <a:ext cx="2211883" cy="2311399"/>
          </a:xfrm>
        </p:spPr>
        <p:txBody>
          <a:bodyPr anchor="b"/>
          <a:lstStyle>
            <a:lvl1pPr>
              <a:defRPr sz="3200"/>
            </a:lvl1pPr>
          </a:lstStyle>
          <a:p>
            <a:pPr>
              <a:defRPr/>
            </a:pPr>
            <a:r>
              <a:rPr lang="fr-FR"/>
              <a:t>Modifiez le style du titre</a:t>
            </a:r>
            <a:endParaRPr/>
          </a:p>
        </p:txBody>
      </p:sp>
      <p:sp>
        <p:nvSpPr>
          <p:cNvPr id="1385909986" name="Espace réservé du contenu 2"/>
          <p:cNvSpPr>
            <a:spLocks noGrp="1"/>
          </p:cNvSpPr>
          <p:nvPr>
            <p:ph idx="1"/>
          </p:nvPr>
        </p:nvSpPr>
        <p:spPr bwMode="auto">
          <a:xfrm>
            <a:off x="2915543" y="1426280"/>
            <a:ext cx="3471862" cy="703967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355821592" name="Espace réservé du texte 3"/>
          <p:cNvSpPr>
            <a:spLocks noGrp="1"/>
          </p:cNvSpPr>
          <p:nvPr>
            <p:ph type="body" sz="half" idx="2"/>
          </p:nvPr>
        </p:nvSpPr>
        <p:spPr bwMode="auto">
          <a:xfrm>
            <a:off x="472380" y="2971800"/>
            <a:ext cx="2211883" cy="55056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207154889"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306727308" name="Espace réservé du pied de page 5"/>
          <p:cNvSpPr>
            <a:spLocks noGrp="1"/>
          </p:cNvSpPr>
          <p:nvPr>
            <p:ph type="ftr" sz="quarter" idx="11"/>
          </p:nvPr>
        </p:nvSpPr>
        <p:spPr bwMode="auto"/>
        <p:txBody>
          <a:bodyPr/>
          <a:lstStyle/>
          <a:p>
            <a:pPr>
              <a:defRPr/>
            </a:pPr>
            <a:endParaRPr lang="fr-FR"/>
          </a:p>
        </p:txBody>
      </p:sp>
      <p:sp>
        <p:nvSpPr>
          <p:cNvPr id="1433843493"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 avec légende">
    <p:spTree>
      <p:nvGrpSpPr>
        <p:cNvPr id="1" name=""/>
        <p:cNvGrpSpPr/>
        <p:nvPr/>
      </p:nvGrpSpPr>
      <p:grpSpPr bwMode="auto">
        <a:xfrm>
          <a:off x="0" y="0"/>
          <a:ext cx="0" cy="0"/>
          <a:chOff x="0" y="0"/>
          <a:chExt cx="0" cy="0"/>
        </a:xfrm>
      </p:grpSpPr>
      <p:sp>
        <p:nvSpPr>
          <p:cNvPr id="1747132969" name="Titre 1"/>
          <p:cNvSpPr>
            <a:spLocks noGrp="1"/>
          </p:cNvSpPr>
          <p:nvPr>
            <p:ph type="title"/>
          </p:nvPr>
        </p:nvSpPr>
        <p:spPr bwMode="auto">
          <a:xfrm>
            <a:off x="472380" y="660400"/>
            <a:ext cx="2211883" cy="2311399"/>
          </a:xfrm>
        </p:spPr>
        <p:txBody>
          <a:bodyPr anchor="b"/>
          <a:lstStyle>
            <a:lvl1pPr>
              <a:defRPr sz="3200"/>
            </a:lvl1pPr>
          </a:lstStyle>
          <a:p>
            <a:pPr>
              <a:defRPr/>
            </a:pPr>
            <a:r>
              <a:rPr lang="fr-FR"/>
              <a:t>Modifiez le style du titre</a:t>
            </a:r>
            <a:endParaRPr/>
          </a:p>
        </p:txBody>
      </p:sp>
      <p:sp>
        <p:nvSpPr>
          <p:cNvPr id="777476953" name="Espace réservé pour une image 2"/>
          <p:cNvSpPr>
            <a:spLocks noChangeAspect="1" noGrp="1"/>
          </p:cNvSpPr>
          <p:nvPr>
            <p:ph type="pic" idx="1"/>
          </p:nvPr>
        </p:nvSpPr>
        <p:spPr bwMode="auto">
          <a:xfrm>
            <a:off x="2915543" y="1426280"/>
            <a:ext cx="3471862" cy="703967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a:p>
        </p:txBody>
      </p:sp>
      <p:sp>
        <p:nvSpPr>
          <p:cNvPr id="1550312753" name="Espace réservé du texte 3"/>
          <p:cNvSpPr>
            <a:spLocks noGrp="1"/>
          </p:cNvSpPr>
          <p:nvPr>
            <p:ph type="body" sz="half" idx="2"/>
          </p:nvPr>
        </p:nvSpPr>
        <p:spPr bwMode="auto">
          <a:xfrm>
            <a:off x="472380" y="2971800"/>
            <a:ext cx="2211883" cy="55056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242067377"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979421915" name="Espace réservé du pied de page 5"/>
          <p:cNvSpPr>
            <a:spLocks noGrp="1"/>
          </p:cNvSpPr>
          <p:nvPr>
            <p:ph type="ftr" sz="quarter" idx="11"/>
          </p:nvPr>
        </p:nvSpPr>
        <p:spPr bwMode="auto"/>
        <p:txBody>
          <a:bodyPr/>
          <a:lstStyle/>
          <a:p>
            <a:pPr>
              <a:defRPr/>
            </a:pPr>
            <a:endParaRPr lang="fr-FR"/>
          </a:p>
        </p:txBody>
      </p:sp>
      <p:sp>
        <p:nvSpPr>
          <p:cNvPr id="48652726"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re et texte vertical">
    <p:spTree>
      <p:nvGrpSpPr>
        <p:cNvPr id="1" name=""/>
        <p:cNvGrpSpPr/>
        <p:nvPr/>
      </p:nvGrpSpPr>
      <p:grpSpPr bwMode="auto">
        <a:xfrm>
          <a:off x="0" y="0"/>
          <a:ext cx="0" cy="0"/>
          <a:chOff x="0" y="0"/>
          <a:chExt cx="0" cy="0"/>
        </a:xfrm>
      </p:grpSpPr>
      <p:sp>
        <p:nvSpPr>
          <p:cNvPr id="1852618487" name="Titre 1"/>
          <p:cNvSpPr>
            <a:spLocks noGrp="1"/>
          </p:cNvSpPr>
          <p:nvPr>
            <p:ph type="title"/>
          </p:nvPr>
        </p:nvSpPr>
        <p:spPr bwMode="auto"/>
        <p:txBody>
          <a:bodyPr/>
          <a:lstStyle/>
          <a:p>
            <a:pPr>
              <a:defRPr/>
            </a:pPr>
            <a:r>
              <a:rPr lang="fr-FR"/>
              <a:t>Modifiez le style du titre</a:t>
            </a:r>
            <a:endParaRPr/>
          </a:p>
        </p:txBody>
      </p:sp>
      <p:sp>
        <p:nvSpPr>
          <p:cNvPr id="1733049374"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331243421"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047088515" name="Espace réservé du pied de page 4"/>
          <p:cNvSpPr>
            <a:spLocks noGrp="1"/>
          </p:cNvSpPr>
          <p:nvPr>
            <p:ph type="ftr" sz="quarter" idx="11"/>
          </p:nvPr>
        </p:nvSpPr>
        <p:spPr bwMode="auto"/>
        <p:txBody>
          <a:bodyPr/>
          <a:lstStyle/>
          <a:p>
            <a:pPr>
              <a:defRPr/>
            </a:pPr>
            <a:endParaRPr lang="fr-FR"/>
          </a:p>
        </p:txBody>
      </p:sp>
      <p:sp>
        <p:nvSpPr>
          <p:cNvPr id="1054569677"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itre vertical et texte">
    <p:spTree>
      <p:nvGrpSpPr>
        <p:cNvPr id="1" name=""/>
        <p:cNvGrpSpPr/>
        <p:nvPr/>
      </p:nvGrpSpPr>
      <p:grpSpPr bwMode="auto">
        <a:xfrm>
          <a:off x="0" y="0"/>
          <a:ext cx="0" cy="0"/>
          <a:chOff x="0" y="0"/>
          <a:chExt cx="0" cy="0"/>
        </a:xfrm>
      </p:grpSpPr>
      <p:sp>
        <p:nvSpPr>
          <p:cNvPr id="2082848965" name="Titre vertical 1"/>
          <p:cNvSpPr>
            <a:spLocks noGrp="1"/>
          </p:cNvSpPr>
          <p:nvPr>
            <p:ph type="title" orient="vert"/>
          </p:nvPr>
        </p:nvSpPr>
        <p:spPr bwMode="auto">
          <a:xfrm>
            <a:off x="4907756" y="527402"/>
            <a:ext cx="1478756" cy="8394877"/>
          </a:xfrm>
        </p:spPr>
        <p:txBody>
          <a:bodyPr vert="eaVert"/>
          <a:lstStyle/>
          <a:p>
            <a:pPr>
              <a:defRPr/>
            </a:pPr>
            <a:r>
              <a:rPr lang="fr-FR"/>
              <a:t>Modifiez le style du titre</a:t>
            </a:r>
            <a:endParaRPr/>
          </a:p>
        </p:txBody>
      </p:sp>
      <p:sp>
        <p:nvSpPr>
          <p:cNvPr id="386636761" name="Espace réservé du texte vertical 2"/>
          <p:cNvSpPr>
            <a:spLocks noGrp="1"/>
          </p:cNvSpPr>
          <p:nvPr>
            <p:ph type="body" orient="vert" idx="1"/>
          </p:nvPr>
        </p:nvSpPr>
        <p:spPr bwMode="auto">
          <a:xfrm>
            <a:off x="471487" y="527402"/>
            <a:ext cx="4350543" cy="8394877"/>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099540779"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830322542" name="Espace réservé du pied de page 4"/>
          <p:cNvSpPr>
            <a:spLocks noGrp="1"/>
          </p:cNvSpPr>
          <p:nvPr>
            <p:ph type="ftr" sz="quarter" idx="11"/>
          </p:nvPr>
        </p:nvSpPr>
        <p:spPr bwMode="auto"/>
        <p:txBody>
          <a:bodyPr/>
          <a:lstStyle/>
          <a:p>
            <a:pPr>
              <a:defRPr/>
            </a:pPr>
            <a:endParaRPr lang="fr-FR"/>
          </a:p>
        </p:txBody>
      </p:sp>
      <p:sp>
        <p:nvSpPr>
          <p:cNvPr id="1171428154"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14096516" name="Espace réservé du titre 1"/>
          <p:cNvSpPr>
            <a:spLocks noGrp="1"/>
          </p:cNvSpPr>
          <p:nvPr>
            <p:ph type="title"/>
          </p:nvPr>
        </p:nvSpPr>
        <p:spPr bwMode="auto">
          <a:xfrm>
            <a:off x="471487" y="527402"/>
            <a:ext cx="5915025" cy="1914702"/>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1698048808" name="Espace réservé du texte 2"/>
          <p:cNvSpPr>
            <a:spLocks noGrp="1"/>
          </p:cNvSpPr>
          <p:nvPr>
            <p:ph type="body" idx="1"/>
          </p:nvPr>
        </p:nvSpPr>
        <p:spPr bwMode="auto">
          <a:xfrm>
            <a:off x="471487" y="2637012"/>
            <a:ext cx="5915025" cy="6285266"/>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386160425" name="Espace réservé de la date 3"/>
          <p:cNvSpPr>
            <a:spLocks noGrp="1"/>
          </p:cNvSpPr>
          <p:nvPr>
            <p:ph type="dt" sz="half" idx="2"/>
          </p:nvPr>
        </p:nvSpPr>
        <p:spPr bwMode="auto">
          <a:xfrm>
            <a:off x="471487" y="9181394"/>
            <a:ext cx="1543050" cy="527402"/>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fr-FR"/>
              <a:t>10/10/2025</a:t>
            </a:fld>
            <a:endParaRPr lang="fr-FR"/>
          </a:p>
        </p:txBody>
      </p:sp>
      <p:sp>
        <p:nvSpPr>
          <p:cNvPr id="703870544" name="Espace réservé du pied de page 4"/>
          <p:cNvSpPr>
            <a:spLocks noGrp="1"/>
          </p:cNvSpPr>
          <p:nvPr>
            <p:ph type="ftr" sz="quarter" idx="3"/>
          </p:nvPr>
        </p:nvSpPr>
        <p:spPr bwMode="auto">
          <a:xfrm>
            <a:off x="2271712" y="9181394"/>
            <a:ext cx="2314574" cy="527402"/>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54588734" name="Espace réservé du numéro de diapositive 5"/>
          <p:cNvSpPr>
            <a:spLocks noGrp="1"/>
          </p:cNvSpPr>
          <p:nvPr>
            <p:ph type="sldNum" sz="quarter" idx="4"/>
          </p:nvPr>
        </p:nvSpPr>
        <p:spPr bwMode="auto">
          <a:xfrm>
            <a:off x="4843462" y="9181394"/>
            <a:ext cx="1543050" cy="527402"/>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280841212" name="Connecteur droit 1568760680"/>
          <p:cNvCxnSpPr/>
          <p:nvPr/>
        </p:nvCxnSpPr>
        <p:spPr bwMode="auto">
          <a:xfrm flipV="1">
            <a:off x="-56172" y="361947"/>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7060115" name="ZoneTexte 1868728971"/>
          <p:cNvSpPr txBox="1"/>
          <p:nvPr/>
        </p:nvSpPr>
        <p:spPr bwMode="auto">
          <a:xfrm>
            <a:off x="45900" y="178885"/>
            <a:ext cx="4760366" cy="36611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Informations Générales</a:t>
            </a:r>
            <a:endParaRPr/>
          </a:p>
        </p:txBody>
      </p:sp>
      <p:cxnSp>
        <p:nvCxnSpPr>
          <p:cNvPr id="1738148526" name="Connecteur droit 806540798"/>
          <p:cNvCxnSpPr/>
          <p:nvPr/>
        </p:nvCxnSpPr>
        <p:spPr bwMode="auto">
          <a:xfrm flipV="1">
            <a:off x="972" y="2110803"/>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68094091" name="ZoneTexte 406616703"/>
          <p:cNvSpPr txBox="1"/>
          <p:nvPr/>
        </p:nvSpPr>
        <p:spPr bwMode="auto">
          <a:xfrm flipH="0" flipV="0">
            <a:off x="45898" y="1927741"/>
            <a:ext cx="3361339"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Compétences</a:t>
            </a:r>
            <a:endParaRPr/>
          </a:p>
        </p:txBody>
      </p:sp>
      <p:cxnSp>
        <p:nvCxnSpPr>
          <p:cNvPr id="1830653404" name="Connecteur droit 858914340"/>
          <p:cNvCxnSpPr/>
          <p:nvPr/>
        </p:nvCxnSpPr>
        <p:spPr bwMode="auto">
          <a:xfrm flipV="1">
            <a:off x="3252188" y="6630653"/>
            <a:ext cx="3616304"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253305888" name="ZoneTexte 2018177722"/>
          <p:cNvSpPr txBox="1"/>
          <p:nvPr/>
        </p:nvSpPr>
        <p:spPr bwMode="auto">
          <a:xfrm flipH="0" flipV="0">
            <a:off x="3306143" y="6447591"/>
            <a:ext cx="352238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Résistances</a:t>
            </a:r>
            <a:endParaRPr sz="1800" b="0">
              <a:solidFill>
                <a:schemeClr val="tx1">
                  <a:lumMod val="75000"/>
                  <a:lumOff val="25000"/>
                </a:schemeClr>
              </a:solidFill>
            </a:endParaRPr>
          </a:p>
        </p:txBody>
      </p:sp>
      <p:sp>
        <p:nvSpPr>
          <p:cNvPr id="2141627012" name="ZoneTexte 519900862"/>
          <p:cNvSpPr txBox="1"/>
          <p:nvPr/>
        </p:nvSpPr>
        <p:spPr bwMode="auto">
          <a:xfrm>
            <a:off x="3076542" y="6788440"/>
            <a:ext cx="2181487" cy="61644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Résistance</a:t>
            </a:r>
            <a:r>
              <a:rPr sz="1200"/>
              <a:t> physique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sz="800">
                <a:solidFill>
                  <a:schemeClr val="tx1">
                    <a:lumMod val="50000"/>
                    <a:lumOff val="50000"/>
                  </a:schemeClr>
                </a:solidFill>
              </a:rPr>
              <a:t>Faites</a:t>
            </a:r>
            <a:r>
              <a:rPr sz="800">
                <a:solidFill>
                  <a:schemeClr val="tx1">
                    <a:lumMod val="50000"/>
                    <a:lumOff val="50000"/>
                  </a:schemeClr>
                </a:solidFill>
              </a:rPr>
              <a:t> un test </a:t>
            </a:r>
            <a:r>
              <a:rPr sz="800">
                <a:solidFill>
                  <a:schemeClr val="tx1">
                    <a:lumMod val="50000"/>
                    <a:lumOff val="50000"/>
                  </a:schemeClr>
                </a:solidFill>
              </a:rPr>
              <a:t>lors</a:t>
            </a:r>
            <a:r>
              <a:rPr sz="800">
                <a:solidFill>
                  <a:schemeClr val="tx1">
                    <a:lumMod val="50000"/>
                    <a:lumOff val="50000"/>
                  </a:schemeClr>
                </a:solidFill>
              </a:rPr>
              <a:t> </a:t>
            </a:r>
            <a:r>
              <a:rPr sz="800">
                <a:solidFill>
                  <a:schemeClr val="tx1">
                    <a:lumMod val="50000"/>
                    <a:lumOff val="50000"/>
                  </a:schemeClr>
                </a:solidFill>
              </a:rPr>
              <a:t>d’une</a:t>
            </a:r>
            <a:r>
              <a:rPr sz="800">
                <a:solidFill>
                  <a:schemeClr val="tx1">
                    <a:lumMod val="50000"/>
                    <a:lumOff val="50000"/>
                  </a:schemeClr>
                </a:solidFill>
              </a:rPr>
              <a:t> </a:t>
            </a:r>
            <a:r>
              <a:rPr sz="800">
                <a:solidFill>
                  <a:schemeClr val="tx1">
                    <a:lumMod val="50000"/>
                    <a:lumOff val="50000"/>
                  </a:schemeClr>
                </a:solidFill>
              </a:rPr>
              <a:t>agression</a:t>
            </a:r>
            <a:r>
              <a:rPr sz="800">
                <a:solidFill>
                  <a:schemeClr val="tx1">
                    <a:lumMod val="50000"/>
                    <a:lumOff val="50000"/>
                  </a:schemeClr>
                </a:solidFill>
              </a:rPr>
              <a:t> physique </a:t>
            </a:r>
            <a:r>
              <a:rPr sz="800">
                <a:solidFill>
                  <a:schemeClr val="tx1">
                    <a:lumMod val="50000"/>
                    <a:lumOff val="50000"/>
                  </a:schemeClr>
                </a:solidFill>
              </a:rPr>
              <a:t>ou</a:t>
            </a:r>
            <a:r>
              <a:rPr sz="800">
                <a:solidFill>
                  <a:schemeClr val="tx1">
                    <a:lumMod val="50000"/>
                    <a:lumOff val="50000"/>
                  </a:schemeClr>
                </a:solidFill>
              </a:rPr>
              <a:t> </a:t>
            </a:r>
            <a:r>
              <a:rPr sz="800">
                <a:solidFill>
                  <a:schemeClr val="tx1">
                    <a:lumMod val="50000"/>
                    <a:lumOff val="50000"/>
                  </a:schemeClr>
                </a:solidFill>
              </a:rPr>
              <a:t>lorsque</a:t>
            </a:r>
            <a:r>
              <a:rPr sz="800">
                <a:solidFill>
                  <a:schemeClr val="tx1">
                    <a:lumMod val="50000"/>
                    <a:lumOff val="50000"/>
                  </a:schemeClr>
                </a:solidFill>
              </a:rPr>
              <a:t> </a:t>
            </a:r>
            <a:r>
              <a:rPr sz="800">
                <a:solidFill>
                  <a:schemeClr val="tx1">
                    <a:lumMod val="50000"/>
                    <a:lumOff val="50000"/>
                  </a:schemeClr>
                </a:solidFill>
              </a:rPr>
              <a:t>votre</a:t>
            </a:r>
            <a:r>
              <a:rPr sz="800">
                <a:solidFill>
                  <a:schemeClr val="tx1">
                    <a:lumMod val="50000"/>
                    <a:lumOff val="50000"/>
                  </a:schemeClr>
                </a:solidFill>
              </a:rPr>
              <a:t> </a:t>
            </a:r>
            <a:r>
              <a:rPr lang="fr-FR" sz="800">
                <a:solidFill>
                  <a:schemeClr val="tx1">
                    <a:lumMod val="50000"/>
                    <a:lumOff val="50000"/>
                  </a:schemeClr>
                </a:solidFill>
              </a:rPr>
              <a:t>intégrité corporelle </a:t>
            </a:r>
            <a:r>
              <a:rPr sz="800">
                <a:solidFill>
                  <a:schemeClr val="tx1">
                    <a:lumMod val="50000"/>
                    <a:lumOff val="50000"/>
                  </a:schemeClr>
                </a:solidFill>
              </a:rPr>
              <a:t>est mise </a:t>
            </a:r>
            <a:r>
              <a:rPr sz="800">
                <a:solidFill>
                  <a:schemeClr val="tx1">
                    <a:lumMod val="50000"/>
                    <a:lumOff val="50000"/>
                  </a:schemeClr>
                </a:solidFill>
              </a:rPr>
              <a:t>en</a:t>
            </a:r>
            <a:r>
              <a:rPr sz="800">
                <a:solidFill>
                  <a:schemeClr val="tx1">
                    <a:lumMod val="50000"/>
                    <a:lumOff val="50000"/>
                  </a:schemeClr>
                </a:solidFill>
              </a:rPr>
              <a:t> danger.</a:t>
            </a:r>
            <a:endParaRPr/>
          </a:p>
        </p:txBody>
      </p:sp>
      <p:sp>
        <p:nvSpPr>
          <p:cNvPr id="2011240572" name="Rectangle : avec coins arrondis en haut 838565229"/>
          <p:cNvSpPr/>
          <p:nvPr/>
        </p:nvSpPr>
        <p:spPr bwMode="auto">
          <a:xfrm rot="5399976">
            <a:off x="5203791" y="6908635"/>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80168620" name="ZoneTexte 448541368"/>
          <p:cNvSpPr txBox="1"/>
          <p:nvPr/>
        </p:nvSpPr>
        <p:spPr bwMode="auto">
          <a:xfrm>
            <a:off x="3085690" y="7428877"/>
            <a:ext cx="217017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Résistance mentale </a:t>
            </a:r>
            <a:r>
              <a:rPr lang="fr-FR" sz="1200" b="0" i="0" u="none" strike="noStrike" cap="none" spc="0">
                <a:solidFill>
                  <a:schemeClr val="tx1">
                    <a:lumMod val="50000"/>
                    <a:lumOff val="50000"/>
                  </a:schemeClr>
                </a:solidFill>
                <a:latin typeface="Arial"/>
                <a:ea typeface="Arial"/>
                <a:cs typeface="Arial"/>
              </a:rPr>
              <a:t>◇</a:t>
            </a: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Faites un test lors d’une agression sociale ou mentale, ou lorsque votre santé mentale est mise en danger.</a:t>
            </a:r>
            <a:endParaRPr sz="800">
              <a:solidFill>
                <a:schemeClr val="tx1">
                  <a:lumMod val="50000"/>
                  <a:lumOff val="50000"/>
                </a:schemeClr>
              </a:solidFill>
            </a:endParaRPr>
          </a:p>
        </p:txBody>
      </p:sp>
      <p:sp>
        <p:nvSpPr>
          <p:cNvPr id="1716630991" name="Rectangle : avec coins arrondis en haut 1165584529"/>
          <p:cNvSpPr/>
          <p:nvPr/>
        </p:nvSpPr>
        <p:spPr bwMode="auto">
          <a:xfrm rot="5399976">
            <a:off x="5195511" y="7549075"/>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66389629" name="Flèche : pentagone 1880610112"/>
          <p:cNvSpPr/>
          <p:nvPr/>
        </p:nvSpPr>
        <p:spPr bwMode="auto">
          <a:xfrm flipH="0" flipV="0">
            <a:off x="5798787" y="6961816"/>
            <a:ext cx="143169" cy="140445"/>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24760507" name="Flèche : pentagone 446859139"/>
          <p:cNvSpPr/>
          <p:nvPr/>
        </p:nvSpPr>
        <p:spPr bwMode="auto">
          <a:xfrm flipH="0" flipV="0">
            <a:off x="5949462" y="6961816"/>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61384524" name="Flèche : pentagone 2055848356"/>
          <p:cNvSpPr/>
          <p:nvPr/>
        </p:nvSpPr>
        <p:spPr bwMode="auto">
          <a:xfrm flipH="0" flipV="0">
            <a:off x="6100140" y="6961816"/>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11447821" name="Flèche : pentagone 1980093981"/>
          <p:cNvSpPr/>
          <p:nvPr/>
        </p:nvSpPr>
        <p:spPr bwMode="auto">
          <a:xfrm flipH="0" flipV="0">
            <a:off x="6250816" y="6961816"/>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82528850" name="Flèche : pentagone 905284374"/>
          <p:cNvSpPr/>
          <p:nvPr/>
        </p:nvSpPr>
        <p:spPr bwMode="auto">
          <a:xfrm flipH="0" flipV="0">
            <a:off x="6401493" y="6961816"/>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40293990" name="ZoneTexte 880464430"/>
          <p:cNvSpPr txBox="1"/>
          <p:nvPr/>
        </p:nvSpPr>
        <p:spPr bwMode="auto">
          <a:xfrm flipH="0" flipV="0">
            <a:off x="3170220" y="8107510"/>
            <a:ext cx="3687147" cy="8233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fr-FR" sz="800" b="0" i="0" u="none" strike="noStrike" cap="none" spc="0">
                <a:solidFill>
                  <a:schemeClr val="tx1">
                    <a:lumMod val="50000"/>
                    <a:lumOff val="50000"/>
                  </a:schemeClr>
                </a:solidFill>
                <a:latin typeface="Arial"/>
                <a:ea typeface="Arial"/>
                <a:cs typeface="Arial"/>
              </a:rPr>
              <a:t>Chaque case de stress cochée entraîne un </a:t>
            </a:r>
            <a:r>
              <a:rPr lang="fr-FR" sz="800" b="1" i="0" u="none" strike="noStrike" cap="none" spc="0">
                <a:solidFill>
                  <a:schemeClr val="tx1">
                    <a:lumMod val="50000"/>
                    <a:lumOff val="50000"/>
                  </a:schemeClr>
                </a:solidFill>
                <a:latin typeface="Arial"/>
                <a:ea typeface="Arial"/>
                <a:cs typeface="Arial"/>
              </a:rPr>
              <a:t>malus de -10</a:t>
            </a:r>
            <a:r>
              <a:rPr lang="fr-FR" sz="800" b="0" i="0" u="none" strike="noStrike" cap="none" spc="0">
                <a:solidFill>
                  <a:schemeClr val="tx1">
                    <a:lumMod val="50000"/>
                    <a:lumOff val="50000"/>
                  </a:schemeClr>
                </a:solidFill>
                <a:latin typeface="Arial"/>
                <a:ea typeface="Arial"/>
                <a:cs typeface="Arial"/>
              </a:rPr>
              <a:t> à la résistance concernée.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a:solidFill>
                  <a:schemeClr val="tx1">
                    <a:lumMod val="50000"/>
                    <a:lumOff val="50000"/>
                  </a:schemeClr>
                </a:solidFill>
              </a:rPr>
              <a:t>Si vous échouez à un test d’</a:t>
            </a:r>
            <a:r>
              <a:rPr lang="fr-FR" sz="800" b="1">
                <a:solidFill>
                  <a:schemeClr val="tx1">
                    <a:lumMod val="50000"/>
                    <a:lumOff val="50000"/>
                  </a:schemeClr>
                </a:solidFill>
              </a:rPr>
              <a:t>épreuve</a:t>
            </a:r>
            <a:r>
              <a:rPr lang="fr-FR" sz="800">
                <a:solidFill>
                  <a:schemeClr val="tx1">
                    <a:lumMod val="50000"/>
                    <a:lumOff val="50000"/>
                  </a:schemeClr>
                </a:solidFill>
              </a:rPr>
              <a:t>, cochez une case de stress. </a:t>
            </a:r>
            <a:br>
              <a:rPr lang="fr-FR" sz="800">
                <a:solidFill>
                  <a:schemeClr val="tx1">
                    <a:lumMod val="50000"/>
                    <a:lumOff val="50000"/>
                  </a:schemeClr>
                </a:solidFill>
              </a:rPr>
            </a:br>
            <a:r>
              <a:rPr lang="fr-FR" sz="800">
                <a:solidFill>
                  <a:schemeClr val="tx1">
                    <a:lumMod val="50000"/>
                    <a:lumOff val="50000"/>
                  </a:schemeClr>
                </a:solidFill>
              </a:rPr>
              <a:t>Si vous réussissez à un test de </a:t>
            </a:r>
            <a:r>
              <a:rPr lang="fr-FR" sz="800" b="1">
                <a:solidFill>
                  <a:schemeClr val="tx1">
                    <a:lumMod val="50000"/>
                    <a:lumOff val="50000"/>
                  </a:schemeClr>
                </a:solidFill>
              </a:rPr>
              <a:t>choc</a:t>
            </a:r>
            <a:r>
              <a:rPr lang="fr-FR" sz="800">
                <a:solidFill>
                  <a:schemeClr val="tx1">
                    <a:lumMod val="50000"/>
                    <a:lumOff val="50000"/>
                  </a:schemeClr>
                </a:solidFill>
              </a:rPr>
              <a:t>, cochez une case de stress ; si vous échouez à un test de </a:t>
            </a:r>
            <a:r>
              <a:rPr lang="fr-FR" sz="800" b="1">
                <a:solidFill>
                  <a:schemeClr val="tx1">
                    <a:lumMod val="50000"/>
                    <a:lumOff val="50000"/>
                  </a:schemeClr>
                </a:solidFill>
              </a:rPr>
              <a:t>choc</a:t>
            </a:r>
            <a:r>
              <a:rPr lang="fr-FR" sz="800">
                <a:solidFill>
                  <a:schemeClr val="tx1">
                    <a:lumMod val="50000"/>
                    <a:lumOff val="50000"/>
                  </a:schemeClr>
                </a:solidFill>
              </a:rPr>
              <a:t>, cochez une case de trauma.</a:t>
            </a:r>
            <a:r>
              <a:rPr sz="800">
                <a:solidFill>
                  <a:schemeClr val="tx1">
                    <a:lumMod val="50000"/>
                    <a:lumOff val="50000"/>
                  </a:schemeClr>
                </a:solidFill>
              </a:rPr>
              <a:t>.</a:t>
            </a:r>
            <a:endParaRPr sz="1800"/>
          </a:p>
        </p:txBody>
      </p:sp>
      <p:sp>
        <p:nvSpPr>
          <p:cNvPr id="1320172143" name="ZoneTexte 1302587497"/>
          <p:cNvSpPr txBox="1"/>
          <p:nvPr/>
        </p:nvSpPr>
        <p:spPr bwMode="auto">
          <a:xfrm>
            <a:off x="142542" y="563517"/>
            <a:ext cx="4300362"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Nom :</a:t>
            </a:r>
            <a:r>
              <a:rPr sz="1000">
                <a:solidFill>
                  <a:schemeClr val="bg2">
                    <a:lumMod val="90000"/>
                  </a:schemeClr>
                </a:solidFill>
              </a:rPr>
              <a:t> __________________________________________________</a:t>
            </a:r>
            <a:endParaRPr/>
          </a:p>
          <a:p>
            <a:pPr>
              <a:lnSpc>
                <a:spcPct val="150000"/>
              </a:lnSpc>
              <a:defRPr/>
            </a:pPr>
            <a:r>
              <a:rPr sz="1000"/>
              <a:t>Âge</a:t>
            </a:r>
            <a:r>
              <a:rPr sz="1000"/>
              <a:t> : </a:t>
            </a:r>
            <a:r>
              <a:rPr sz="1000">
                <a:solidFill>
                  <a:schemeClr val="bg2">
                    <a:lumMod val="90000"/>
                  </a:schemeClr>
                </a:solidFill>
              </a:rPr>
              <a:t>_______</a:t>
            </a:r>
            <a:r>
              <a:rPr sz="1000"/>
              <a:t>	Sexe : </a:t>
            </a:r>
            <a:r>
              <a:rPr sz="1000">
                <a:solidFill>
                  <a:schemeClr val="bg2">
                    <a:lumMod val="90000"/>
                  </a:schemeClr>
                </a:solidFill>
              </a:rPr>
              <a:t>______</a:t>
            </a:r>
            <a:r>
              <a:rPr sz="1000"/>
              <a:t>	Taille : </a:t>
            </a:r>
            <a:r>
              <a:rPr sz="1000">
                <a:solidFill>
                  <a:schemeClr val="bg2">
                    <a:lumMod val="90000"/>
                  </a:schemeClr>
                </a:solidFill>
              </a:rPr>
              <a:t>_______</a:t>
            </a:r>
            <a:r>
              <a:rPr sz="1000"/>
              <a:t>	  </a:t>
            </a:r>
            <a:r>
              <a:rPr sz="1000"/>
              <a:t>Poids</a:t>
            </a:r>
            <a:r>
              <a:rPr sz="1000"/>
              <a:t> : </a:t>
            </a:r>
            <a:r>
              <a:rPr sz="1000">
                <a:solidFill>
                  <a:schemeClr val="bg2">
                    <a:lumMod val="90000"/>
                  </a:schemeClr>
                </a:solidFill>
              </a:rPr>
              <a:t>_________</a:t>
            </a:r>
            <a:endParaRPr>
              <a:solidFill>
                <a:schemeClr val="bg2">
                  <a:lumMod val="90000"/>
                </a:schemeClr>
              </a:solidFill>
            </a:endParaRPr>
          </a:p>
          <a:p>
            <a:pPr>
              <a:lnSpc>
                <a:spcPct val="150000"/>
              </a:lnSpc>
              <a:defRPr/>
            </a:pPr>
            <a:r>
              <a:rPr sz="1000"/>
              <a:t>Yeux : </a:t>
            </a:r>
            <a:r>
              <a:rPr sz="1000">
                <a:solidFill>
                  <a:schemeClr val="bg2">
                    <a:lumMod val="90000"/>
                  </a:schemeClr>
                </a:solidFill>
              </a:rPr>
              <a:t>___________________</a:t>
            </a:r>
            <a:r>
              <a:rPr sz="1000"/>
              <a:t>	</a:t>
            </a:r>
            <a:r>
              <a:rPr sz="1000"/>
              <a:t>Cheveux</a:t>
            </a:r>
            <a:r>
              <a:rPr sz="1000"/>
              <a:t> : </a:t>
            </a:r>
            <a:r>
              <a:rPr sz="1000">
                <a:solidFill>
                  <a:schemeClr val="bg2">
                    <a:lumMod val="90000"/>
                  </a:schemeClr>
                </a:solidFill>
              </a:rPr>
              <a:t>_____________________</a:t>
            </a:r>
            <a:endParaRPr/>
          </a:p>
          <a:p>
            <a:pPr>
              <a:lnSpc>
                <a:spcPct val="150000"/>
              </a:lnSpc>
              <a:defRPr/>
            </a:pPr>
            <a:r>
              <a:rPr sz="1000"/>
              <a:t>Personnalité </a:t>
            </a:r>
            <a:r>
              <a:rPr sz="1000"/>
              <a:t>: </a:t>
            </a:r>
            <a:r>
              <a:rPr sz="1000">
                <a:solidFill>
                  <a:schemeClr val="bg2">
                    <a:lumMod val="90000"/>
                  </a:schemeClr>
                </a:solidFill>
              </a:rPr>
              <a:t>____________________________________________</a:t>
            </a:r>
            <a:r>
              <a:rPr lang="fr-FR" sz="1000" b="0" i="0" u="none" strike="noStrike" cap="none" spc="0">
                <a:solidFill>
                  <a:schemeClr val="tx1"/>
                </a:solidFill>
                <a:latin typeface="Arial"/>
                <a:ea typeface="Arial"/>
                <a:cs typeface="Arial"/>
              </a:rPr>
              <a:t>	</a:t>
            </a:r>
            <a:endParaRPr/>
          </a:p>
          <a:p>
            <a:pPr>
              <a:lnSpc>
                <a:spcPct val="150000"/>
              </a:lnSpc>
              <a:defRPr/>
            </a:pPr>
            <a:r>
              <a:rPr lang="fr-FR" sz="1000" b="0" i="0" u="none" strike="noStrike" cap="none" spc="0">
                <a:latin typeface="Arial"/>
                <a:ea typeface="Arial"/>
                <a:cs typeface="Arial"/>
              </a:rPr>
              <a:t>Exutoires :</a:t>
            </a:r>
            <a:r>
              <a:rPr sz="1000"/>
              <a:t> </a:t>
            </a:r>
            <a:r>
              <a:rPr sz="1000">
                <a:solidFill>
                  <a:schemeClr val="bg2">
                    <a:lumMod val="90000"/>
                  </a:schemeClr>
                </a:solidFill>
              </a:rPr>
              <a:t>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Arial"/>
                <a:ea typeface="Arial"/>
                <a:cs typeface="Arial"/>
              </a:rPr>
              <a:t>Complications :</a:t>
            </a:r>
            <a:r>
              <a:rPr lang="fr-FR" sz="1000" b="0" i="0" u="none" strike="noStrike" cap="none" spc="0">
                <a:solidFill>
                  <a:schemeClr val="bg2">
                    <a:lumMod val="90000"/>
                  </a:schemeClr>
                </a:solidFill>
                <a:latin typeface="Arial"/>
                <a:ea typeface="Arial"/>
                <a:cs typeface="Arial"/>
              </a:rPr>
              <a:t> </a:t>
            </a:r>
            <a:r>
              <a:rPr sz="1000">
                <a:solidFill>
                  <a:schemeClr val="bg2">
                    <a:lumMod val="90000"/>
                  </a:schemeClr>
                </a:solidFill>
              </a:rPr>
              <a:t>___________________________________________</a:t>
            </a:r>
            <a:endParaRPr>
              <a:solidFill>
                <a:schemeClr val="bg2">
                  <a:lumMod val="90000"/>
                </a:schemeClr>
              </a:solidFill>
            </a:endParaRPr>
          </a:p>
        </p:txBody>
      </p:sp>
      <p:cxnSp>
        <p:nvCxnSpPr>
          <p:cNvPr id="1584756909" name="Connecteur droit 342798987"/>
          <p:cNvCxnSpPr/>
          <p:nvPr/>
        </p:nvCxnSpPr>
        <p:spPr bwMode="auto">
          <a:xfrm flipV="1">
            <a:off x="3259026" y="9133149"/>
            <a:ext cx="3609464"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24427056" name="ZoneTexte 966486802"/>
          <p:cNvSpPr txBox="1"/>
          <p:nvPr/>
        </p:nvSpPr>
        <p:spPr bwMode="auto">
          <a:xfrm>
            <a:off x="3303459" y="8950089"/>
            <a:ext cx="2270304"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Ressources</a:t>
            </a:r>
            <a:endParaRPr/>
          </a:p>
        </p:txBody>
      </p:sp>
      <p:sp>
        <p:nvSpPr>
          <p:cNvPr id="591156274" name="Rectangle 38344096"/>
          <p:cNvSpPr/>
          <p:nvPr/>
        </p:nvSpPr>
        <p:spPr bwMode="auto">
          <a:xfrm flipH="0" flipV="0">
            <a:off x="4106250" y="552447"/>
            <a:ext cx="104771" cy="147446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67203170" name="Rectangle 954364527"/>
          <p:cNvSpPr/>
          <p:nvPr/>
        </p:nvSpPr>
        <p:spPr bwMode="auto">
          <a:xfrm flipH="0" flipV="0">
            <a:off x="6688315" y="475380"/>
            <a:ext cx="162576" cy="1561403"/>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48528569" name="ZoneTexte 1527388901"/>
          <p:cNvSpPr txBox="1"/>
          <p:nvPr/>
        </p:nvSpPr>
        <p:spPr bwMode="auto">
          <a:xfrm flipH="0" flipV="0">
            <a:off x="4547592" y="2333273"/>
            <a:ext cx="2353659" cy="246597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Spécialités</a:t>
            </a:r>
            <a:r>
              <a:rPr lang="fr-FR" sz="1200" b="0" i="0" u="none" strike="noStrike" cap="none" spc="0">
                <a:solidFill>
                  <a:schemeClr val="tx1"/>
                </a:solidFill>
                <a:latin typeface="Arial"/>
                <a:ea typeface="Arial"/>
                <a:cs typeface="Arial"/>
              </a:rPr>
              <a:t>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000" b="0" i="0" u="none" strike="noStrike" cap="none" spc="0">
                <a:solidFill>
                  <a:schemeClr val="bg2">
                    <a:lumMod val="90000"/>
                  </a:schemeClr>
                </a:solidFill>
                <a:latin typeface="Arial"/>
                <a:ea typeface="Arial"/>
                <a:cs typeface="Arial"/>
              </a:rPr>
              <a:t>_____</a:t>
            </a:r>
            <a:r>
              <a:rPr lang="fr-FR" sz="10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a:t>
            </a:r>
            <a:r>
              <a:rPr lang="fr-FR" sz="1000" b="0" i="0" u="none" strike="noStrike" cap="none" spc="0">
                <a:solidFill>
                  <a:schemeClr val="bg2">
                    <a:lumMod val="90000"/>
                  </a:schemeClr>
                </a:solidFill>
                <a:latin typeface="Arial"/>
                <a:ea typeface="Arial"/>
                <a:cs typeface="Arial"/>
              </a:rPr>
              <a:t>______________________________________________________</a:t>
            </a:r>
            <a:endParaRPr lang="fr-FR" sz="1200" b="0" i="0" u="none" strike="noStrike" cap="none" spc="0">
              <a:solidFill>
                <a:schemeClr val="bg2">
                  <a:lumMod val="90000"/>
                </a:schemeClr>
              </a:solidFill>
              <a:latin typeface="Times New Roman"/>
              <a:cs typeface="Times New Roman"/>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Une spécialité apporte un </a:t>
            </a:r>
            <a:r>
              <a:rPr lang="fr-FR" sz="800" b="1" i="0" u="none" strike="noStrike" cap="none" spc="0">
                <a:solidFill>
                  <a:schemeClr val="tx1">
                    <a:lumMod val="50000"/>
                    <a:lumOff val="50000"/>
                  </a:schemeClr>
                </a:solidFill>
                <a:latin typeface="Arial"/>
                <a:ea typeface="Arial"/>
                <a:cs typeface="Arial"/>
              </a:rPr>
              <a:t>bonus de +10</a:t>
            </a:r>
            <a:r>
              <a:rPr lang="fr-FR" sz="800" b="0" i="0" u="none" strike="noStrike" cap="none" spc="0">
                <a:solidFill>
                  <a:schemeClr val="tx1">
                    <a:lumMod val="50000"/>
                    <a:lumOff val="50000"/>
                  </a:schemeClr>
                </a:solidFill>
                <a:latin typeface="Arial"/>
                <a:ea typeface="Arial"/>
                <a:cs typeface="Arial"/>
              </a:rPr>
              <a:t> à une compétence.</a:t>
            </a:r>
            <a:r>
              <a:rPr lang="fr-FR" sz="800" b="0" i="0" u="none" strike="noStrike" cap="none" spc="0">
                <a:solidFill>
                  <a:schemeClr val="bg2">
                    <a:lumMod val="9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Pour acquérir une nouvelle  spécialité, chaque spécialité possédée occupe 15% des chances d’obtention</a:t>
            </a:r>
            <a:r>
              <a:rPr lang="fr-FR" sz="800">
                <a:solidFill>
                  <a:schemeClr val="tx1">
                    <a:lumMod val="50000"/>
                    <a:lumOff val="50000"/>
                  </a:schemeClr>
                </a:solidFill>
              </a:rPr>
              <a:t>.</a:t>
            </a:r>
            <a:endParaRPr sz="800">
              <a:solidFill>
                <a:schemeClr val="tx1">
                  <a:lumMod val="50000"/>
                  <a:lumOff val="50000"/>
                </a:schemeClr>
              </a:solidFill>
            </a:endParaRPr>
          </a:p>
        </p:txBody>
      </p:sp>
      <p:sp>
        <p:nvSpPr>
          <p:cNvPr id="1857330745" name="ZoneTexte 1440859034"/>
          <p:cNvSpPr txBox="1"/>
          <p:nvPr/>
        </p:nvSpPr>
        <p:spPr bwMode="auto">
          <a:xfrm>
            <a:off x="5710629" y="6740039"/>
            <a:ext cx="894969" cy="30515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marL="0" marR="0" indent="0" algn="l">
              <a:lnSpc>
                <a:spcPct val="100000"/>
              </a:lnSpc>
              <a:spcBef>
                <a:spcPts val="0"/>
              </a:spcBef>
              <a:spcAft>
                <a:spcPts val="0"/>
              </a:spcAft>
              <a:defRPr/>
            </a:pPr>
            <a:r>
              <a:rPr lang="fr-FR" sz="1400" b="1" i="0" u="none" strike="noStrike" cap="none" spc="0">
                <a:solidFill>
                  <a:schemeClr val="bg1">
                    <a:lumMod val="65000"/>
                  </a:schemeClr>
                </a:solidFill>
                <a:latin typeface="Arial"/>
                <a:ea typeface="Arial"/>
                <a:cs typeface="Arial"/>
              </a:rPr>
              <a:t>STRESS</a:t>
            </a:r>
            <a:endParaRPr sz="1600"/>
          </a:p>
        </p:txBody>
      </p:sp>
      <p:cxnSp>
        <p:nvCxnSpPr>
          <p:cNvPr id="1546390554" name="Connecteur droit 858914340"/>
          <p:cNvCxnSpPr/>
          <p:nvPr/>
        </p:nvCxnSpPr>
        <p:spPr bwMode="auto">
          <a:xfrm flipH="0" flipV="1">
            <a:off x="-66687" y="6630653"/>
            <a:ext cx="3068035"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486591388" name="ZoneTexte 2018177722"/>
          <p:cNvSpPr txBox="1"/>
          <p:nvPr/>
        </p:nvSpPr>
        <p:spPr bwMode="auto">
          <a:xfrm flipH="0" flipV="0">
            <a:off x="32193" y="6447593"/>
            <a:ext cx="1815876" cy="36611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Équipement</a:t>
            </a:r>
            <a:endParaRPr sz="1800" b="0">
              <a:solidFill>
                <a:schemeClr val="tx1">
                  <a:lumMod val="75000"/>
                  <a:lumOff val="25000"/>
                </a:schemeClr>
              </a:solidFill>
            </a:endParaRPr>
          </a:p>
        </p:txBody>
      </p:sp>
      <p:sp>
        <p:nvSpPr>
          <p:cNvPr id="2072169120" name=""/>
          <p:cNvSpPr txBox="1"/>
          <p:nvPr/>
        </p:nvSpPr>
        <p:spPr bwMode="auto">
          <a:xfrm rot="0" flipH="0" flipV="0">
            <a:off x="11160" y="6764179"/>
            <a:ext cx="3007973" cy="3376018"/>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endParaRPr sz="400" b="0" i="0" u="none" strike="noStrike" cap="none" spc="0">
              <a:solidFill>
                <a:schemeClr val="tx1">
                  <a:lumMod val="50000"/>
                  <a:lumOff val="50000"/>
                </a:schemeClr>
              </a:solidFill>
              <a:latin typeface="Arial"/>
              <a:ea typeface="Arial"/>
              <a:cs typeface="Arial"/>
            </a:endParaRPr>
          </a:p>
          <a:p>
            <a:pPr algn="l">
              <a:lnSpc>
                <a:spcPct val="150000"/>
              </a:lnSpc>
              <a:defRPr/>
            </a:pPr>
            <a:endParaRPr lang="fr-FR" sz="900" b="0" i="0" u="none" strike="noStrike" cap="none" spc="0">
              <a:solidFill>
                <a:schemeClr val="bg2">
                  <a:lumMod val="90000"/>
                </a:schemeClr>
              </a:solidFill>
              <a:latin typeface="Times New Roman"/>
              <a:cs typeface="Times New Roman"/>
            </a:endParaRPr>
          </a:p>
        </p:txBody>
      </p:sp>
      <p:cxnSp>
        <p:nvCxnSpPr>
          <p:cNvPr id="807338718" name="Connecteur droit 858914340"/>
          <p:cNvCxnSpPr/>
          <p:nvPr/>
        </p:nvCxnSpPr>
        <p:spPr bwMode="auto">
          <a:xfrm flipH="0" flipV="1">
            <a:off x="4547592" y="4985183"/>
            <a:ext cx="232090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62640820" name="ZoneTexte 2018177722"/>
          <p:cNvSpPr txBox="1"/>
          <p:nvPr/>
        </p:nvSpPr>
        <p:spPr bwMode="auto">
          <a:xfrm flipH="0" flipV="0">
            <a:off x="4601547" y="4802121"/>
            <a:ext cx="183207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Tests</a:t>
            </a:r>
            <a:endParaRPr sz="1800" b="0">
              <a:solidFill>
                <a:schemeClr val="tx1">
                  <a:lumMod val="75000"/>
                  <a:lumOff val="25000"/>
                </a:schemeClr>
              </a:solidFill>
            </a:endParaRPr>
          </a:p>
        </p:txBody>
      </p:sp>
      <p:sp>
        <p:nvSpPr>
          <p:cNvPr id="927141961" name=""/>
          <p:cNvSpPr txBox="1"/>
          <p:nvPr/>
        </p:nvSpPr>
        <p:spPr bwMode="auto">
          <a:xfrm rot="0" flipH="0" flipV="0">
            <a:off x="4547592" y="5123027"/>
            <a:ext cx="2344698" cy="14176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800" b="0" i="0" u="none" strike="noStrike" cap="none" spc="0">
                <a:solidFill>
                  <a:schemeClr val="tx1">
                    <a:lumMod val="50000"/>
                    <a:lumOff val="50000"/>
                  </a:schemeClr>
                </a:solidFill>
                <a:latin typeface="Arial"/>
                <a:ea typeface="Arial"/>
                <a:cs typeface="Arial"/>
              </a:rPr>
              <a:t>Vous réussissez un </a:t>
            </a:r>
            <a:r>
              <a:rPr lang="fr-FR" sz="800" b="1" i="0" u="none" strike="noStrike" cap="none" spc="0">
                <a:solidFill>
                  <a:schemeClr val="tx1">
                    <a:lumMod val="50000"/>
                    <a:lumOff val="50000"/>
                  </a:schemeClr>
                </a:solidFill>
                <a:latin typeface="Arial"/>
                <a:ea typeface="Arial"/>
                <a:cs typeface="Arial"/>
              </a:rPr>
              <a:t>test</a:t>
            </a:r>
            <a:r>
              <a:rPr lang="fr-FR" sz="800" b="0" i="0" u="none" strike="noStrike" cap="none" spc="0">
                <a:solidFill>
                  <a:schemeClr val="tx1">
                    <a:lumMod val="50000"/>
                    <a:lumOff val="50000"/>
                  </a:schemeClr>
                </a:solidFill>
                <a:latin typeface="Arial"/>
                <a:ea typeface="Arial"/>
                <a:cs typeface="Arial"/>
              </a:rPr>
              <a:t> sur un résultat</a:t>
            </a:r>
            <a:r>
              <a:rPr lang="fr-FR" sz="800" b="1" i="0" u="none" strike="noStrike" cap="none" spc="0">
                <a:solidFill>
                  <a:schemeClr val="tx1">
                    <a:lumMod val="50000"/>
                    <a:lumOff val="50000"/>
                  </a:schemeClr>
                </a:solidFill>
                <a:latin typeface="Arial"/>
                <a:ea typeface="Arial"/>
                <a:cs typeface="Arial"/>
              </a:rPr>
              <a:t> inférieur ou égal</a:t>
            </a:r>
            <a:r>
              <a:rPr lang="fr-FR" sz="800" b="0" i="0" u="none" strike="noStrike" cap="none" spc="0">
                <a:solidFill>
                  <a:schemeClr val="tx1">
                    <a:lumMod val="50000"/>
                    <a:lumOff val="50000"/>
                  </a:schemeClr>
                </a:solidFill>
                <a:latin typeface="Arial"/>
                <a:ea typeface="Arial"/>
                <a:cs typeface="Arial"/>
              </a:rPr>
              <a:t> à la valeur de compétence ou de résistance avec 1d100. </a:t>
            </a:r>
            <a:r>
              <a:rPr lang="fr-FR" sz="800" b="1" i="0" u="none" strike="noStrike" cap="none" spc="0">
                <a:solidFill>
                  <a:schemeClr val="tx1">
                    <a:lumMod val="50000"/>
                    <a:lumOff val="50000"/>
                  </a:schemeClr>
                </a:solidFill>
                <a:latin typeface="Arial"/>
                <a:ea typeface="Arial"/>
                <a:cs typeface="Arial"/>
              </a:rPr>
              <a:t>1</a:t>
            </a:r>
            <a:r>
              <a:rPr lang="fr-FR" sz="800" b="0" i="0" u="none" strike="noStrike" cap="none" spc="0">
                <a:solidFill>
                  <a:schemeClr val="tx1">
                    <a:lumMod val="50000"/>
                    <a:lumOff val="50000"/>
                  </a:schemeClr>
                </a:solidFill>
                <a:latin typeface="Arial"/>
                <a:ea typeface="Arial"/>
                <a:cs typeface="Arial"/>
              </a:rPr>
              <a:t> est toujours une réussite, </a:t>
            </a:r>
            <a:r>
              <a:rPr lang="fr-FR" sz="800" b="1" i="0" u="none" strike="noStrike" cap="none" spc="0">
                <a:solidFill>
                  <a:schemeClr val="tx1">
                    <a:lumMod val="50000"/>
                    <a:lumOff val="50000"/>
                  </a:schemeClr>
                </a:solidFill>
                <a:latin typeface="Arial"/>
                <a:ea typeface="Arial"/>
                <a:cs typeface="Arial"/>
              </a:rPr>
              <a:t>100</a:t>
            </a:r>
            <a:r>
              <a:rPr lang="fr-FR" sz="800" b="0" i="0" u="none" strike="noStrike" cap="none" spc="0">
                <a:solidFill>
                  <a:schemeClr val="tx1">
                    <a:lumMod val="50000"/>
                    <a:lumOff val="50000"/>
                  </a:schemeClr>
                </a:solidFill>
                <a:latin typeface="Arial"/>
                <a:ea typeface="Arial"/>
                <a:cs typeface="Arial"/>
              </a:rPr>
              <a:t> toujours un échec.</a:t>
            </a:r>
            <a:br>
              <a:rPr lang="fr-FR" sz="800" b="0" i="0" u="none" strike="noStrike" cap="none" spc="0">
                <a:solidFill>
                  <a:schemeClr val="tx1">
                    <a:lumMod val="50000"/>
                    <a:lumOff val="50000"/>
                  </a:schemeClr>
                </a:solidFill>
                <a:latin typeface="Arial"/>
                <a:ea typeface="Arial"/>
                <a:cs typeface="Arial"/>
              </a:rPr>
            </a:br>
            <a:endParaRPr lang="fr-FR" sz="300" b="0" i="0" u="none" strike="noStrike" cap="none" spc="0">
              <a:solidFill>
                <a:schemeClr val="tx1">
                  <a:lumMod val="50000"/>
                  <a:lumOff val="50000"/>
                </a:schemeClr>
              </a:solidFill>
              <a:latin typeface="Arial"/>
              <a:ea typeface="Arial"/>
              <a:cs typeface="Arial"/>
            </a:endParaRPr>
          </a:p>
          <a:p>
            <a:pPr marL="0" marR="0" indent="0" algn="l">
              <a:lnSpc>
                <a:spcPct val="100000"/>
              </a:lnSpc>
              <a:spcBef>
                <a:spcPts val="0"/>
              </a:spcBef>
              <a:spcAft>
                <a:spcPts val="0"/>
              </a:spcAft>
              <a:defRPr/>
            </a:pPr>
            <a:endParaRPr sz="200" b="0" i="0" u="none" strike="noStrike" cap="none" spc="0">
              <a:solidFill>
                <a:schemeClr val="tx1"/>
              </a:solidFill>
              <a:latin typeface="Times New Roman"/>
              <a:cs typeface="Times New Roman"/>
            </a:endParaRPr>
          </a:p>
          <a:p>
            <a:pPr marL="0" marR="0" indent="0" algn="l">
              <a:lnSpc>
                <a:spcPct val="100000"/>
              </a:lnSpc>
              <a:spcBef>
                <a:spcPts val="0"/>
              </a:spcBef>
              <a:spcAft>
                <a:spcPts val="0"/>
              </a:spcAft>
              <a:defRPr/>
            </a:pPr>
            <a:r>
              <a:rPr lang="fr-FR" sz="800" b="0" i="0" u="none" strike="noStrike" cap="none" spc="0">
                <a:solidFill>
                  <a:schemeClr val="tx1">
                    <a:lumMod val="50000"/>
                    <a:lumOff val="50000"/>
                  </a:schemeClr>
                </a:solidFill>
                <a:latin typeface="Arial"/>
                <a:ea typeface="Arial"/>
                <a:cs typeface="Arial"/>
              </a:rPr>
              <a:t>En cas de </a:t>
            </a:r>
            <a:r>
              <a:rPr lang="fr-FR" sz="800" b="1" i="0" u="none" strike="noStrike" cap="none" spc="0">
                <a:solidFill>
                  <a:schemeClr val="tx1">
                    <a:lumMod val="50000"/>
                    <a:lumOff val="50000"/>
                  </a:schemeClr>
                </a:solidFill>
                <a:latin typeface="Arial"/>
                <a:ea typeface="Arial"/>
                <a:cs typeface="Arial"/>
              </a:rPr>
              <a:t>test opposé</a:t>
            </a:r>
            <a:r>
              <a:rPr lang="fr-FR" sz="800" b="0" i="0" u="none" strike="noStrike" cap="none" spc="0">
                <a:solidFill>
                  <a:schemeClr val="tx1">
                    <a:lumMod val="50000"/>
                    <a:lumOff val="50000"/>
                  </a:schemeClr>
                </a:solidFill>
                <a:latin typeface="Arial"/>
                <a:ea typeface="Arial"/>
                <a:cs typeface="Arial"/>
              </a:rPr>
              <a:t>, celui qui réussi le test et qui obtient le plus haut score au dé est vainqueur.</a:t>
            </a:r>
            <a:br>
              <a:rPr lang="fr-FR" sz="800" b="0" i="0" u="none" strike="noStrike" cap="none" spc="0">
                <a:solidFill>
                  <a:schemeClr val="tx1">
                    <a:lumMod val="50000"/>
                    <a:lumOff val="50000"/>
                  </a:schemeClr>
                </a:solidFill>
                <a:latin typeface="Arial"/>
                <a:ea typeface="Arial"/>
                <a:cs typeface="Arial"/>
              </a:rPr>
            </a:br>
            <a:br>
              <a:rPr lang="fr-FR" sz="2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Chaque case de </a:t>
            </a:r>
            <a:r>
              <a:rPr lang="fr-FR" sz="800" b="1" i="0" u="none" strike="noStrike" cap="none" spc="0">
                <a:solidFill>
                  <a:schemeClr val="tx1">
                    <a:lumMod val="50000"/>
                    <a:lumOff val="50000"/>
                  </a:schemeClr>
                </a:solidFill>
                <a:latin typeface="Arial"/>
                <a:ea typeface="Arial"/>
                <a:cs typeface="Arial"/>
              </a:rPr>
              <a:t>trauma </a:t>
            </a:r>
            <a:r>
              <a:rPr lang="fr-FR" sz="800" b="0" i="0" u="none" strike="noStrike" cap="none" spc="0">
                <a:solidFill>
                  <a:schemeClr val="tx1">
                    <a:lumMod val="50000"/>
                    <a:lumOff val="50000"/>
                  </a:schemeClr>
                </a:solidFill>
                <a:latin typeface="Arial"/>
                <a:ea typeface="Arial"/>
                <a:cs typeface="Arial"/>
              </a:rPr>
              <a:t>cochée impose un malus de compétences de 10 points.</a:t>
            </a:r>
            <a:endParaRPr lang="fr-FR" sz="800" b="0" i="0" u="none" strike="noStrike" cap="none" spc="0">
              <a:solidFill>
                <a:schemeClr val="tx1">
                  <a:lumMod val="50000"/>
                  <a:lumOff val="50000"/>
                </a:schemeClr>
              </a:solidFill>
              <a:latin typeface="Arial"/>
              <a:ea typeface="Arial"/>
              <a:cs typeface="Arial"/>
            </a:endParaRPr>
          </a:p>
          <a:p>
            <a:pPr marL="0" marR="0" indent="0" algn="l">
              <a:lnSpc>
                <a:spcPct val="100000"/>
              </a:lnSpc>
              <a:spcBef>
                <a:spcPts val="0"/>
              </a:spcBef>
              <a:spcAft>
                <a:spcPts val="0"/>
              </a:spcAft>
              <a:defRPr/>
            </a:pPr>
            <a:endParaRPr lang="fr-FR" sz="800" b="0" i="0" u="none" strike="noStrike" cap="none" spc="0">
              <a:solidFill>
                <a:schemeClr val="tx1">
                  <a:lumMod val="50000"/>
                  <a:lumOff val="50000"/>
                </a:schemeClr>
              </a:solidFill>
              <a:latin typeface="Arial"/>
              <a:ea typeface="Arial"/>
              <a:cs typeface="Arial"/>
            </a:endParaRPr>
          </a:p>
        </p:txBody>
      </p:sp>
      <p:sp>
        <p:nvSpPr>
          <p:cNvPr id="293310558" name="ZoneTexte 2021443538"/>
          <p:cNvSpPr txBox="1"/>
          <p:nvPr/>
        </p:nvSpPr>
        <p:spPr bwMode="auto">
          <a:xfrm flipH="0" flipV="0">
            <a:off x="75827" y="5533802"/>
            <a:ext cx="1702734"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Médecine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Effectuer des premiers soins, sauver des vies, avoir des connaissances médicales.</a:t>
            </a:r>
            <a:endParaRPr/>
          </a:p>
        </p:txBody>
      </p:sp>
      <p:sp>
        <p:nvSpPr>
          <p:cNvPr id="1961151151" name="ZoneTexte 1075280509"/>
          <p:cNvSpPr txBox="1"/>
          <p:nvPr/>
        </p:nvSpPr>
        <p:spPr bwMode="auto">
          <a:xfrm flipH="0" flipV="0">
            <a:off x="44270" y="3612483"/>
            <a:ext cx="1746472"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Bagou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Être à l’aise en société, savoir parler en public, envoyer des piques et se faire des amis.</a:t>
            </a:r>
            <a:endParaRPr/>
          </a:p>
        </p:txBody>
      </p:sp>
      <p:sp>
        <p:nvSpPr>
          <p:cNvPr id="54148778" name="ZoneTexte 824413856"/>
          <p:cNvSpPr txBox="1"/>
          <p:nvPr/>
        </p:nvSpPr>
        <p:spPr bwMode="auto">
          <a:xfrm>
            <a:off x="40729" y="4254489"/>
            <a:ext cx="1737112"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Combat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Attaquer ou se défendre physiquement, avec ou sans armes.</a:t>
            </a:r>
            <a:endParaRPr/>
          </a:p>
        </p:txBody>
      </p:sp>
      <p:sp>
        <p:nvSpPr>
          <p:cNvPr id="2001522090" name="ZoneTexte 1036656844"/>
          <p:cNvSpPr txBox="1"/>
          <p:nvPr/>
        </p:nvSpPr>
        <p:spPr bwMode="auto">
          <a:xfrm flipH="0" flipV="0">
            <a:off x="2359940" y="3617505"/>
            <a:ext cx="1695710"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Savoir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Se remémorer ses souvenirs et effectuer des recherches dans une bibliothèque efficacement.</a:t>
            </a:r>
            <a:endParaRPr/>
          </a:p>
        </p:txBody>
      </p:sp>
      <p:sp>
        <p:nvSpPr>
          <p:cNvPr id="2024585880" name="ZoneTexte 226284734"/>
          <p:cNvSpPr txBox="1"/>
          <p:nvPr/>
        </p:nvSpPr>
        <p:spPr bwMode="auto">
          <a:xfrm flipH="0" flipV="0">
            <a:off x="45350" y="2976032"/>
            <a:ext cx="1738192"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Athlétisme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Escalader, nager, pratiquer des activités physiques, avoir une bonne santé.</a:t>
            </a:r>
            <a:endParaRPr/>
          </a:p>
        </p:txBody>
      </p:sp>
      <p:sp>
        <p:nvSpPr>
          <p:cNvPr id="1833410013" name="ZoneTexte 162158187"/>
          <p:cNvSpPr txBox="1"/>
          <p:nvPr/>
        </p:nvSpPr>
        <p:spPr bwMode="auto">
          <a:xfrm>
            <a:off x="135711" y="2333277"/>
            <a:ext cx="165935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Art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Écrire, cuisiner, dessiner, peindre, imaginer, transmettre des émotions et y être sensible.</a:t>
            </a:r>
            <a:endParaRPr/>
          </a:p>
        </p:txBody>
      </p:sp>
      <p:sp>
        <p:nvSpPr>
          <p:cNvPr id="997751919" name="ZoneTexte 1063440096"/>
          <p:cNvSpPr txBox="1"/>
          <p:nvPr/>
        </p:nvSpPr>
        <p:spPr bwMode="auto">
          <a:xfrm>
            <a:off x="97608" y="4892716"/>
            <a:ext cx="168023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Filouterie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Agir discrètement, dérober des objets, crocheter les serrures, connaître le monde de l’illégalité.</a:t>
            </a:r>
            <a:endParaRPr/>
          </a:p>
        </p:txBody>
      </p:sp>
      <p:sp>
        <p:nvSpPr>
          <p:cNvPr id="217469452" name="ZoneTexte 1564072661"/>
          <p:cNvSpPr txBox="1"/>
          <p:nvPr/>
        </p:nvSpPr>
        <p:spPr bwMode="auto">
          <a:xfrm>
            <a:off x="2302384" y="2981700"/>
            <a:ext cx="173567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Occultisme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Avoir des connaissances sur le surnaturel, connaître les entités et les pratiques occultes.</a:t>
            </a:r>
            <a:endParaRPr/>
          </a:p>
        </p:txBody>
      </p:sp>
      <p:sp>
        <p:nvSpPr>
          <p:cNvPr id="1474959775" name="ZoneTexte 2102805411"/>
          <p:cNvSpPr txBox="1"/>
          <p:nvPr/>
        </p:nvSpPr>
        <p:spPr bwMode="auto">
          <a:xfrm flipH="0" flipV="0">
            <a:off x="2347022" y="4261293"/>
            <a:ext cx="1700752"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Technologie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Bricoler, entretenir le matériel, savoir comment fonctionne un trébuchet.</a:t>
            </a:r>
            <a:endParaRPr/>
          </a:p>
        </p:txBody>
      </p:sp>
      <p:sp>
        <p:nvSpPr>
          <p:cNvPr id="1973919884" name="ZoneTexte 1094420572"/>
          <p:cNvSpPr txBox="1"/>
          <p:nvPr/>
        </p:nvSpPr>
        <p:spPr bwMode="auto">
          <a:xfrm>
            <a:off x="2302384" y="2333277"/>
            <a:ext cx="1743232"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Nature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Savoir survivre dans la nature, connaître la flore et la faune, camper, se déplacer en extérieur.</a:t>
            </a:r>
            <a:endParaRPr/>
          </a:p>
        </p:txBody>
      </p:sp>
      <p:sp>
        <p:nvSpPr>
          <p:cNvPr id="274090816" name="ZoneTexte 1337742717"/>
          <p:cNvSpPr txBox="1"/>
          <p:nvPr/>
        </p:nvSpPr>
        <p:spPr bwMode="auto">
          <a:xfrm flipH="0" flipV="0">
            <a:off x="2309222" y="4895033"/>
            <a:ext cx="173963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Véhicules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Conduire et piloter toutes sortes de véhicules, monter à cheval, avoir le pied marin.</a:t>
            </a:r>
            <a:endParaRPr/>
          </a:p>
        </p:txBody>
      </p:sp>
      <p:sp>
        <p:nvSpPr>
          <p:cNvPr id="492548911" name="ZoneTexte 1188730172"/>
          <p:cNvSpPr txBox="1"/>
          <p:nvPr/>
        </p:nvSpPr>
        <p:spPr bwMode="auto">
          <a:xfrm>
            <a:off x="2309224" y="5535477"/>
            <a:ext cx="1734593" cy="64842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Vigilance </a:t>
            </a:r>
            <a:r>
              <a:rPr lang="fr-FR" sz="1200" b="1"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Observer, remarquer les détails, être attentif à son environnement et y réagir rapidement.</a:t>
            </a:r>
            <a:endParaRPr/>
          </a:p>
        </p:txBody>
      </p:sp>
      <p:sp>
        <p:nvSpPr>
          <p:cNvPr id="1477762013" name="Rectangle : avec coins arrondis en haut 1452601499"/>
          <p:cNvSpPr/>
          <p:nvPr/>
        </p:nvSpPr>
        <p:spPr bwMode="auto">
          <a:xfrm rot="5399976">
            <a:off x="1724004" y="2462431"/>
            <a:ext cx="522739"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49909548" name="Rectangle : avec coins arrondis en haut 1782110635"/>
          <p:cNvSpPr/>
          <p:nvPr/>
        </p:nvSpPr>
        <p:spPr bwMode="auto">
          <a:xfrm rot="5399976">
            <a:off x="1718298" y="3101738"/>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49252370" name="Rectangle : avec coins arrondis en haut 945118596"/>
          <p:cNvSpPr/>
          <p:nvPr/>
        </p:nvSpPr>
        <p:spPr bwMode="auto">
          <a:xfrm rot="5399976">
            <a:off x="1725138" y="3734352"/>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0229905" name="Rectangle : avec coins arrondis en haut 500951796"/>
          <p:cNvSpPr/>
          <p:nvPr/>
        </p:nvSpPr>
        <p:spPr bwMode="auto">
          <a:xfrm rot="5399976">
            <a:off x="1718298" y="4374792"/>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09702819" name="Rectangle : avec coins arrondis en haut 203047490"/>
          <p:cNvSpPr/>
          <p:nvPr/>
        </p:nvSpPr>
        <p:spPr bwMode="auto">
          <a:xfrm rot="5399976">
            <a:off x="1718298" y="5015232"/>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93298232" name="Rectangle : avec coins arrondis en haut 818083012"/>
          <p:cNvSpPr/>
          <p:nvPr/>
        </p:nvSpPr>
        <p:spPr bwMode="auto">
          <a:xfrm rot="5399976">
            <a:off x="1718298" y="5655672"/>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51470870" name="Rectangle : avec coins arrondis en haut 310539005"/>
          <p:cNvSpPr/>
          <p:nvPr/>
        </p:nvSpPr>
        <p:spPr bwMode="auto">
          <a:xfrm rot="5399976">
            <a:off x="3987156" y="2462431"/>
            <a:ext cx="522739"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21365017" name="Rectangle : avec coins arrondis en haut 844307487"/>
          <p:cNvSpPr/>
          <p:nvPr/>
        </p:nvSpPr>
        <p:spPr bwMode="auto">
          <a:xfrm rot="5399976">
            <a:off x="3981449" y="3101738"/>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47243144" name="Rectangle : avec coins arrondis en haut 1616510051"/>
          <p:cNvSpPr/>
          <p:nvPr/>
        </p:nvSpPr>
        <p:spPr bwMode="auto">
          <a:xfrm rot="5399976">
            <a:off x="3988289" y="3734353"/>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1079304" name="Rectangle : avec coins arrondis en haut 1451691637"/>
          <p:cNvSpPr/>
          <p:nvPr/>
        </p:nvSpPr>
        <p:spPr bwMode="auto">
          <a:xfrm rot="5399976">
            <a:off x="3981449" y="4374793"/>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80294715" name="Rectangle : avec coins arrondis en haut 260383743"/>
          <p:cNvSpPr/>
          <p:nvPr/>
        </p:nvSpPr>
        <p:spPr bwMode="auto">
          <a:xfrm rot="5399976">
            <a:off x="3981449" y="5015233"/>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38265065" name="Rectangle : avec coins arrondis en haut 1280344391"/>
          <p:cNvSpPr/>
          <p:nvPr/>
        </p:nvSpPr>
        <p:spPr bwMode="auto">
          <a:xfrm rot="5399976">
            <a:off x="3981449" y="5655673"/>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92288806" name=""/>
          <p:cNvSpPr txBox="1"/>
          <p:nvPr/>
        </p:nvSpPr>
        <p:spPr bwMode="auto">
          <a:xfrm rot="0" flipH="0" flipV="0">
            <a:off x="3207795" y="9270589"/>
            <a:ext cx="3741332" cy="548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000" b="0" i="0" u="none" strike="noStrike" cap="none" spc="0">
                <a:solidFill>
                  <a:schemeClr val="tx1"/>
                </a:solidFill>
                <a:latin typeface="Arial"/>
                <a:ea typeface="Arial"/>
                <a:cs typeface="Arial"/>
              </a:rPr>
              <a:t>Profession :</a:t>
            </a:r>
            <a:r>
              <a:rPr lang="fr-FR" sz="1000" b="0" i="0" u="none" strike="noStrike" cap="none" spc="0">
                <a:solidFill>
                  <a:schemeClr val="bg2">
                    <a:lumMod val="90000"/>
                  </a:schemeClr>
                </a:solidFill>
                <a:latin typeface="Arial"/>
                <a:ea typeface="Arial"/>
                <a:cs typeface="Arial"/>
              </a:rPr>
              <a:t> </a:t>
            </a:r>
            <a:r>
              <a:rPr lang="fr-FR" sz="1000" b="0" i="0" u="none" strike="noStrike" cap="none" spc="0">
                <a:solidFill>
                  <a:schemeClr val="bg2">
                    <a:lumMod val="90000"/>
                  </a:schemeClr>
                </a:solidFill>
                <a:latin typeface="Arial"/>
                <a:ea typeface="Arial"/>
                <a:cs typeface="Arial"/>
              </a:rPr>
              <a:t>______________________________________</a:t>
            </a:r>
            <a:br>
              <a:rPr lang="fr-FR" sz="1000" b="0" i="0" u="none" strike="noStrike" cap="none" spc="0">
                <a:solidFill>
                  <a:schemeClr val="tx1"/>
                </a:solidFill>
                <a:latin typeface="Arial"/>
                <a:ea typeface="Arial"/>
                <a:cs typeface="Arial"/>
              </a:rPr>
            </a:br>
            <a:r>
              <a:rPr lang="fr-FR" sz="1000" b="0" i="0" u="none" strike="noStrike" cap="none" spc="0">
                <a:solidFill>
                  <a:schemeClr val="tx1"/>
                </a:solidFill>
                <a:latin typeface="Arial"/>
                <a:ea typeface="Arial"/>
                <a:cs typeface="Arial"/>
              </a:rPr>
              <a:t>Niveau de vie :</a:t>
            </a:r>
            <a:r>
              <a:rPr lang="fr-FR" sz="1200" b="0" i="0" u="none" strike="noStrike" cap="none" spc="0">
                <a:solidFill>
                  <a:schemeClr val="bg2">
                    <a:lumMod val="90000"/>
                  </a:schemeClr>
                </a:solidFill>
                <a:latin typeface="Arial"/>
                <a:ea typeface="Arial"/>
                <a:cs typeface="Arial"/>
              </a:rPr>
              <a:t> </a:t>
            </a:r>
            <a:r>
              <a:rPr lang="fr-FR" sz="1000" b="0" i="0" u="none" strike="noStrike" cap="none" spc="0">
                <a:solidFill>
                  <a:schemeClr val="bg2">
                    <a:lumMod val="90000"/>
                  </a:schemeClr>
                </a:solidFill>
                <a:latin typeface="Arial"/>
                <a:ea typeface="Arial"/>
                <a:cs typeface="Arial"/>
              </a:rPr>
              <a:t>____________________________________</a:t>
            </a:r>
            <a:endParaRPr lang="fr-FR" sz="1200" b="0" i="0" u="none" strike="noStrike" cap="none" spc="0">
              <a:solidFill>
                <a:schemeClr val="bg2">
                  <a:lumMod val="90000"/>
                </a:schemeClr>
              </a:solidFill>
              <a:latin typeface="Arial"/>
              <a:ea typeface="Arial"/>
              <a:cs typeface="Arial"/>
            </a:endParaRPr>
          </a:p>
        </p:txBody>
      </p:sp>
      <p:sp>
        <p:nvSpPr>
          <p:cNvPr id="258812061" name="ZoneTexte 1527388901"/>
          <p:cNvSpPr txBox="1"/>
          <p:nvPr/>
        </p:nvSpPr>
        <p:spPr bwMode="auto">
          <a:xfrm flipH="0" flipV="0">
            <a:off x="4211019" y="563517"/>
            <a:ext cx="2661831"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indent="0" algn="l">
              <a:lnSpc>
                <a:spcPct val="150000"/>
              </a:lnSpc>
              <a:spcBef>
                <a:spcPts val="0"/>
              </a:spcBef>
              <a:spcAft>
                <a:spcPts val="0"/>
              </a:spcAft>
              <a:defRPr/>
            </a:pPr>
            <a:r>
              <a:rPr lang="fr-FR" sz="1000" b="0" i="0" u="none" strike="noStrike" cap="none" spc="0">
                <a:solidFill>
                  <a:schemeClr val="tx1"/>
                </a:solidFill>
                <a:latin typeface="Arial"/>
                <a:ea typeface="Arial"/>
                <a:cs typeface="Arial"/>
              </a:rPr>
              <a:t>Description</a:t>
            </a:r>
            <a:r>
              <a:rPr lang="fr-FR" sz="1000" b="0" i="0" u="none" strike="noStrike" cap="none" spc="0">
                <a:solidFill>
                  <a:schemeClr val="tx1">
                    <a:lumMod val="50000"/>
                    <a:lumOff val="50000"/>
                  </a:schemeClr>
                </a:solidFill>
                <a:latin typeface="Arial"/>
                <a:ea typeface="Arial"/>
                <a:cs typeface="Arial"/>
              </a:rPr>
              <a:t> </a:t>
            </a:r>
            <a:r>
              <a:rPr lang="fr-FR" sz="1000" b="0" i="0" u="none" strike="noStrike" cap="none" spc="0">
                <a:solidFill>
                  <a:schemeClr val="tx1"/>
                </a:solidFill>
                <a:latin typeface="Arial"/>
                <a:ea typeface="Arial"/>
                <a:cs typeface="Arial"/>
              </a:rPr>
              <a:t>:</a:t>
            </a:r>
            <a:r>
              <a:rPr lang="fr-FR" sz="1000" b="0" i="0" u="none" strike="noStrike" cap="none" spc="0">
                <a:solidFill>
                  <a:schemeClr val="bg2">
                    <a:lumMod val="90000"/>
                  </a:schemeClr>
                </a:solidFill>
                <a:latin typeface="Arial"/>
                <a:ea typeface="Arial"/>
                <a:cs typeface="Arial"/>
              </a:rPr>
              <a:t> ________________________</a:t>
            </a:r>
            <a:br>
              <a:rPr lang="fr-FR" sz="1000" b="0" i="0" u="none" strike="noStrike" cap="none" spc="0">
                <a:solidFill>
                  <a:schemeClr val="bg2">
                    <a:lumMod val="90000"/>
                  </a:schemeClr>
                </a:solidFill>
                <a:latin typeface="Arial"/>
                <a:ea typeface="Arial"/>
                <a:cs typeface="Arial"/>
              </a:rPr>
            </a:br>
            <a:r>
              <a:rPr lang="fr-FR" sz="1000" b="0" i="0" u="none" strike="noStrike" cap="none" spc="0">
                <a:solidFill>
                  <a:schemeClr val="bg2">
                    <a:lumMod val="90000"/>
                  </a:schemeClr>
                </a:solidFill>
                <a:latin typeface="Arial"/>
                <a:ea typeface="Arial"/>
                <a:cs typeface="Arial"/>
              </a:rPr>
              <a:t>____</a:t>
            </a:r>
            <a:r>
              <a:rPr lang="fr-FR" sz="10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a:t>
            </a:r>
            <a:r>
              <a:rPr lang="fr-FR" sz="1000" b="0" i="0" u="none" strike="noStrike" cap="none" spc="0">
                <a:solidFill>
                  <a:schemeClr val="bg2">
                    <a:lumMod val="90000"/>
                  </a:schemeClr>
                </a:solidFill>
                <a:latin typeface="Arial"/>
                <a:ea typeface="Arial"/>
                <a:cs typeface="Arial"/>
              </a:rPr>
              <a:t>___________</a:t>
            </a:r>
            <a:r>
              <a:rPr lang="fr-FR" sz="1000" b="0" i="0" u="none" strike="noStrike" cap="none" spc="0">
                <a:solidFill>
                  <a:schemeClr val="bg2">
                    <a:lumMod val="90000"/>
                  </a:schemeClr>
                </a:solidFill>
                <a:latin typeface="Arial"/>
                <a:ea typeface="Arial"/>
                <a:cs typeface="Arial"/>
              </a:rPr>
              <a:t>_____________________________</a:t>
            </a:r>
            <a:endParaRPr lang="fr-FR" sz="1200" b="0" i="0" u="none" strike="noStrike" cap="none" spc="0">
              <a:solidFill>
                <a:schemeClr val="tx1">
                  <a:lumMod val="50000"/>
                  <a:lumOff val="50000"/>
                </a:schemeClr>
              </a:solidFill>
              <a:latin typeface="Times New Roman"/>
              <a:cs typeface="Times New Roman"/>
            </a:endParaRPr>
          </a:p>
        </p:txBody>
      </p:sp>
      <p:sp>
        <p:nvSpPr>
          <p:cNvPr id="175313239" name="Rectangle 38344096"/>
          <p:cNvSpPr/>
          <p:nvPr/>
        </p:nvSpPr>
        <p:spPr bwMode="auto">
          <a:xfrm flipH="0" flipV="0">
            <a:off x="6688314" y="530568"/>
            <a:ext cx="104770" cy="147446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30895982" name=""/>
          <p:cNvSpPr/>
          <p:nvPr/>
        </p:nvSpPr>
        <p:spPr bwMode="auto">
          <a:xfrm>
            <a:off x="3283147" y="22347"/>
            <a:ext cx="3571425" cy="427078"/>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Georgia"/>
                <a:ea typeface="Georgia"/>
                <a:cs typeface="Georgia"/>
              </a:rPr>
              <a:t>Les </a:t>
            </a:r>
            <a:r>
              <a:rPr sz="2200" b="1">
                <a:solidFill>
                  <a:srgbClr val="BFBFBF"/>
                </a:solidFill>
                <a:latin typeface="Georgia"/>
                <a:ea typeface="Georgia"/>
                <a:cs typeface="Georgia"/>
              </a:rPr>
              <a:t>monstres </a:t>
            </a:r>
            <a:r>
              <a:rPr sz="1600">
                <a:solidFill>
                  <a:srgbClr val="BFBFBF"/>
                </a:solidFill>
                <a:latin typeface="Georgia"/>
                <a:ea typeface="Georgia"/>
                <a:cs typeface="Georgia"/>
              </a:rPr>
              <a:t>que nous sommes</a:t>
            </a:r>
            <a:endParaRPr sz="2000">
              <a:solidFill>
                <a:srgbClr val="BFBFBF"/>
              </a:solidFill>
              <a:latin typeface="Georgia"/>
              <a:cs typeface="Georgia"/>
            </a:endParaRPr>
          </a:p>
        </p:txBody>
      </p:sp>
      <p:sp>
        <p:nvSpPr>
          <p:cNvPr id="253419862" name="Flèche : pentagone 2055848356"/>
          <p:cNvSpPr/>
          <p:nvPr/>
        </p:nvSpPr>
        <p:spPr bwMode="auto">
          <a:xfrm flipH="0" flipV="0">
            <a:off x="5949462" y="7130005"/>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43796407" name="Flèche : pentagone 1980093981"/>
          <p:cNvSpPr/>
          <p:nvPr/>
        </p:nvSpPr>
        <p:spPr bwMode="auto">
          <a:xfrm flipH="0" flipV="0">
            <a:off x="6100137" y="7130005"/>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12230488" name="Flèche : pentagone 905284374"/>
          <p:cNvSpPr/>
          <p:nvPr/>
        </p:nvSpPr>
        <p:spPr bwMode="auto">
          <a:xfrm flipH="0" flipV="0">
            <a:off x="6250816" y="7130005"/>
            <a:ext cx="143169" cy="140443"/>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28807340" name="ZoneTexte 1440859034"/>
          <p:cNvSpPr txBox="1"/>
          <p:nvPr/>
        </p:nvSpPr>
        <p:spPr bwMode="auto">
          <a:xfrm>
            <a:off x="5708700" y="7183801"/>
            <a:ext cx="953910" cy="30515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lgn="ctr">
              <a:defRPr/>
            </a:pPr>
            <a:r>
              <a:rPr sz="1400" b="1">
                <a:solidFill>
                  <a:schemeClr val="bg1">
                    <a:lumMod val="65000"/>
                  </a:schemeClr>
                </a:solidFill>
              </a:rPr>
              <a:t>TRAUMA</a:t>
            </a:r>
            <a:endParaRPr sz="1600"/>
          </a:p>
        </p:txBody>
      </p:sp>
      <p:sp>
        <p:nvSpPr>
          <p:cNvPr id="321920377" name="Flèche : pentagone 1880610112"/>
          <p:cNvSpPr/>
          <p:nvPr/>
        </p:nvSpPr>
        <p:spPr bwMode="auto">
          <a:xfrm flipH="0" flipV="0">
            <a:off x="5798787" y="7594707"/>
            <a:ext cx="143168" cy="140445"/>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76738379" name="Flèche : pentagone 446859139"/>
          <p:cNvSpPr/>
          <p:nvPr/>
        </p:nvSpPr>
        <p:spPr bwMode="auto">
          <a:xfrm flipH="0" flipV="0">
            <a:off x="5949462" y="759470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45038917" name="Flèche : pentagone 2055848356"/>
          <p:cNvSpPr/>
          <p:nvPr/>
        </p:nvSpPr>
        <p:spPr bwMode="auto">
          <a:xfrm flipH="0" flipV="0">
            <a:off x="6100140" y="759470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10733745" name="Flèche : pentagone 1980093981"/>
          <p:cNvSpPr/>
          <p:nvPr/>
        </p:nvSpPr>
        <p:spPr bwMode="auto">
          <a:xfrm flipH="0" flipV="0">
            <a:off x="6250816" y="759470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59990016" name="Flèche : pentagone 905284374"/>
          <p:cNvSpPr/>
          <p:nvPr/>
        </p:nvSpPr>
        <p:spPr bwMode="auto">
          <a:xfrm flipH="0" flipV="0">
            <a:off x="6401493" y="759470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30007707" name="ZoneTexte 1440859034"/>
          <p:cNvSpPr txBox="1"/>
          <p:nvPr/>
        </p:nvSpPr>
        <p:spPr bwMode="auto">
          <a:xfrm>
            <a:off x="5706993" y="7379735"/>
            <a:ext cx="894969" cy="30515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lgn="ctr">
              <a:defRPr/>
            </a:pPr>
            <a:r>
              <a:rPr sz="1400" b="1">
                <a:solidFill>
                  <a:schemeClr val="bg1">
                    <a:lumMod val="65000"/>
                  </a:schemeClr>
                </a:solidFill>
              </a:rPr>
              <a:t>STRESS</a:t>
            </a:r>
            <a:endParaRPr sz="1600"/>
          </a:p>
        </p:txBody>
      </p:sp>
      <p:sp>
        <p:nvSpPr>
          <p:cNvPr id="367904861" name="Flèche : pentagone 2055848356"/>
          <p:cNvSpPr/>
          <p:nvPr/>
        </p:nvSpPr>
        <p:spPr bwMode="auto">
          <a:xfrm flipH="0" flipV="0">
            <a:off x="5949462" y="776289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2364448" name="Flèche : pentagone 1980093981"/>
          <p:cNvSpPr/>
          <p:nvPr/>
        </p:nvSpPr>
        <p:spPr bwMode="auto">
          <a:xfrm flipH="0" flipV="0">
            <a:off x="6100137" y="776289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86853794" name="Flèche : pentagone 905284374"/>
          <p:cNvSpPr/>
          <p:nvPr/>
        </p:nvSpPr>
        <p:spPr bwMode="auto">
          <a:xfrm flipH="0" flipV="0">
            <a:off x="6250816" y="7762897"/>
            <a:ext cx="143168" cy="140442"/>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89832259" name="ZoneTexte 1440859034"/>
          <p:cNvSpPr txBox="1"/>
          <p:nvPr/>
        </p:nvSpPr>
        <p:spPr bwMode="auto">
          <a:xfrm>
            <a:off x="5708880" y="7821982"/>
            <a:ext cx="953910" cy="30515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lgn="ctr">
              <a:defRPr/>
            </a:pPr>
            <a:r>
              <a:rPr sz="1400" b="1">
                <a:solidFill>
                  <a:schemeClr val="bg1">
                    <a:lumMod val="65000"/>
                  </a:schemeClr>
                </a:solidFill>
              </a:rPr>
              <a:t>TRAUMA</a:t>
            </a:r>
            <a:endParaRPr sz="1600"/>
          </a:p>
        </p:txBody>
      </p:sp>
      <p:sp>
        <p:nvSpPr>
          <p:cNvPr id="1302796067" name="Rectangle 38344096"/>
          <p:cNvSpPr/>
          <p:nvPr/>
        </p:nvSpPr>
        <p:spPr bwMode="auto">
          <a:xfrm flipH="0" flipV="0">
            <a:off x="6675827" y="9233954"/>
            <a:ext cx="152697" cy="65151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852147" name=""/>
          <p:cNvSpPr/>
          <p:nvPr/>
        </p:nvSpPr>
        <p:spPr bwMode="auto">
          <a:xfrm rot="0" flipH="0" flipV="0">
            <a:off x="58496" y="6106070"/>
            <a:ext cx="3223928" cy="1146616"/>
          </a:xfrm>
          <a:prstGeom prst="rect">
            <a:avLst/>
          </a:prstGeom>
          <a:solidFill>
            <a:schemeClr val="bg1">
              <a:lumMod val="85000"/>
              <a:alpha val="42000"/>
            </a:scheme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96314165" name=""/>
          <p:cNvSpPr txBox="1"/>
          <p:nvPr/>
        </p:nvSpPr>
        <p:spPr bwMode="auto">
          <a:xfrm rot="0" flipH="0" flipV="0">
            <a:off x="58496" y="3355389"/>
            <a:ext cx="3286208" cy="39322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sz="1200" b="0" i="0" u="none" strike="noStrike" cap="none" spc="0">
              <a:solidFill>
                <a:schemeClr val="bg2">
                  <a:lumMod val="90000"/>
                </a:schemeClr>
              </a:solidFill>
              <a:latin typeface="Arial"/>
              <a:ea typeface="Arial"/>
              <a:cs typeface="Arial"/>
            </a:endParaRPr>
          </a:p>
        </p:txBody>
      </p:sp>
      <p:cxnSp>
        <p:nvCxnSpPr>
          <p:cNvPr id="1978065127" name="Connecteur droit 1568760680"/>
          <p:cNvCxnSpPr/>
          <p:nvPr/>
        </p:nvCxnSpPr>
        <p:spPr bwMode="auto">
          <a:xfrm flipV="1">
            <a:off x="-56172" y="361947"/>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80149908" name="ZoneTexte 1868728971"/>
          <p:cNvSpPr txBox="1"/>
          <p:nvPr/>
        </p:nvSpPr>
        <p:spPr bwMode="auto">
          <a:xfrm>
            <a:off x="45900" y="178885"/>
            <a:ext cx="47733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Environnement académique</a:t>
            </a:r>
            <a:endParaRPr/>
          </a:p>
        </p:txBody>
      </p:sp>
      <p:cxnSp>
        <p:nvCxnSpPr>
          <p:cNvPr id="1288229739" name="Connecteur droit 806540798"/>
          <p:cNvCxnSpPr/>
          <p:nvPr/>
        </p:nvCxnSpPr>
        <p:spPr bwMode="auto">
          <a:xfrm flipV="1">
            <a:off x="972" y="3038390"/>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08110890" name="ZoneTexte 406616703"/>
          <p:cNvSpPr txBox="1"/>
          <p:nvPr/>
        </p:nvSpPr>
        <p:spPr bwMode="auto">
          <a:xfrm flipH="0" flipV="0">
            <a:off x="45898" y="2855329"/>
            <a:ext cx="3367100"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Relations suivies</a:t>
            </a:r>
            <a:endParaRPr/>
          </a:p>
        </p:txBody>
      </p:sp>
      <p:sp>
        <p:nvSpPr>
          <p:cNvPr id="1031077726" name="ZoneTexte 1302587497"/>
          <p:cNvSpPr txBox="1"/>
          <p:nvPr/>
        </p:nvSpPr>
        <p:spPr bwMode="auto">
          <a:xfrm>
            <a:off x="142542" y="538450"/>
            <a:ext cx="4366962"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Établissement : </a:t>
            </a:r>
            <a:r>
              <a:rPr lang="fr-FR" sz="1000" b="0" i="0" u="none" strike="noStrike" cap="none" spc="0">
                <a:solidFill>
                  <a:schemeClr val="bg2">
                    <a:lumMod val="90000"/>
                  </a:schemeClr>
                </a:solidFill>
                <a:latin typeface="+mn-lt"/>
                <a:ea typeface="+mn-ea"/>
                <a:cs typeface="+mn-cs"/>
              </a:rPr>
              <a:t>__________________________________________</a:t>
            </a:r>
            <a:br>
              <a:rPr sz="1000"/>
            </a:br>
            <a:r>
              <a:rPr sz="1000"/>
              <a:t>Grade :</a:t>
            </a:r>
            <a:r>
              <a:rPr sz="1000">
                <a:solidFill>
                  <a:schemeClr val="bg2">
                    <a:lumMod val="90000"/>
                  </a:schemeClr>
                </a:solidFill>
              </a:rPr>
              <a:t> __________________________________________________</a:t>
            </a:r>
            <a:endParaRPr/>
          </a:p>
          <a:p>
            <a:pPr>
              <a:lnSpc>
                <a:spcPct val="150000"/>
              </a:lnSpc>
              <a:defRPr/>
            </a:pPr>
            <a:r>
              <a:rPr sz="1000"/>
              <a:t>Cursus académique</a:t>
            </a:r>
            <a:r>
              <a:rPr sz="1000"/>
              <a:t> : </a:t>
            </a:r>
            <a:r>
              <a:rPr sz="1000">
                <a:solidFill>
                  <a:schemeClr val="bg2">
                    <a:lumMod val="90000"/>
                  </a:schemeClr>
                </a:solidFill>
              </a:rPr>
              <a:t>______________________________________</a:t>
            </a:r>
            <a:endParaRPr/>
          </a:p>
          <a:p>
            <a:pPr>
              <a:lnSpc>
                <a:spcPct val="150000"/>
              </a:lnSpc>
              <a:defRPr/>
            </a:pPr>
            <a:r>
              <a:rPr sz="1000"/>
              <a:t>Activité parascolaire </a:t>
            </a:r>
            <a:r>
              <a:rPr sz="1000"/>
              <a:t>: </a:t>
            </a:r>
            <a:r>
              <a:rPr sz="1000">
                <a:solidFill>
                  <a:schemeClr val="bg2">
                    <a:lumMod val="90000"/>
                  </a:schemeClr>
                </a:solidFill>
              </a:rPr>
              <a:t>______________________________________</a:t>
            </a:r>
            <a:r>
              <a:rPr lang="fr-FR" sz="1000" b="0" i="0" u="none" strike="noStrike" cap="none" spc="0">
                <a:solidFill>
                  <a:schemeClr val="tx1"/>
                </a:solidFill>
                <a:latin typeface="Arial"/>
                <a:ea typeface="Arial"/>
                <a:cs typeface="Arial"/>
              </a:rPr>
              <a:t>	</a:t>
            </a:r>
            <a:endParaRPr/>
          </a:p>
          <a:p>
            <a:pPr>
              <a:lnSpc>
                <a:spcPct val="150000"/>
              </a:lnSpc>
              <a:defRPr/>
            </a:pPr>
            <a:r>
              <a:rPr lang="fr-FR" sz="1000" b="0" i="0" u="none" strike="noStrike" cap="none" spc="0">
                <a:latin typeface="Arial"/>
                <a:ea typeface="Arial"/>
                <a:cs typeface="Arial"/>
              </a:rPr>
              <a:t>Clique :</a:t>
            </a:r>
            <a:r>
              <a:rPr sz="1000"/>
              <a:t> </a:t>
            </a:r>
            <a:r>
              <a:rPr sz="1000">
                <a:solidFill>
                  <a:schemeClr val="bg2">
                    <a:lumMod val="90000"/>
                  </a:schemeClr>
                </a:solidFill>
              </a:rPr>
              <a:t>________________________________________________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Arial"/>
                <a:ea typeface="Arial"/>
                <a:cs typeface="Arial"/>
              </a:rPr>
              <a:t>Fraternité / Sororité : </a:t>
            </a:r>
            <a:r>
              <a:rPr sz="1000">
                <a:solidFill>
                  <a:schemeClr val="bg2">
                    <a:lumMod val="90000"/>
                  </a:schemeClr>
                </a:solidFill>
              </a:rPr>
              <a:t>______________________________________</a:t>
            </a:r>
            <a:endParaRPr>
              <a:solidFill>
                <a:schemeClr val="bg2">
                  <a:lumMod val="90000"/>
                </a:schemeClr>
              </a:solidFill>
            </a:endParaRPr>
          </a:p>
        </p:txBody>
      </p:sp>
      <p:sp>
        <p:nvSpPr>
          <p:cNvPr id="1832265311" name="Rectangle 38344096"/>
          <p:cNvSpPr/>
          <p:nvPr/>
        </p:nvSpPr>
        <p:spPr bwMode="auto">
          <a:xfrm flipH="0" flipV="0">
            <a:off x="4106250" y="552447"/>
            <a:ext cx="104771" cy="147446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36937717" name="ZoneTexte 1075280509"/>
          <p:cNvSpPr txBox="1"/>
          <p:nvPr/>
        </p:nvSpPr>
        <p:spPr bwMode="auto">
          <a:xfrm flipH="0" flipV="0">
            <a:off x="4153726" y="1736766"/>
            <a:ext cx="173495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Sérénité</a:t>
            </a:r>
            <a:endParaRPr sz="1600"/>
          </a:p>
          <a:p>
            <a:pPr algn="r">
              <a:defRPr/>
            </a:pPr>
            <a:r>
              <a:rPr lang="fr-FR" sz="800" b="0" i="0" u="none" strike="noStrike" cap="none" spc="0">
                <a:solidFill>
                  <a:srgbClr val="808080"/>
                </a:solidFill>
                <a:latin typeface="Arial"/>
                <a:ea typeface="Arial"/>
                <a:cs typeface="Arial"/>
              </a:rPr>
              <a:t>Votre capacité à supporter la pression des études et de l’environnement académique.</a:t>
            </a:r>
            <a:endParaRPr/>
          </a:p>
        </p:txBody>
      </p:sp>
      <p:sp>
        <p:nvSpPr>
          <p:cNvPr id="1408885209" name="ZoneTexte 226284734"/>
          <p:cNvSpPr txBox="1"/>
          <p:nvPr/>
        </p:nvSpPr>
        <p:spPr bwMode="auto">
          <a:xfrm flipH="0" flipV="0">
            <a:off x="4154806" y="1100316"/>
            <a:ext cx="173387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Popularité</a:t>
            </a:r>
            <a:endParaRPr sz="1600"/>
          </a:p>
          <a:p>
            <a:pPr algn="r">
              <a:defRPr/>
            </a:pPr>
            <a:r>
              <a:rPr lang="fr-FR" sz="800" b="0" i="0" u="none" strike="noStrike" cap="none" spc="0">
                <a:solidFill>
                  <a:srgbClr val="808080"/>
                </a:solidFill>
                <a:latin typeface="Arial"/>
                <a:ea typeface="Arial"/>
                <a:cs typeface="Arial"/>
              </a:rPr>
              <a:t>Votre intégration sociale au sein de votre établissement académique.</a:t>
            </a:r>
            <a:endParaRPr/>
          </a:p>
        </p:txBody>
      </p:sp>
      <p:sp>
        <p:nvSpPr>
          <p:cNvPr id="1064598394" name="ZoneTexte 162158187"/>
          <p:cNvSpPr txBox="1"/>
          <p:nvPr/>
        </p:nvSpPr>
        <p:spPr bwMode="auto">
          <a:xfrm flipH="0" flipV="0">
            <a:off x="4154806" y="457560"/>
            <a:ext cx="173459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Résultats</a:t>
            </a:r>
            <a:endParaRPr sz="1600"/>
          </a:p>
          <a:p>
            <a:pPr algn="r">
              <a:defRPr/>
            </a:pPr>
            <a:r>
              <a:rPr sz="800">
                <a:solidFill>
                  <a:schemeClr val="tx1">
                    <a:lumMod val="50000"/>
                    <a:lumOff val="50000"/>
                  </a:schemeClr>
                </a:solidFill>
              </a:rPr>
              <a:t>Votre performance d’étudiant et vos notes. Gardez les élevés pour éviter les problèmes.</a:t>
            </a:r>
            <a:endParaRPr/>
          </a:p>
        </p:txBody>
      </p:sp>
      <p:sp>
        <p:nvSpPr>
          <p:cNvPr id="1744323087" name="Rectangle : avec coins arrondis en haut 1452601499"/>
          <p:cNvSpPr/>
          <p:nvPr/>
        </p:nvSpPr>
        <p:spPr bwMode="auto">
          <a:xfrm rot="5399976">
            <a:off x="5824473" y="586715"/>
            <a:ext cx="522739" cy="400050"/>
          </a:xfrm>
          <a:prstGeom prst="round2SameRect">
            <a:avLst>
              <a:gd name="adj1" fmla="val 16667"/>
              <a:gd name="adj2" fmla="val 0"/>
            </a:avLst>
          </a:prstGeom>
          <a:noFill/>
          <a:ln w="12699" cap="flat" cmpd="sng" algn="ctr">
            <a:solidFill>
              <a:srgbClr val="7F7F7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06767324" name="Rectangle : avec coins arrondis en haut 1782110635"/>
          <p:cNvSpPr/>
          <p:nvPr/>
        </p:nvSpPr>
        <p:spPr bwMode="auto">
          <a:xfrm rot="5399976" flipH="0" flipV="0">
            <a:off x="5825606" y="1226025"/>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92276443" name="Rectangle : avec coins arrondis en haut 945118596"/>
          <p:cNvSpPr/>
          <p:nvPr/>
        </p:nvSpPr>
        <p:spPr bwMode="auto">
          <a:xfrm rot="5399976">
            <a:off x="5825607" y="1858634"/>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49811876" name=""/>
          <p:cNvSpPr/>
          <p:nvPr/>
        </p:nvSpPr>
        <p:spPr bwMode="auto">
          <a:xfrm rot="5400000" flipH="0" flipV="0">
            <a:off x="6402397" y="549084"/>
            <a:ext cx="389406" cy="370519"/>
          </a:xfrm>
          <a:prstGeom prst="flowChartDisplay">
            <a:avLst/>
          </a:prstGeom>
          <a:solidFill>
            <a:schemeClr val="bg1"/>
          </a:solidFill>
          <a:ln w="12700" cap="flat" cmpd="sng" algn="ctr">
            <a:solidFill>
              <a:srgbClr val="7F7F7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75599985" name=""/>
          <p:cNvSpPr txBox="1"/>
          <p:nvPr/>
        </p:nvSpPr>
        <p:spPr bwMode="auto">
          <a:xfrm rot="0" flipH="0" flipV="0">
            <a:off x="6220933" y="884979"/>
            <a:ext cx="652401" cy="8537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r">
              <a:defRPr/>
            </a:pPr>
            <a:r>
              <a:rPr sz="1000">
                <a:solidFill>
                  <a:srgbClr val="7F7F7F"/>
                </a:solidFill>
              </a:rPr>
              <a:t>NOTE</a:t>
            </a:r>
            <a:br>
              <a:rPr sz="1000">
                <a:solidFill>
                  <a:srgbClr val="7F7F7F"/>
                </a:solidFill>
              </a:rPr>
            </a:br>
            <a:r>
              <a:rPr sz="800">
                <a:solidFill>
                  <a:srgbClr val="7F7F7F"/>
                </a:solidFill>
              </a:rPr>
              <a:t>70-100 : A</a:t>
            </a:r>
            <a:br>
              <a:rPr sz="800">
                <a:solidFill>
                  <a:srgbClr val="7F7F7F"/>
                </a:solidFill>
              </a:rPr>
            </a:br>
            <a:r>
              <a:rPr sz="800">
                <a:solidFill>
                  <a:srgbClr val="7F7F7F"/>
                </a:solidFill>
              </a:rPr>
              <a:t>55-69 : B</a:t>
            </a:r>
            <a:br>
              <a:rPr sz="800">
                <a:solidFill>
                  <a:srgbClr val="7F7F7F"/>
                </a:solidFill>
              </a:rPr>
            </a:br>
            <a:r>
              <a:rPr sz="800">
                <a:solidFill>
                  <a:srgbClr val="7F7F7F"/>
                </a:solidFill>
              </a:rPr>
              <a:t>40-54 : C</a:t>
            </a:r>
            <a:br>
              <a:rPr sz="800">
                <a:solidFill>
                  <a:srgbClr val="7F7F7F"/>
                </a:solidFill>
              </a:rPr>
            </a:br>
            <a:r>
              <a:rPr sz="800">
                <a:solidFill>
                  <a:srgbClr val="7F7F7F"/>
                </a:solidFill>
              </a:rPr>
              <a:t>25-39 : D</a:t>
            </a:r>
            <a:br>
              <a:rPr sz="800">
                <a:solidFill>
                  <a:srgbClr val="7F7F7F"/>
                </a:solidFill>
              </a:rPr>
            </a:br>
            <a:r>
              <a:rPr sz="800">
                <a:solidFill>
                  <a:srgbClr val="7F7F7F"/>
                </a:solidFill>
              </a:rPr>
              <a:t>01-24 : F</a:t>
            </a:r>
            <a:endParaRPr sz="1400">
              <a:solidFill>
                <a:srgbClr val="939393"/>
              </a:solidFill>
            </a:endParaRPr>
          </a:p>
        </p:txBody>
      </p:sp>
      <p:sp>
        <p:nvSpPr>
          <p:cNvPr id="1876984882" name=""/>
          <p:cNvSpPr/>
          <p:nvPr/>
        </p:nvSpPr>
        <p:spPr bwMode="auto">
          <a:xfrm>
            <a:off x="3282427" y="22347"/>
            <a:ext cx="3571425"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Georgia"/>
                <a:ea typeface="Georgia"/>
                <a:cs typeface="Georgia"/>
              </a:rPr>
              <a:t>Les </a:t>
            </a:r>
            <a:r>
              <a:rPr sz="2200" b="1">
                <a:solidFill>
                  <a:srgbClr val="BFBFBF"/>
                </a:solidFill>
                <a:latin typeface="Georgia"/>
                <a:ea typeface="Georgia"/>
                <a:cs typeface="Georgia"/>
              </a:rPr>
              <a:t>monstres </a:t>
            </a:r>
            <a:r>
              <a:rPr sz="1600">
                <a:solidFill>
                  <a:srgbClr val="BFBFBF"/>
                </a:solidFill>
                <a:latin typeface="Georgia"/>
                <a:ea typeface="Georgia"/>
                <a:cs typeface="Georgia"/>
              </a:rPr>
              <a:t>que nous sommes</a:t>
            </a:r>
            <a:endParaRPr sz="2000">
              <a:solidFill>
                <a:srgbClr val="BFBFBF"/>
              </a:solidFill>
              <a:latin typeface="Georgia"/>
              <a:cs typeface="Georgia"/>
            </a:endParaRPr>
          </a:p>
        </p:txBody>
      </p:sp>
      <p:sp>
        <p:nvSpPr>
          <p:cNvPr id="1861127766" name=""/>
          <p:cNvSpPr txBox="1"/>
          <p:nvPr/>
        </p:nvSpPr>
        <p:spPr bwMode="auto">
          <a:xfrm rot="0" flipH="0" flipV="0">
            <a:off x="142540" y="3221449"/>
            <a:ext cx="1342148" cy="5032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endParaRPr>
              <a:solidFill>
                <a:schemeClr val="bg2">
                  <a:lumMod val="90000"/>
                </a:schemeClr>
              </a:solidFill>
            </a:endParaRPr>
          </a:p>
        </p:txBody>
      </p:sp>
      <p:sp>
        <p:nvSpPr>
          <p:cNvPr id="1868496659" name=""/>
          <p:cNvSpPr txBox="1"/>
          <p:nvPr/>
        </p:nvSpPr>
        <p:spPr bwMode="auto">
          <a:xfrm rot="0" flipH="0" flipV="0">
            <a:off x="142540" y="3126937"/>
            <a:ext cx="6707153" cy="33789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lnSpc>
                <a:spcPct val="150000"/>
              </a:lnSpc>
              <a:defRPr/>
            </a:pPr>
            <a:r>
              <a:rPr lang="fr-FR" sz="1000" b="0" i="0" u="none" strike="noStrike" cap="none" spc="0">
                <a:solidFill>
                  <a:schemeClr val="tx1"/>
                </a:solidFill>
                <a:latin typeface="Arial"/>
                <a:ea typeface="Arial"/>
                <a:cs typeface="Arial"/>
              </a:rPr>
              <a:t>Personnage considéré</a:t>
            </a:r>
            <a:r>
              <a:rPr lang="fr-FR" sz="1000" b="0" i="0" u="none" strike="noStrike" cap="none" spc="0">
                <a:solidFill>
                  <a:schemeClr val="tx1"/>
                </a:solidFill>
                <a:latin typeface="Arial"/>
                <a:ea typeface="Arial"/>
                <a:cs typeface="Arial"/>
              </a:rPr>
              <a:t>                                                 Amitié / Hostilité</a:t>
            </a:r>
            <a:r>
              <a:rPr lang="fr-FR" sz="1000" b="0" i="0" u="none" strike="noStrike" cap="none" spc="0">
                <a:solidFill>
                  <a:schemeClr val="tx1"/>
                </a:solidFill>
                <a:latin typeface="Arial"/>
                <a:ea typeface="Arial"/>
                <a:cs typeface="Arial"/>
              </a:rPr>
              <a:t> </a:t>
            </a:r>
            <a:r>
              <a:rPr lang="fr-FR" sz="1000" b="0" i="0" u="none" strike="noStrike" cap="none" spc="0">
                <a:solidFill>
                  <a:schemeClr val="tx1"/>
                </a:solidFill>
                <a:latin typeface="Arial"/>
                <a:ea typeface="Arial"/>
                <a:cs typeface="Arial"/>
              </a:rPr>
              <a:t>  </a:t>
            </a:r>
            <a:r>
              <a:rPr lang="fr-FR" sz="1000" b="1" i="0" u="none" strike="noStrike" cap="none" spc="0">
                <a:solidFill>
                  <a:schemeClr val="tx1">
                    <a:lumMod val="50000"/>
                    <a:lumOff val="50000"/>
                  </a:schemeClr>
                </a:solidFill>
                <a:latin typeface="Arial"/>
                <a:ea typeface="Arial"/>
                <a:cs typeface="Arial"/>
              </a:rPr>
              <a:t>☘</a:t>
            </a:r>
            <a:r>
              <a:rPr lang="fr-FR" sz="1000" b="0" i="0" u="none" strike="noStrike" cap="none" spc="0">
                <a:solidFill>
                  <a:schemeClr val="tx1">
                    <a:lumMod val="50000"/>
                    <a:lumOff val="50000"/>
                  </a:schemeClr>
                </a:solidFill>
                <a:latin typeface="Arial"/>
                <a:ea typeface="Arial"/>
                <a:cs typeface="Arial"/>
              </a:rPr>
              <a:t>           </a:t>
            </a:r>
            <a:r>
              <a:rPr lang="fr-FR" sz="1000" b="0" i="0" u="none" strike="noStrike" cap="none" spc="0">
                <a:solidFill>
                  <a:schemeClr val="tx1"/>
                </a:solidFill>
                <a:latin typeface="Arial"/>
                <a:ea typeface="Arial"/>
                <a:cs typeface="Arial"/>
              </a:rPr>
              <a:t>Désir    </a:t>
            </a:r>
            <a:r>
              <a:rPr lang="fr-FR" sz="1000" b="0" i="0" u="none" strike="noStrike" cap="none" spc="0">
                <a:solidFill>
                  <a:schemeClr val="tx1"/>
                </a:solidFill>
                <a:latin typeface="Arial"/>
                <a:ea typeface="Arial"/>
                <a:cs typeface="Arial"/>
              </a:rPr>
              <a:t>   </a:t>
            </a:r>
            <a:r>
              <a:rPr lang="fr-FR" sz="1000" b="1" i="0" u="none" strike="noStrike" cap="none" spc="0">
                <a:solidFill>
                  <a:schemeClr val="tx1">
                    <a:lumMod val="50000"/>
                    <a:lumOff val="50000"/>
                  </a:schemeClr>
                </a:solidFill>
                <a:latin typeface="Arial"/>
                <a:ea typeface="Arial"/>
                <a:cs typeface="Arial"/>
              </a:rPr>
              <a:t>☘</a:t>
            </a:r>
            <a:r>
              <a:rPr lang="fr-FR" sz="1000" b="0" i="0" u="none" strike="noStrike" cap="none" spc="0">
                <a:solidFill>
                  <a:schemeClr val="tx1">
                    <a:lumMod val="50000"/>
                    <a:lumOff val="50000"/>
                  </a:schemeClr>
                </a:solidFill>
                <a:latin typeface="Arial"/>
                <a:ea typeface="Arial"/>
                <a:cs typeface="Arial"/>
              </a:rPr>
              <a:t>   </a:t>
            </a:r>
            <a:r>
              <a:rPr lang="fr-FR" sz="1000" b="0" i="0" u="none" strike="noStrike" cap="none" spc="0">
                <a:solidFill>
                  <a:schemeClr val="tx1"/>
                </a:solidFill>
                <a:latin typeface="Arial"/>
                <a:ea typeface="Arial"/>
                <a:cs typeface="Arial"/>
              </a:rPr>
              <a:t>   Admiration</a:t>
            </a:r>
            <a:r>
              <a:rPr lang="fr-FR" sz="1000" b="0" i="0" u="none" strike="noStrike" cap="none" spc="0">
                <a:solidFill>
                  <a:schemeClr val="tx1"/>
                </a:solidFill>
                <a:latin typeface="Arial"/>
                <a:ea typeface="Arial"/>
                <a:cs typeface="Arial"/>
              </a:rPr>
              <a:t> </a:t>
            </a:r>
            <a:r>
              <a:rPr lang="fr-FR" sz="1000" b="0" i="0" u="none" strike="noStrike" cap="none" spc="0">
                <a:solidFill>
                  <a:schemeClr val="tx1"/>
                </a:solidFill>
                <a:latin typeface="Arial"/>
                <a:ea typeface="Arial"/>
                <a:cs typeface="Arial"/>
              </a:rPr>
              <a:t>   </a:t>
            </a:r>
            <a:r>
              <a:rPr lang="fr-FR" sz="1000" b="1" i="0" u="none" strike="noStrike" cap="none" spc="0">
                <a:solidFill>
                  <a:schemeClr val="tx1">
                    <a:lumMod val="50000"/>
                    <a:lumOff val="50000"/>
                  </a:schemeClr>
                </a:solidFill>
                <a:latin typeface="Arial"/>
                <a:ea typeface="Arial"/>
                <a:cs typeface="Arial"/>
              </a:rPr>
              <a:t>☘</a:t>
            </a:r>
            <a:r>
              <a:rPr lang="fr-FR" sz="1000" b="0" i="0" u="none" strike="noStrike" cap="none" spc="0">
                <a:solidFill>
                  <a:schemeClr val="tx1">
                    <a:lumMod val="50000"/>
                    <a:lumOff val="50000"/>
                  </a:schemeClr>
                </a:solidFill>
                <a:latin typeface="Arial"/>
                <a:ea typeface="Arial"/>
                <a:cs typeface="Arial"/>
              </a:rPr>
              <a:t> </a:t>
            </a:r>
            <a:r>
              <a:rPr lang="fr-FR" sz="1000" b="1" i="0" u="none" strike="noStrike" cap="none" spc="0">
                <a:solidFill>
                  <a:schemeClr val="tx1">
                    <a:lumMod val="50000"/>
                    <a:lumOff val="50000"/>
                  </a:schemeClr>
                </a:solidFill>
                <a:latin typeface="Arial"/>
                <a:ea typeface="Arial"/>
                <a:cs typeface="Arial"/>
              </a:rPr>
              <a:t>    ☠</a:t>
            </a:r>
            <a:endParaRPr sz="1000">
              <a:solidFill>
                <a:schemeClr val="bg2">
                  <a:lumMod val="90000"/>
                </a:schemeClr>
              </a:solidFill>
            </a:endParaRPr>
          </a:p>
        </p:txBody>
      </p:sp>
      <p:sp>
        <p:nvSpPr>
          <p:cNvPr id="1618704012" name=""/>
          <p:cNvSpPr txBox="1"/>
          <p:nvPr/>
        </p:nvSpPr>
        <p:spPr bwMode="auto">
          <a:xfrm rot="0" flipH="0" flipV="0">
            <a:off x="142538" y="1901376"/>
            <a:ext cx="4313277"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800" b="0" i="0" u="none" strike="noStrike" cap="none" spc="0">
                <a:solidFill>
                  <a:srgbClr val="808080"/>
                </a:solidFill>
                <a:latin typeface="Arial"/>
                <a:ea typeface="Arial"/>
                <a:cs typeface="Arial"/>
              </a:rPr>
              <a:t>Chaque début de scénario, choisissez où vous avez </a:t>
            </a:r>
            <a:r>
              <a:rPr lang="fr-FR" sz="800" b="1" i="0" u="none" strike="noStrike" cap="none" spc="0">
                <a:solidFill>
                  <a:srgbClr val="808080"/>
                </a:solidFill>
                <a:latin typeface="Arial"/>
                <a:ea typeface="Arial"/>
                <a:cs typeface="Arial"/>
              </a:rPr>
              <a:t>appliqué vos efforts</a:t>
            </a:r>
            <a:r>
              <a:rPr lang="fr-FR" sz="800" b="0" i="0" u="none" strike="noStrike" cap="none" spc="0">
                <a:solidFill>
                  <a:srgbClr val="808080"/>
                </a:solidFill>
                <a:latin typeface="Arial"/>
                <a:ea typeface="Arial"/>
                <a:cs typeface="Arial"/>
              </a:rPr>
              <a:t> et gagnez 1d6 ou 2d6 en fonction du temps passé entre les épisodes (au MJ de décider). Là où vous n’avez pas mis d’efforts votre score peut baisser. </a:t>
            </a:r>
            <a:r>
              <a:rPr lang="fr-FR" sz="800" b="1" i="0" u="none" strike="noStrike" cap="none" spc="0">
                <a:solidFill>
                  <a:srgbClr val="808080"/>
                </a:solidFill>
                <a:latin typeface="Arial"/>
                <a:ea typeface="Arial"/>
                <a:cs typeface="Arial"/>
              </a:rPr>
              <a:t>Résistez à la perte</a:t>
            </a:r>
            <a:r>
              <a:rPr lang="fr-FR" sz="800" b="0" i="0" u="none" strike="noStrike" cap="none" spc="0">
                <a:solidFill>
                  <a:srgbClr val="808080"/>
                </a:solidFill>
                <a:latin typeface="Arial"/>
                <a:ea typeface="Arial"/>
                <a:cs typeface="Arial"/>
              </a:rPr>
              <a:t> de </a:t>
            </a:r>
            <a:r>
              <a:rPr lang="fr-FR" sz="800" b="1" i="0" u="none" strike="noStrike" cap="none" spc="0">
                <a:solidFill>
                  <a:srgbClr val="808080"/>
                </a:solidFill>
                <a:latin typeface="Arial"/>
                <a:ea typeface="Arial"/>
                <a:cs typeface="Arial"/>
              </a:rPr>
              <a:t>résultats </a:t>
            </a:r>
            <a:r>
              <a:rPr lang="fr-FR" sz="800" b="0" i="0" u="none" strike="noStrike" cap="none" spc="0">
                <a:solidFill>
                  <a:srgbClr val="808080"/>
                </a:solidFill>
                <a:latin typeface="Arial"/>
                <a:ea typeface="Arial"/>
                <a:cs typeface="Arial"/>
              </a:rPr>
              <a:t>grâce à votre compétence de </a:t>
            </a:r>
            <a:r>
              <a:rPr lang="fr-FR" sz="800" b="1" i="0" u="none" strike="noStrike" cap="none" spc="0">
                <a:solidFill>
                  <a:srgbClr val="808080"/>
                </a:solidFill>
                <a:latin typeface="Arial"/>
                <a:ea typeface="Arial"/>
                <a:cs typeface="Arial"/>
              </a:rPr>
              <a:t>savoir</a:t>
            </a:r>
            <a:r>
              <a:rPr lang="fr-FR" sz="800" b="0" i="0" u="none" strike="noStrike" cap="none" spc="0">
                <a:solidFill>
                  <a:srgbClr val="808080"/>
                </a:solidFill>
                <a:latin typeface="Arial"/>
                <a:ea typeface="Arial"/>
                <a:cs typeface="Arial"/>
              </a:rPr>
              <a:t>, à la perte de </a:t>
            </a:r>
            <a:r>
              <a:rPr lang="fr-FR" sz="800" b="1" i="0" u="none" strike="noStrike" cap="none" spc="0">
                <a:solidFill>
                  <a:srgbClr val="808080"/>
                </a:solidFill>
                <a:latin typeface="Arial"/>
                <a:ea typeface="Arial"/>
                <a:cs typeface="Arial"/>
              </a:rPr>
              <a:t>popularité </a:t>
            </a:r>
            <a:r>
              <a:rPr lang="fr-FR" sz="800" b="0" i="0" u="none" strike="noStrike" cap="none" spc="0">
                <a:solidFill>
                  <a:srgbClr val="808080"/>
                </a:solidFill>
                <a:latin typeface="Arial"/>
                <a:ea typeface="Arial"/>
                <a:cs typeface="Arial"/>
              </a:rPr>
              <a:t>grâce à votre compétence de </a:t>
            </a:r>
            <a:r>
              <a:rPr lang="fr-FR" sz="800" b="1" i="0" u="none" strike="noStrike" cap="none" spc="0">
                <a:solidFill>
                  <a:srgbClr val="808080"/>
                </a:solidFill>
                <a:latin typeface="Arial"/>
                <a:ea typeface="Arial"/>
                <a:cs typeface="Arial"/>
              </a:rPr>
              <a:t>bagou </a:t>
            </a:r>
            <a:r>
              <a:rPr lang="fr-FR" sz="800" b="0" i="0" u="none" strike="noStrike" cap="none" spc="0">
                <a:solidFill>
                  <a:srgbClr val="808080"/>
                </a:solidFill>
                <a:latin typeface="Arial"/>
                <a:ea typeface="Arial"/>
                <a:cs typeface="Arial"/>
              </a:rPr>
              <a:t>ou à une </a:t>
            </a:r>
            <a:r>
              <a:rPr lang="fr-FR" sz="800" b="1" i="0" u="none" strike="noStrike" cap="none" spc="0">
                <a:solidFill>
                  <a:srgbClr val="808080"/>
                </a:solidFill>
                <a:latin typeface="Arial"/>
                <a:ea typeface="Arial"/>
                <a:cs typeface="Arial"/>
              </a:rPr>
              <a:t>compétence</a:t>
            </a:r>
            <a:r>
              <a:rPr lang="fr-FR" sz="800" b="0" i="0" u="none" strike="noStrike" cap="none" spc="0">
                <a:solidFill>
                  <a:srgbClr val="808080"/>
                </a:solidFill>
                <a:latin typeface="Arial"/>
                <a:ea typeface="Arial"/>
                <a:cs typeface="Arial"/>
              </a:rPr>
              <a:t> liée à votre activité parascolaire ou à la perte de </a:t>
            </a:r>
            <a:r>
              <a:rPr lang="fr-FR" sz="800" b="1" i="0" u="none" strike="noStrike" cap="none" spc="0">
                <a:solidFill>
                  <a:srgbClr val="808080"/>
                </a:solidFill>
                <a:latin typeface="Arial"/>
                <a:ea typeface="Arial"/>
                <a:cs typeface="Arial"/>
              </a:rPr>
              <a:t>sérénité </a:t>
            </a:r>
            <a:r>
              <a:rPr lang="fr-FR" sz="800" b="0" i="0" u="none" strike="noStrike" cap="none" spc="0">
                <a:solidFill>
                  <a:srgbClr val="808080"/>
                </a:solidFill>
                <a:latin typeface="Arial"/>
                <a:ea typeface="Arial"/>
                <a:cs typeface="Arial"/>
              </a:rPr>
              <a:t>grâce à votre </a:t>
            </a:r>
            <a:r>
              <a:rPr lang="fr-FR" sz="800" b="1" i="0" u="none" strike="noStrike" cap="none" spc="0">
                <a:solidFill>
                  <a:srgbClr val="808080"/>
                </a:solidFill>
                <a:latin typeface="Arial"/>
                <a:ea typeface="Arial"/>
                <a:cs typeface="Arial"/>
              </a:rPr>
              <a:t>résistance mentale</a:t>
            </a:r>
            <a:r>
              <a:rPr lang="fr-FR" sz="800" b="0"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Si vous échouez, perdez 1d6 ou 2d6. Testez ensuite votre valeur la plus basse. En cas d’échec, subissez un </a:t>
            </a:r>
            <a:r>
              <a:rPr lang="fr-FR" sz="800" b="1" i="0" u="none" strike="noStrike" cap="none" spc="0">
                <a:solidFill>
                  <a:srgbClr val="808080"/>
                </a:solidFill>
                <a:latin typeface="Arial"/>
                <a:ea typeface="Arial"/>
                <a:cs typeface="Arial"/>
              </a:rPr>
              <a:t>incident académique</a:t>
            </a:r>
            <a:r>
              <a:rPr lang="fr-FR" sz="800" b="0" i="0" u="none" strike="noStrike" cap="none" spc="0">
                <a:solidFill>
                  <a:srgbClr val="808080"/>
                </a:solidFill>
                <a:latin typeface="Arial"/>
                <a:ea typeface="Arial"/>
                <a:cs typeface="Arial"/>
              </a:rPr>
              <a:t>. </a:t>
            </a:r>
            <a:endParaRPr sz="800"/>
          </a:p>
        </p:txBody>
      </p:sp>
      <p:sp>
        <p:nvSpPr>
          <p:cNvPr id="1245346023" name=""/>
          <p:cNvSpPr txBox="1"/>
          <p:nvPr/>
        </p:nvSpPr>
        <p:spPr bwMode="auto">
          <a:xfrm rot="0" flipH="0" flipV="0">
            <a:off x="2326021" y="3327620"/>
            <a:ext cx="4520432"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202644404" name=""/>
          <p:cNvSpPr txBox="1"/>
          <p:nvPr/>
        </p:nvSpPr>
        <p:spPr bwMode="auto">
          <a:xfrm rot="0" flipH="0" flipV="0">
            <a:off x="2326021" y="3604616"/>
            <a:ext cx="452079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553374235" name=""/>
          <p:cNvSpPr txBox="1"/>
          <p:nvPr/>
        </p:nvSpPr>
        <p:spPr bwMode="auto">
          <a:xfrm rot="0" flipH="0" flipV="0">
            <a:off x="2326021" y="3882730"/>
            <a:ext cx="452079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2010696372" name=""/>
          <p:cNvSpPr txBox="1"/>
          <p:nvPr/>
        </p:nvSpPr>
        <p:spPr bwMode="auto">
          <a:xfrm rot="0" flipH="0" flipV="0">
            <a:off x="2326021" y="4152372"/>
            <a:ext cx="452079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805807892" name=""/>
          <p:cNvSpPr txBox="1"/>
          <p:nvPr/>
        </p:nvSpPr>
        <p:spPr bwMode="auto">
          <a:xfrm rot="0" flipH="0" flipV="0">
            <a:off x="2326021" y="4431819"/>
            <a:ext cx="452079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1118075163" name=""/>
          <p:cNvSpPr txBox="1"/>
          <p:nvPr/>
        </p:nvSpPr>
        <p:spPr bwMode="auto">
          <a:xfrm rot="0" flipH="0" flipV="0">
            <a:off x="2325303" y="4704915"/>
            <a:ext cx="452079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1400964987" name=""/>
          <p:cNvSpPr txBox="1"/>
          <p:nvPr/>
        </p:nvSpPr>
        <p:spPr bwMode="auto">
          <a:xfrm rot="0" flipH="0" flipV="0">
            <a:off x="2325303" y="4988260"/>
            <a:ext cx="452115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1215093435" name=""/>
          <p:cNvSpPr txBox="1"/>
          <p:nvPr/>
        </p:nvSpPr>
        <p:spPr bwMode="auto">
          <a:xfrm rot="0" flipH="0" flipV="0">
            <a:off x="2325303" y="5260026"/>
            <a:ext cx="452115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2117708551" name=""/>
          <p:cNvSpPr txBox="1"/>
          <p:nvPr/>
        </p:nvSpPr>
        <p:spPr bwMode="auto">
          <a:xfrm rot="0" flipH="0" flipV="0">
            <a:off x="2325303" y="5529668"/>
            <a:ext cx="452115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1421267288" name=""/>
          <p:cNvSpPr txBox="1"/>
          <p:nvPr/>
        </p:nvSpPr>
        <p:spPr bwMode="auto">
          <a:xfrm rot="0" flipH="0" flipV="0">
            <a:off x="2325303" y="5802764"/>
            <a:ext cx="452115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503479870" name=""/>
          <p:cNvSpPr txBox="1"/>
          <p:nvPr/>
        </p:nvSpPr>
        <p:spPr bwMode="auto">
          <a:xfrm rot="0" flipH="0" flipV="0">
            <a:off x="2324582" y="6074320"/>
            <a:ext cx="452151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505188425" name=""/>
          <p:cNvSpPr txBox="1"/>
          <p:nvPr/>
        </p:nvSpPr>
        <p:spPr bwMode="auto">
          <a:xfrm rot="0" flipH="0" flipV="0">
            <a:off x="2324582" y="6352434"/>
            <a:ext cx="452151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225683675" name=""/>
          <p:cNvSpPr txBox="1"/>
          <p:nvPr/>
        </p:nvSpPr>
        <p:spPr bwMode="auto">
          <a:xfrm rot="0" flipH="0" flipV="0">
            <a:off x="2324582" y="6622077"/>
            <a:ext cx="452151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1500900397" name=""/>
          <p:cNvSpPr txBox="1"/>
          <p:nvPr/>
        </p:nvSpPr>
        <p:spPr bwMode="auto">
          <a:xfrm rot="0" flipH="0" flipV="0">
            <a:off x="2324582" y="6901523"/>
            <a:ext cx="4521511" cy="38590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800" b="1">
                <a:solidFill>
                  <a:schemeClr val="bg1">
                    <a:lumMod val="65000"/>
                  </a:schemeClr>
                </a:solidFill>
                <a:latin typeface="Arial"/>
                <a:ea typeface="Arial"/>
                <a:cs typeface="Aria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1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sz="1400" b="1">
                <a:solidFill>
                  <a:schemeClr val="bg1">
                    <a:lumMod val="65000"/>
                  </a:schemeClr>
                </a:solidFil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lang="fr-FR" sz="1800" b="1" i="0" u="none" strike="noStrike" cap="none" spc="0">
                <a:solidFill>
                  <a:schemeClr val="bg1">
                    <a:lumMod val="65000"/>
                  </a:schemeClr>
                </a:solidFill>
                <a:latin typeface="Arial"/>
                <a:ea typeface="Arial"/>
                <a:cs typeface="Arial"/>
              </a:rPr>
              <a:t>▢</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 </a:t>
            </a:r>
            <a:r>
              <a:rPr sz="1800" b="1">
                <a:solidFill>
                  <a:schemeClr val="bg1">
                    <a:lumMod val="65000"/>
                  </a:schemeClr>
                </a:solidFill>
              </a:rPr>
              <a:t>  </a:t>
            </a:r>
            <a:r>
              <a:rPr lang="fr-FR" sz="1800" b="1" i="0" u="none" strike="noStrike" cap="none" spc="0">
                <a:solidFill>
                  <a:schemeClr val="bg1">
                    <a:lumMod val="65000"/>
                  </a:schemeClr>
                </a:solidFill>
                <a:latin typeface="Arial"/>
                <a:ea typeface="Arial"/>
                <a:cs typeface="Arial"/>
              </a:rPr>
              <a:t>▢</a:t>
            </a:r>
            <a:endParaRPr sz="2200" b="1">
              <a:solidFill>
                <a:schemeClr val="bg1">
                  <a:lumMod val="65000"/>
                </a:schemeClr>
              </a:solidFill>
            </a:endParaRPr>
          </a:p>
        </p:txBody>
      </p:sp>
      <p:sp>
        <p:nvSpPr>
          <p:cNvPr id="729716787" name=""/>
          <p:cNvSpPr txBox="1"/>
          <p:nvPr/>
        </p:nvSpPr>
        <p:spPr bwMode="auto">
          <a:xfrm rot="0" flipH="0" flipV="0">
            <a:off x="58493" y="7297016"/>
            <a:ext cx="6787234" cy="8291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800" b="0" i="0" u="none" strike="noStrike" cap="none" spc="0">
                <a:solidFill>
                  <a:srgbClr val="808080"/>
                </a:solidFill>
                <a:latin typeface="Arial"/>
                <a:ea typeface="Arial"/>
                <a:cs typeface="Arial"/>
              </a:rPr>
              <a:t>Lorsque vous développez une relation, choisissez une activité. </a:t>
            </a:r>
            <a:r>
              <a:rPr lang="fr-FR" sz="800" b="1" i="0" u="none" strike="noStrike" cap="none" spc="0">
                <a:solidFill>
                  <a:srgbClr val="808080"/>
                </a:solidFill>
                <a:latin typeface="Arial"/>
                <a:ea typeface="Arial"/>
                <a:cs typeface="Arial"/>
              </a:rPr>
              <a:t>Évaluer la relation</a:t>
            </a:r>
            <a:r>
              <a:rPr lang="fr-FR" sz="800" b="0" i="0" u="none" strike="noStrike" cap="none" spc="0">
                <a:solidFill>
                  <a:srgbClr val="808080"/>
                </a:solidFill>
                <a:latin typeface="Arial"/>
                <a:ea typeface="Arial"/>
                <a:cs typeface="Arial"/>
              </a:rPr>
              <a:t> permet de découvrir quelles sont les valeurs initiales des différents axes de relation. </a:t>
            </a:r>
            <a:r>
              <a:rPr lang="fr-FR" sz="800" b="1" i="0" u="none" strike="noStrike" cap="none" spc="0">
                <a:solidFill>
                  <a:srgbClr val="808080"/>
                </a:solidFill>
                <a:latin typeface="Arial"/>
                <a:ea typeface="Arial"/>
                <a:cs typeface="Arial"/>
              </a:rPr>
              <a:t>Traîner avec le personnage</a:t>
            </a:r>
            <a:r>
              <a:rPr lang="fr-FR" sz="800" b="0" i="0" u="none" strike="noStrike" cap="none" spc="0">
                <a:solidFill>
                  <a:srgbClr val="808080"/>
                </a:solidFill>
                <a:latin typeface="Arial"/>
                <a:ea typeface="Arial"/>
                <a:cs typeface="Arial"/>
              </a:rPr>
              <a:t> permet de faire monter d’un niveau la valeur d’amitié, s’il existe une affinité à ce niveau. </a:t>
            </a:r>
            <a:r>
              <a:rPr lang="fr-FR" sz="800" b="1" i="0" u="none" strike="noStrike" cap="none" spc="0">
                <a:solidFill>
                  <a:srgbClr val="808080"/>
                </a:solidFill>
                <a:latin typeface="Arial"/>
                <a:ea typeface="Arial"/>
                <a:cs typeface="Arial"/>
              </a:rPr>
              <a:t>Proposer un rencart au personnage</a:t>
            </a:r>
            <a:r>
              <a:rPr lang="fr-FR" sz="800" b="0" i="0" u="none" strike="noStrike" cap="none" spc="0">
                <a:solidFill>
                  <a:srgbClr val="808080"/>
                </a:solidFill>
                <a:latin typeface="Arial"/>
                <a:ea typeface="Arial"/>
                <a:cs typeface="Arial"/>
              </a:rPr>
              <a:t> permet de faire monter d’un niveau la valeur de désir, s’il existe une affinité à ce niveau. </a:t>
            </a:r>
            <a:r>
              <a:rPr lang="fr-FR" sz="800" b="1" i="0" u="none" strike="noStrike" cap="none" spc="0">
                <a:solidFill>
                  <a:srgbClr val="808080"/>
                </a:solidFill>
                <a:latin typeface="Arial"/>
                <a:ea typeface="Arial"/>
                <a:cs typeface="Arial"/>
              </a:rPr>
              <a:t>Partager son activité</a:t>
            </a:r>
            <a:r>
              <a:rPr lang="fr-FR" sz="800" b="0" i="0" u="none" strike="noStrike" cap="none" spc="0">
                <a:solidFill>
                  <a:srgbClr val="808080"/>
                </a:solidFill>
                <a:latin typeface="Arial"/>
                <a:ea typeface="Arial"/>
                <a:cs typeface="Arial"/>
              </a:rPr>
              <a:t> permet de faire monter d’un niveau la valeur d’admiration, s’il existe une affinité à ce niveau. </a:t>
            </a:r>
            <a:r>
              <a:rPr lang="fr-FR" sz="800" b="1" i="0" u="none" strike="noStrike" cap="none" spc="0">
                <a:solidFill>
                  <a:srgbClr val="808080"/>
                </a:solidFill>
                <a:latin typeface="Arial"/>
                <a:ea typeface="Arial"/>
                <a:cs typeface="Arial"/>
              </a:rPr>
              <a:t>Arrondir les angles avec le personnage</a:t>
            </a:r>
            <a:r>
              <a:rPr lang="fr-FR" sz="800" b="0" i="0" u="none" strike="noStrike" cap="none" spc="0">
                <a:solidFill>
                  <a:srgbClr val="808080"/>
                </a:solidFill>
                <a:latin typeface="Arial"/>
                <a:ea typeface="Arial"/>
                <a:cs typeface="Arial"/>
              </a:rPr>
              <a:t> permet de réduire la valeur d’hostilité, s’il existe une affinité en amitié. Si le personnage possède une affinité avec vous, cochez la case </a:t>
            </a:r>
            <a:r>
              <a:rPr lang="fr-FR" sz="800" b="1" i="0" u="none" strike="noStrike" cap="none" spc="0">
                <a:solidFill>
                  <a:schemeClr val="tx1">
                    <a:lumMod val="50000"/>
                    <a:lumOff val="50000"/>
                  </a:schemeClr>
                </a:solidFill>
                <a:latin typeface="Arial"/>
                <a:ea typeface="Arial"/>
                <a:cs typeface="Arial"/>
              </a:rPr>
              <a:t>☘</a:t>
            </a:r>
            <a:r>
              <a:rPr lang="fr-FR" sz="800" b="0" i="0" u="none" strike="noStrike" cap="none" spc="0">
                <a:solidFill>
                  <a:srgbClr val="808080"/>
                </a:solidFill>
                <a:latin typeface="Arial"/>
                <a:ea typeface="Arial"/>
                <a:cs typeface="Arial"/>
              </a:rPr>
              <a:t>. Si le personnage est hostile au lieu d’amical, cochez la case </a:t>
            </a:r>
            <a:r>
              <a:rPr lang="fr-FR" sz="800" b="1" i="0" u="none" strike="noStrike" cap="none" spc="0">
                <a:solidFill>
                  <a:schemeClr val="tx1">
                    <a:lumMod val="50000"/>
                    <a:lumOff val="50000"/>
                  </a:schemeClr>
                </a:solidFill>
                <a:latin typeface="Arial"/>
                <a:ea typeface="Arial"/>
                <a:cs typeface="Arial"/>
              </a:rPr>
              <a:t>☠</a:t>
            </a:r>
            <a:r>
              <a:rPr lang="fr-FR" sz="800" b="0" i="0" u="none" strike="noStrike" cap="none" spc="0">
                <a:solidFill>
                  <a:srgbClr val="808080"/>
                </a:solidFill>
                <a:latin typeface="Arial"/>
                <a:ea typeface="Arial"/>
                <a:cs typeface="Arial"/>
              </a:rPr>
              <a:t>.</a:t>
            </a:r>
            <a:endParaRPr/>
          </a:p>
        </p:txBody>
      </p:sp>
      <p:cxnSp>
        <p:nvCxnSpPr>
          <p:cNvPr id="792825506" name="Connecteur droit 806540798"/>
          <p:cNvCxnSpPr/>
          <p:nvPr/>
        </p:nvCxnSpPr>
        <p:spPr bwMode="auto">
          <a:xfrm flipV="1">
            <a:off x="2559" y="8270789"/>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59716188" name="ZoneTexte 406616703"/>
          <p:cNvSpPr txBox="1"/>
          <p:nvPr/>
        </p:nvSpPr>
        <p:spPr bwMode="auto">
          <a:xfrm flipH="0" flipV="0">
            <a:off x="47485" y="8087728"/>
            <a:ext cx="3374658"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Cadre familial</a:t>
            </a:r>
            <a:endParaRPr/>
          </a:p>
        </p:txBody>
      </p:sp>
      <p:sp>
        <p:nvSpPr>
          <p:cNvPr id="940976814" name="ZoneTexte 1302587497"/>
          <p:cNvSpPr txBox="1"/>
          <p:nvPr/>
        </p:nvSpPr>
        <p:spPr bwMode="auto">
          <a:xfrm flipH="0" flipV="0">
            <a:off x="45897" y="8391722"/>
            <a:ext cx="6861396"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Milieu et activité familiale : </a:t>
            </a:r>
            <a:r>
              <a:rPr lang="fr-FR" sz="1000" b="0" i="0" u="none" strike="noStrike" cap="none" spc="0">
                <a:solidFill>
                  <a:schemeClr val="bg2">
                    <a:lumMod val="90000"/>
                  </a:schemeClr>
                </a:solidFill>
                <a:latin typeface="Arial"/>
                <a:ea typeface="Arial"/>
                <a:cs typeface="Arial"/>
              </a:rPr>
              <a:t>________________________________________________________________________</a:t>
            </a:r>
            <a:br>
              <a:rPr sz="1000"/>
            </a:br>
            <a:r>
              <a:rPr sz="1000"/>
              <a:t>Frères et sœurs :</a:t>
            </a:r>
            <a:r>
              <a:rPr sz="1000">
                <a:solidFill>
                  <a:schemeClr val="bg2">
                    <a:lumMod val="90000"/>
                  </a:schemeClr>
                </a:solidFill>
              </a:rPr>
              <a:t> ________________________________________________________________________________</a:t>
            </a:r>
            <a:endParaRPr/>
          </a:p>
          <a:p>
            <a:pPr>
              <a:lnSpc>
                <a:spcPct val="150000"/>
              </a:lnSpc>
              <a:defRPr/>
            </a:pPr>
            <a:r>
              <a:rPr sz="1000"/>
              <a:t>Lien d’enfance</a:t>
            </a:r>
            <a:r>
              <a:rPr sz="1000"/>
              <a:t> : </a:t>
            </a:r>
            <a:r>
              <a:rPr sz="1000">
                <a:solidFill>
                  <a:schemeClr val="bg2">
                    <a:lumMod val="90000"/>
                  </a:schemeClr>
                </a:solidFill>
              </a:rPr>
              <a:t>________________________________________________________________________________</a:t>
            </a:r>
            <a:endParaRPr/>
          </a:p>
          <a:p>
            <a:pPr>
              <a:lnSpc>
                <a:spcPct val="150000"/>
              </a:lnSpc>
              <a:defRPr/>
            </a:pPr>
            <a:r>
              <a:rPr sz="1000"/>
              <a:t>Difficultés familiales </a:t>
            </a:r>
            <a:r>
              <a:rPr sz="1000"/>
              <a:t>: </a:t>
            </a:r>
            <a:r>
              <a:rPr sz="1000">
                <a:solidFill>
                  <a:schemeClr val="bg2">
                    <a:lumMod val="90000"/>
                  </a:schemeClr>
                </a:solidFill>
              </a:rPr>
              <a:t>____________________________________________________________________________</a:t>
            </a:r>
            <a:r>
              <a:rPr lang="fr-FR" sz="1000" b="0" i="0" u="none" strike="noStrike" cap="none" spc="0">
                <a:solidFill>
                  <a:schemeClr val="tx1"/>
                </a:solidFill>
                <a:latin typeface="Arial"/>
                <a:ea typeface="Arial"/>
                <a:cs typeface="Arial"/>
              </a:rPr>
              <a:t>	</a:t>
            </a:r>
            <a:endParaRPr/>
          </a:p>
          <a:p>
            <a:pPr>
              <a:lnSpc>
                <a:spcPct val="150000"/>
              </a:lnSpc>
              <a:defRPr/>
            </a:pPr>
            <a:r>
              <a:rPr lang="fr-FR" sz="1000" b="0" i="0" u="none" strike="noStrike" cap="none" spc="0">
                <a:latin typeface="Arial"/>
                <a:ea typeface="Arial"/>
                <a:cs typeface="Arial"/>
              </a:rPr>
              <a:t>Lien de préadolescence:</a:t>
            </a:r>
            <a:r>
              <a:rPr sz="1000"/>
              <a:t> </a:t>
            </a:r>
            <a:r>
              <a:rPr sz="1000">
                <a:solidFill>
                  <a:schemeClr val="bg2">
                    <a:lumMod val="90000"/>
                  </a:schemeClr>
                </a:solidFill>
              </a:rPr>
              <a:t>_________________________________________________________________________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Arial"/>
                <a:ea typeface="Arial"/>
                <a:cs typeface="Arial"/>
              </a:rPr>
              <a:t>Difficultés personnelles : </a:t>
            </a:r>
            <a:r>
              <a:rPr sz="1000">
                <a:solidFill>
                  <a:schemeClr val="bg2">
                    <a:lumMod val="90000"/>
                  </a:schemeClr>
                </a:solidFill>
              </a:rPr>
              <a:t>_________________________________________________________________________</a:t>
            </a:r>
            <a:endParaRPr>
              <a:solidFill>
                <a:schemeClr val="bg2">
                  <a:lumMod val="90000"/>
                </a:schemeClr>
              </a:solidFill>
            </a:endParaRPr>
          </a:p>
        </p:txBody>
      </p:sp>
      <p:sp>
        <p:nvSpPr>
          <p:cNvPr id="225034591" name="Rectangle 38344096"/>
          <p:cNvSpPr/>
          <p:nvPr/>
        </p:nvSpPr>
        <p:spPr bwMode="auto">
          <a:xfrm flipH="0" flipV="0">
            <a:off x="6695377" y="8321298"/>
            <a:ext cx="151434" cy="1474463"/>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687003998" name="Connecteur droit 266926011"/>
          <p:cNvCxnSpPr/>
          <p:nvPr/>
        </p:nvCxnSpPr>
        <p:spPr bwMode="auto">
          <a:xfrm flipV="1">
            <a:off x="-56174" y="361949"/>
            <a:ext cx="6924674"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135316110" name="ZoneTexte 1043763612"/>
          <p:cNvSpPr txBox="1"/>
          <p:nvPr/>
        </p:nvSpPr>
        <p:spPr bwMode="auto">
          <a:xfrm>
            <a:off x="973" y="178888"/>
            <a:ext cx="4769008"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Malédiction du Loup-Garou</a:t>
            </a:r>
            <a:endParaRPr/>
          </a:p>
        </p:txBody>
      </p:sp>
      <p:cxnSp>
        <p:nvCxnSpPr>
          <p:cNvPr id="1777229489" name="Connecteur droit 1586327141"/>
          <p:cNvCxnSpPr/>
          <p:nvPr/>
        </p:nvCxnSpPr>
        <p:spPr bwMode="auto">
          <a:xfrm flipV="1">
            <a:off x="-56171" y="1965321"/>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63254461" name="ZoneTexte 1691387439"/>
          <p:cNvSpPr txBox="1"/>
          <p:nvPr/>
        </p:nvSpPr>
        <p:spPr bwMode="auto">
          <a:xfrm>
            <a:off x="-56170" y="1782258"/>
            <a:ext cx="478340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Formes du Loup-Garou</a:t>
            </a:r>
            <a:endParaRPr/>
          </a:p>
        </p:txBody>
      </p:sp>
      <p:cxnSp>
        <p:nvCxnSpPr>
          <p:cNvPr id="1354272902" name="Connecteur droit 1743707585"/>
          <p:cNvCxnSpPr/>
          <p:nvPr/>
        </p:nvCxnSpPr>
        <p:spPr bwMode="auto">
          <a:xfrm flipV="1">
            <a:off x="3252187" y="5613636"/>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37530075" name="ZoneTexte 1503300725"/>
          <p:cNvSpPr txBox="1"/>
          <p:nvPr/>
        </p:nvSpPr>
        <p:spPr bwMode="auto">
          <a:xfrm>
            <a:off x="3274362" y="5818861"/>
            <a:ext cx="191588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vous sentez agressé, frustré ou qu'un danger immédiat menace.</a:t>
            </a:r>
            <a:endParaRPr sz="800">
              <a:solidFill>
                <a:schemeClr val="tx1">
                  <a:lumMod val="50000"/>
                  <a:lumOff val="50000"/>
                </a:schemeClr>
              </a:solidFill>
            </a:endParaRPr>
          </a:p>
        </p:txBody>
      </p:sp>
      <p:sp>
        <p:nvSpPr>
          <p:cNvPr id="1827205338" name="Rectangle : avec coins arrondis en haut 1151560973"/>
          <p:cNvSpPr/>
          <p:nvPr/>
        </p:nvSpPr>
        <p:spPr bwMode="auto">
          <a:xfrm rot="5399976">
            <a:off x="5128596" y="5939057"/>
            <a:ext cx="520475"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0384524" name="Flèche : pentagone 1610574377"/>
          <p:cNvSpPr/>
          <p:nvPr/>
        </p:nvSpPr>
        <p:spPr bwMode="auto">
          <a:xfrm>
            <a:off x="5746267"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76365052" name="Flèche : pentagone 463861063"/>
          <p:cNvSpPr/>
          <p:nvPr/>
        </p:nvSpPr>
        <p:spPr bwMode="auto">
          <a:xfrm>
            <a:off x="5935043"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04393537" name="Flèche : pentagone 272004907"/>
          <p:cNvSpPr/>
          <p:nvPr/>
        </p:nvSpPr>
        <p:spPr bwMode="auto">
          <a:xfrm>
            <a:off x="6123825"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62874014" name="Flèche : pentagone 28174069"/>
          <p:cNvSpPr/>
          <p:nvPr/>
        </p:nvSpPr>
        <p:spPr bwMode="auto">
          <a:xfrm>
            <a:off x="6312600"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32941230" name="Flèche : pentagone 978127220"/>
          <p:cNvSpPr/>
          <p:nvPr/>
        </p:nvSpPr>
        <p:spPr bwMode="auto">
          <a:xfrm>
            <a:off x="6501375"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60072083" name="ZoneTexte 1693594013"/>
          <p:cNvSpPr txBox="1"/>
          <p:nvPr/>
        </p:nvSpPr>
        <p:spPr bwMode="auto">
          <a:xfrm flipH="0" flipV="0">
            <a:off x="3252185" y="6489749"/>
            <a:ext cx="3594425" cy="32617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faim cochée entraîne un</a:t>
            </a:r>
            <a:r>
              <a:rPr sz="800" b="1">
                <a:solidFill>
                  <a:schemeClr val="tx1">
                    <a:lumMod val="50000"/>
                    <a:lumOff val="50000"/>
                  </a:schemeClr>
                </a:solidFill>
              </a:rPr>
              <a:t> malus de -10 à la maîtrise de soi</a:t>
            </a:r>
            <a:r>
              <a:rPr sz="800">
                <a:solidFill>
                  <a:schemeClr val="tx1">
                    <a:lumMod val="50000"/>
                    <a:lumOff val="50000"/>
                  </a:schemeClr>
                </a:solidFill>
              </a:rPr>
              <a:t>.</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mn-lt"/>
                <a:ea typeface="+mn-ea"/>
                <a:cs typeface="+mn-cs"/>
              </a:rPr>
              <a:t>Après une épreuve de maîtrise de soi échouée, cochez une case de faim.</a:t>
            </a:r>
            <a:r>
              <a:rPr lang="fr-FR" sz="800" b="0" i="0" u="none" strike="noStrike" cap="none" spc="0">
                <a:solidFill>
                  <a:schemeClr val="tx1">
                    <a:lumMod val="50000"/>
                    <a:lumOff val="50000"/>
                  </a:schemeClr>
                </a:solidFill>
                <a:latin typeface="+mn-lt"/>
                <a:ea typeface="+mn-ea"/>
                <a:cs typeface="+mn-cs"/>
              </a:rPr>
              <a:t> Si vous réussissez un choc de maîtrise de soi, cochez une case de faim. Si vous échouez à un choc de maîtrise de soi, cochez une case de rage. </a:t>
            </a:r>
            <a:r>
              <a:rPr lang="fr-FR" sz="800" b="0" i="0" u="none" strike="noStrike" cap="none" spc="0">
                <a:solidFill>
                  <a:schemeClr val="tx1">
                    <a:lumMod val="50000"/>
                    <a:lumOff val="50000"/>
                  </a:schemeClr>
                </a:solidFill>
                <a:latin typeface="Arial"/>
                <a:ea typeface="Arial"/>
                <a:cs typeface="Arial"/>
              </a:rPr>
              <a:t>Vous pouvez diminuer votre faim en vous laissant aller à celle-ci au cours d’une scène.</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la première case de rage, le garou vous submerge et vous force à réagir avec excès</a:t>
            </a:r>
            <a:r>
              <a:rPr sz="800">
                <a:solidFill>
                  <a:schemeClr val="tx1">
                    <a:lumMod val="50000"/>
                    <a:lumOff val="50000"/>
                  </a:schemeClr>
                </a:solidFill>
              </a:rPr>
              <a:t>.</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La seconde case de rage cochée vous oblige à vos transformer en forme hybride et vous perdez le contrôle de vous pour une scène et </a:t>
            </a:r>
            <a:r>
              <a:rPr sz="800" b="1">
                <a:solidFill>
                  <a:schemeClr val="tx1">
                    <a:lumMod val="50000"/>
                    <a:lumOff val="50000"/>
                  </a:schemeClr>
                </a:solidFill>
              </a:rPr>
              <a:t>perdez 1d6 points en maîtrise de soi</a:t>
            </a:r>
            <a:r>
              <a:rPr sz="800">
                <a:solidFill>
                  <a:schemeClr val="tx1">
                    <a:lumMod val="50000"/>
                    <a:lumOff val="50000"/>
                  </a:schemeClr>
                </a:solidFill>
              </a:rPr>
              <a:t>.</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Lorsque vous cochez la troisième case de rage, votre personnage passe en forme bestiale et vous en perdez complètement le contrôle. Le personnage devient PNJ tant qu’il n’a pas été ramené du bon côté. Vous </a:t>
            </a:r>
            <a:r>
              <a:rPr sz="800" b="1">
                <a:solidFill>
                  <a:schemeClr val="tx1">
                    <a:lumMod val="50000"/>
                    <a:lumOff val="50000"/>
                  </a:schemeClr>
                </a:solidFill>
              </a:rPr>
              <a:t>perdez 2d6 en maîtrise de soi</a:t>
            </a:r>
            <a:r>
              <a:rPr sz="800">
                <a:solidFill>
                  <a:schemeClr val="tx1">
                    <a:lumMod val="50000"/>
                    <a:lumOff val="50000"/>
                  </a:schemeClr>
                </a:solidFill>
              </a:rPr>
              <a:t>.</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la pleine lune apparaît dans le ciel pour la première fois durant la nuit, si votre maîtrise de soi est </a:t>
            </a:r>
            <a:r>
              <a:rPr sz="800" b="1">
                <a:solidFill>
                  <a:schemeClr val="tx1">
                    <a:lumMod val="50000"/>
                    <a:lumOff val="50000"/>
                  </a:schemeClr>
                </a:solidFill>
              </a:rPr>
              <a:t>inférieure à 65</a:t>
            </a:r>
            <a:r>
              <a:rPr sz="800">
                <a:solidFill>
                  <a:schemeClr val="tx1">
                    <a:lumMod val="50000"/>
                    <a:lumOff val="50000"/>
                  </a:schemeClr>
                </a:solidFill>
              </a:rPr>
              <a:t>, vous devez la tester. Si vous échouez, vous vous transformez en forme bestiale pour la scène. Si vous réussissez, cochez la première case de rage si elle ne l’était pas.</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Tant que vous n’avez pas coché les 3 cases de rage, vous effacez une case de rage à chaque nouveau scénario.</a:t>
            </a:r>
            <a:endParaRPr/>
          </a:p>
        </p:txBody>
      </p:sp>
      <p:sp>
        <p:nvSpPr>
          <p:cNvPr id="493289205" name="ZoneTexte 1975797288"/>
          <p:cNvSpPr txBox="1"/>
          <p:nvPr/>
        </p:nvSpPr>
        <p:spPr bwMode="auto">
          <a:xfrm>
            <a:off x="3296619" y="5446451"/>
            <a:ext cx="22746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Faim &amp; Rage</a:t>
            </a:r>
            <a:endParaRPr/>
          </a:p>
        </p:txBody>
      </p:sp>
      <p:sp>
        <p:nvSpPr>
          <p:cNvPr id="689353438" name="ZoneTexte 2064865984"/>
          <p:cNvSpPr txBox="1"/>
          <p:nvPr/>
        </p:nvSpPr>
        <p:spPr bwMode="auto">
          <a:xfrm flipH="0" flipV="0">
            <a:off x="972" y="2873682"/>
            <a:ext cx="2006189" cy="19815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Humaine</a:t>
            </a:r>
            <a:endParaRPr/>
          </a:p>
          <a:p>
            <a:pPr>
              <a:defRPr/>
            </a:pPr>
            <a:r>
              <a:rPr lang="fr-FR" sz="800" b="0" i="0" u="none" strike="noStrike" cap="none" spc="0">
                <a:solidFill>
                  <a:schemeClr val="tx1">
                    <a:lumMod val="50000"/>
                    <a:lumOff val="50000"/>
                  </a:schemeClr>
                </a:solidFill>
                <a:latin typeface="Arial"/>
                <a:ea typeface="Arial"/>
                <a:cs typeface="Arial"/>
              </a:rPr>
              <a:t>Peu après votre première morsure, les compétences suivantes augmentent : </a:t>
            </a:r>
            <a:r>
              <a:rPr lang="fr-FR" sz="800" b="1" i="0" u="none" strike="noStrike" cap="none" spc="0">
                <a:solidFill>
                  <a:schemeClr val="tx1">
                    <a:lumMod val="50000"/>
                    <a:lumOff val="50000"/>
                  </a:schemeClr>
                </a:solidFill>
                <a:latin typeface="Arial"/>
                <a:ea typeface="Arial"/>
                <a:cs typeface="Arial"/>
              </a:rPr>
              <a:t>+5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combat</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bagou</a:t>
            </a:r>
            <a:r>
              <a:rPr lang="fr-FR" sz="800" b="0" i="0" u="none" strike="noStrike" cap="none" spc="0">
                <a:solidFill>
                  <a:schemeClr val="tx1">
                    <a:lumMod val="50000"/>
                    <a:lumOff val="50000"/>
                  </a:schemeClr>
                </a:solidFill>
                <a:latin typeface="Arial"/>
                <a:ea typeface="Arial"/>
                <a:cs typeface="Arial"/>
              </a:rPr>
              <a:t>. Vous obtenez également un bonus de </a:t>
            </a:r>
            <a:r>
              <a:rPr lang="fr-FR" sz="800" b="1" i="0" u="none" strike="noStrike" cap="none" spc="0">
                <a:solidFill>
                  <a:schemeClr val="tx1">
                    <a:lumMod val="50000"/>
                    <a:lumOff val="50000"/>
                  </a:schemeClr>
                </a:solidFill>
                <a:latin typeface="Arial"/>
                <a:ea typeface="Arial"/>
                <a:cs typeface="Arial"/>
              </a:rPr>
              <a:t>+5 à la résistance physique</a:t>
            </a:r>
            <a:r>
              <a:rPr lang="fr-FR" sz="800" b="0" i="0" u="none" strike="noStrike" cap="none" spc="0">
                <a:solidFill>
                  <a:schemeClr val="tx1">
                    <a:lumMod val="50000"/>
                    <a:lumOff val="50000"/>
                  </a:schemeClr>
                </a:solidFill>
                <a:latin typeface="Arial"/>
                <a:ea typeface="Arial"/>
                <a:cs typeface="Arial"/>
              </a:rPr>
              <a:t>. Ces bonus en compétences ne sont pas des modificateurs et font maintenant partie de vos valeurs de base.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Votre corps est maintenant capable de régénérer lentement de ses blessures : vous récupérez </a:t>
            </a:r>
            <a:r>
              <a:rPr lang="fr-FR" sz="800" b="1" i="0" u="none" strike="noStrike" cap="none" spc="0">
                <a:solidFill>
                  <a:schemeClr val="tx1">
                    <a:lumMod val="50000"/>
                    <a:lumOff val="50000"/>
                  </a:schemeClr>
                </a:solidFill>
                <a:latin typeface="Arial"/>
                <a:ea typeface="Arial"/>
                <a:cs typeface="Arial"/>
              </a:rPr>
              <a:t>un de vos stress physiques</a:t>
            </a:r>
            <a:r>
              <a:rPr lang="fr-FR" sz="800" b="0" i="0" u="none" strike="noStrike" cap="none" spc="0">
                <a:solidFill>
                  <a:schemeClr val="tx1">
                    <a:lumMod val="50000"/>
                    <a:lumOff val="50000"/>
                  </a:schemeClr>
                </a:solidFill>
                <a:latin typeface="Arial"/>
                <a:ea typeface="Arial"/>
                <a:cs typeface="Arial"/>
              </a:rPr>
              <a:t> à la fin de chaque scène.</a:t>
            </a:r>
            <a:endParaRPr/>
          </a:p>
        </p:txBody>
      </p:sp>
      <p:sp>
        <p:nvSpPr>
          <p:cNvPr id="696247600" name="ZoneTexte 1387173154"/>
          <p:cNvSpPr txBox="1"/>
          <p:nvPr/>
        </p:nvSpPr>
        <p:spPr bwMode="auto">
          <a:xfrm>
            <a:off x="1933038" y="2883555"/>
            <a:ext cx="2323221" cy="24692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a:t>
            </a:r>
            <a:r>
              <a:rPr sz="1200"/>
              <a:t>Hybride</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hybride, votre musculature devient plus imposante, vos traits empruntent ceux du loup et une aura intimidante de prédateur se dégage de vous. Votre voix est également plus rauque mais votre diction reste suffisamment fluide pour que vous puissiez vous faire comprendre.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+10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+20 en combat</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+10 à votre résistance physique</a:t>
            </a:r>
            <a:r>
              <a:rPr lang="fr-FR" sz="800" b="0" i="0" u="none" strike="noStrike" cap="none" spc="0">
                <a:solidFill>
                  <a:schemeClr val="tx1">
                    <a:lumMod val="50000"/>
                    <a:lumOff val="50000"/>
                  </a:schemeClr>
                </a:solidFill>
                <a:latin typeface="Arial"/>
                <a:ea typeface="Arial"/>
                <a:cs typeface="Arial"/>
              </a:rPr>
              <a:t> et vos griffes provoquent des </a:t>
            </a:r>
            <a:r>
              <a:rPr lang="fr-FR" sz="800" b="1" i="0" u="none" strike="noStrike" cap="none" spc="0">
                <a:solidFill>
                  <a:schemeClr val="tx1">
                    <a:lumMod val="50000"/>
                    <a:lumOff val="50000"/>
                  </a:schemeClr>
                </a:solidFill>
                <a:latin typeface="Arial"/>
                <a:ea typeface="Arial"/>
                <a:cs typeface="Arial"/>
              </a:rPr>
              <a:t>dégâts de +10</a:t>
            </a:r>
            <a:r>
              <a:rPr lang="fr-FR" sz="800" b="0" i="0" u="none" strike="noStrike" cap="none" spc="0">
                <a:solidFill>
                  <a:schemeClr val="tx1">
                    <a:lumMod val="50000"/>
                    <a:lumOff val="50000"/>
                  </a:schemeClr>
                </a:solidFill>
                <a:latin typeface="Arial"/>
                <a:ea typeface="Arial"/>
                <a:cs typeface="Arial"/>
              </a:rPr>
              <a:t>. Vous récupérez </a:t>
            </a:r>
            <a:r>
              <a:rPr lang="fr-FR" sz="800" b="1" i="0" u="none" strike="noStrike" cap="none" spc="0">
                <a:solidFill>
                  <a:schemeClr val="tx1">
                    <a:lumMod val="50000"/>
                    <a:lumOff val="50000"/>
                  </a:schemeClr>
                </a:solidFill>
                <a:latin typeface="Arial"/>
                <a:ea typeface="Arial"/>
                <a:cs typeface="Arial"/>
              </a:rPr>
              <a:t>tout votre stress physique</a:t>
            </a:r>
            <a:r>
              <a:rPr lang="fr-FR" sz="800" b="0" i="0" u="none" strike="noStrike" cap="none" spc="0">
                <a:solidFill>
                  <a:schemeClr val="tx1">
                    <a:lumMod val="50000"/>
                    <a:lumOff val="50000"/>
                  </a:schemeClr>
                </a:solidFill>
                <a:latin typeface="Arial"/>
                <a:ea typeface="Arial"/>
                <a:cs typeface="Arial"/>
              </a:rPr>
              <a:t> à la fin d’une scène </a:t>
            </a:r>
            <a:r>
              <a:rPr lang="fr-FR" sz="800" b="0" i="0" u="none" strike="noStrike" cap="none" spc="0">
                <a:solidFill>
                  <a:schemeClr val="tx1">
                    <a:lumMod val="50000"/>
                    <a:lumOff val="50000"/>
                  </a:schemeClr>
                </a:solidFill>
                <a:latin typeface="Arial"/>
                <a:ea typeface="Arial"/>
                <a:cs typeface="Arial"/>
              </a:rPr>
              <a:t>et pouvez </a:t>
            </a:r>
            <a:r>
              <a:rPr lang="fr-FR" sz="800" b="1" i="0" u="none" strike="noStrike" cap="none" spc="0">
                <a:solidFill>
                  <a:schemeClr val="tx1">
                    <a:lumMod val="50000"/>
                    <a:lumOff val="50000"/>
                  </a:schemeClr>
                </a:solidFill>
                <a:latin typeface="Arial"/>
                <a:ea typeface="Arial"/>
                <a:cs typeface="Arial"/>
              </a:rPr>
              <a:t>vous relever</a:t>
            </a:r>
            <a:r>
              <a:rPr lang="fr-FR" sz="800" b="0" i="0" u="none" strike="noStrike" cap="none" spc="0">
                <a:solidFill>
                  <a:schemeClr val="tx1">
                    <a:lumMod val="50000"/>
                    <a:lumOff val="50000"/>
                  </a:schemeClr>
                </a:solidFill>
                <a:latin typeface="Arial"/>
                <a:ea typeface="Arial"/>
                <a:cs typeface="Arial"/>
              </a:rPr>
              <a:t> une fois durant une scène si vous aviez été mis hors-combat en cochant une case de rage.</a:t>
            </a:r>
            <a:r>
              <a:rPr lang="fr-FR" sz="800" b="0" i="0" u="none" strike="noStrike" cap="none" spc="0">
                <a:solidFill>
                  <a:schemeClr val="tx1">
                    <a:lumMod val="50000"/>
                    <a:lumOff val="50000"/>
                  </a:schemeClr>
                </a:solidFill>
                <a:latin typeface="Arial"/>
                <a:ea typeface="Arial"/>
                <a:cs typeface="Arial"/>
              </a:rPr>
              <a:t> </a:t>
            </a:r>
            <a:endParaRPr lang="fr-FR" sz="800" b="0" i="0" u="none" strike="noStrike" cap="none" spc="0">
              <a:solidFill>
                <a:schemeClr val="tx1">
                  <a:lumMod val="50000"/>
                  <a:lumOff val="50000"/>
                </a:schemeClr>
              </a:solidFill>
              <a:latin typeface="Arial"/>
              <a:cs typeface="Arial"/>
            </a:endParaRPr>
          </a:p>
        </p:txBody>
      </p:sp>
      <p:sp>
        <p:nvSpPr>
          <p:cNvPr id="606330411" name="ZoneTexte 523755832"/>
          <p:cNvSpPr txBox="1"/>
          <p:nvPr/>
        </p:nvSpPr>
        <p:spPr bwMode="auto">
          <a:xfrm flipH="0" flipV="0">
            <a:off x="4180722" y="2883555"/>
            <a:ext cx="2719206" cy="2591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 Bestiale</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bestiale, vous n’avez plus aucune maîtrise de vous-même et prenez l’apparence des créatures de terreur des légendes pour la durée d’une scène. Vous devez attaquer tout ce qui représente un danger pour vous ou fuir la civilisation dès que le danger est écarté.</a:t>
            </a:r>
            <a:r>
              <a:rPr lang="fr-FR" sz="800" b="0" i="0" u="none" strike="noStrike" cap="none" spc="0">
                <a:solidFill>
                  <a:schemeClr val="tx1">
                    <a:lumMod val="50000"/>
                    <a:lumOff val="50000"/>
                  </a:schemeClr>
                </a:solidFill>
                <a:latin typeface="Arial"/>
                <a:cs typeface="Arial"/>
              </a:rPr>
              <a:t> Vous pouvez prendre volontairement cette forme en cochant une case de rage.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Tant que vous êtes sous cette forme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+20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+50 en combat</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+10 en vigilance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+20 en résistance physique</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 </a:t>
            </a:r>
            <a:r>
              <a:rPr lang="fr-FR" sz="800" b="0" i="0" u="none" strike="noStrike" cap="none" spc="0">
                <a:solidFill>
                  <a:schemeClr val="tx1">
                    <a:lumMod val="50000"/>
                    <a:lumOff val="50000"/>
                  </a:schemeClr>
                </a:solidFill>
                <a:latin typeface="Arial"/>
                <a:ea typeface="Arial"/>
                <a:cs typeface="Arial"/>
              </a:rPr>
              <a:t>et pouvez </a:t>
            </a:r>
            <a:r>
              <a:rPr lang="fr-FR" sz="800" b="1" i="0" u="none" strike="noStrike" cap="none" spc="0">
                <a:solidFill>
                  <a:schemeClr val="tx1">
                    <a:lumMod val="50000"/>
                    <a:lumOff val="50000"/>
                  </a:schemeClr>
                </a:solidFill>
                <a:latin typeface="Arial"/>
                <a:ea typeface="Arial"/>
                <a:cs typeface="Arial"/>
              </a:rPr>
              <a:t>vous relever</a:t>
            </a:r>
            <a:r>
              <a:rPr lang="fr-FR" sz="800" b="0" i="0" u="none" strike="noStrike" cap="none" spc="0">
                <a:solidFill>
                  <a:schemeClr val="tx1">
                    <a:lumMod val="50000"/>
                    <a:lumOff val="50000"/>
                  </a:schemeClr>
                </a:solidFill>
                <a:latin typeface="Arial"/>
                <a:ea typeface="Arial"/>
                <a:cs typeface="Arial"/>
              </a:rPr>
              <a:t> une fois durant une scène si vous aviez été mis hors-combat en cochant</a:t>
            </a:r>
            <a:r>
              <a:rPr lang="fr-FR" sz="800" b="0" i="0" u="none" strike="noStrike" cap="none" spc="0">
                <a:solidFill>
                  <a:schemeClr val="tx1">
                    <a:lumMod val="50000"/>
                    <a:lumOff val="50000"/>
                  </a:schemeClr>
                </a:solidFill>
                <a:latin typeface="Arial"/>
                <a:ea typeface="Arial"/>
                <a:cs typeface="Arial"/>
              </a:rPr>
              <a:t> une case de rage</a:t>
            </a:r>
            <a:r>
              <a:rPr lang="fr-FR" sz="800" b="0" i="0" u="none" strike="noStrike" cap="none" spc="0">
                <a:solidFill>
                  <a:schemeClr val="tx1">
                    <a:lumMod val="50000"/>
                    <a:lumOff val="50000"/>
                  </a:schemeClr>
                </a:solidFill>
                <a:latin typeface="Arial"/>
                <a:ea typeface="Arial"/>
                <a:cs typeface="Arial"/>
              </a:rPr>
              <a:t>.</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V</a:t>
            </a:r>
            <a:r>
              <a:rPr lang="fr-FR" sz="800" b="0" i="0" u="none" strike="noStrike" cap="none" spc="0">
                <a:solidFill>
                  <a:schemeClr val="tx1">
                    <a:lumMod val="50000"/>
                    <a:lumOff val="50000"/>
                  </a:schemeClr>
                </a:solidFill>
                <a:latin typeface="Arial"/>
                <a:ea typeface="Arial"/>
                <a:cs typeface="Arial"/>
              </a:rPr>
              <a:t>os griffes et vos crocs deviennent des</a:t>
            </a:r>
            <a:r>
              <a:rPr lang="fr-FR" sz="800" b="0" i="0" u="none" strike="noStrike" cap="none" spc="0">
                <a:solidFill>
                  <a:schemeClr val="tx1">
                    <a:lumMod val="50000"/>
                    <a:lumOff val="50000"/>
                  </a:schemeClr>
                </a:solidFill>
                <a:latin typeface="Arial"/>
                <a:ea typeface="Arial"/>
                <a:cs typeface="Arial"/>
              </a:rPr>
              <a:t> armes létales</a:t>
            </a:r>
            <a:r>
              <a:rPr lang="fr-FR" sz="800" b="0" i="0" u="none" strike="noStrike" cap="none" spc="0">
                <a:solidFill>
                  <a:schemeClr val="tx1">
                    <a:lumMod val="50000"/>
                    <a:lumOff val="50000"/>
                  </a:schemeClr>
                </a:solidFill>
                <a:latin typeface="Arial"/>
                <a:ea typeface="Arial"/>
                <a:cs typeface="Arial"/>
              </a:rPr>
              <a:t> apportant un </a:t>
            </a:r>
            <a:r>
              <a:rPr lang="fr-FR" sz="800" b="1" i="0" u="none" strike="noStrike" cap="none" spc="0">
                <a:solidFill>
                  <a:schemeClr val="tx1">
                    <a:lumMod val="50000"/>
                    <a:lumOff val="50000"/>
                  </a:schemeClr>
                </a:solidFill>
                <a:latin typeface="Arial"/>
                <a:ea typeface="Arial"/>
                <a:cs typeface="Arial"/>
              </a:rPr>
              <a:t>bonus de +20 en dégâts</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cs typeface="Arial"/>
            </a:endParaRPr>
          </a:p>
        </p:txBody>
      </p:sp>
      <p:cxnSp>
        <p:nvCxnSpPr>
          <p:cNvPr id="1988246879" name="Connecteur droit 2085669542"/>
          <p:cNvCxnSpPr/>
          <p:nvPr/>
        </p:nvCxnSpPr>
        <p:spPr bwMode="auto">
          <a:xfrm flipV="1">
            <a:off x="-37125" y="5613638"/>
            <a:ext cx="2943224"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434430285" name="ZoneTexte 34398067"/>
          <p:cNvSpPr txBox="1"/>
          <p:nvPr/>
        </p:nvSpPr>
        <p:spPr bwMode="auto">
          <a:xfrm>
            <a:off x="-5859" y="5446450"/>
            <a:ext cx="284315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Les pouvoirs de la Bête</a:t>
            </a:r>
            <a:endParaRPr/>
          </a:p>
        </p:txBody>
      </p:sp>
      <p:sp>
        <p:nvSpPr>
          <p:cNvPr id="1911340615" name="ZoneTexte 273581705"/>
          <p:cNvSpPr txBox="1"/>
          <p:nvPr/>
        </p:nvSpPr>
        <p:spPr bwMode="auto">
          <a:xfrm>
            <a:off x="972" y="5871948"/>
            <a:ext cx="3033997" cy="37519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Les pouvoirs personnels sont à définir en concertation avec le MJ. Pour acquérir un nouveau pouvoir personnel, considérez que chaque pouvoir possédé occupe 40% des chances d’obtention. Un nouveau pouvoir débute avec un score de 50.</a:t>
            </a:r>
            <a:endParaRPr sz="600">
              <a:solidFill>
                <a:schemeClr val="tx1">
                  <a:lumMod val="50000"/>
                  <a:lumOff val="50000"/>
                </a:schemeClr>
              </a:solidFill>
            </a:endParaRPr>
          </a:p>
        </p:txBody>
      </p:sp>
      <p:sp>
        <p:nvSpPr>
          <p:cNvPr id="623220984" name="ZoneTexte 1727393832"/>
          <p:cNvSpPr txBox="1"/>
          <p:nvPr/>
        </p:nvSpPr>
        <p:spPr bwMode="auto">
          <a:xfrm>
            <a:off x="5884335" y="5676553"/>
            <a:ext cx="1080643" cy="335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600" b="1">
                <a:solidFill>
                  <a:schemeClr val="bg1">
                    <a:lumMod val="65000"/>
                  </a:schemeClr>
                </a:solidFill>
                <a:latin typeface="Arial"/>
                <a:ea typeface="Arial"/>
                <a:cs typeface="Arial"/>
              </a:rPr>
              <a:t>FAIM</a:t>
            </a:r>
            <a:endParaRPr/>
          </a:p>
        </p:txBody>
      </p:sp>
      <p:sp>
        <p:nvSpPr>
          <p:cNvPr id="420382653" name="ZoneTexte 504516740"/>
          <p:cNvSpPr txBox="1"/>
          <p:nvPr/>
        </p:nvSpPr>
        <p:spPr bwMode="auto">
          <a:xfrm>
            <a:off x="5877323" y="6242024"/>
            <a:ext cx="1082083"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RAGE</a:t>
            </a:r>
            <a:endParaRPr/>
          </a:p>
        </p:txBody>
      </p:sp>
      <p:sp>
        <p:nvSpPr>
          <p:cNvPr id="1063113486" name="ZoneTexte 1"/>
          <p:cNvSpPr txBox="1"/>
          <p:nvPr/>
        </p:nvSpPr>
        <p:spPr bwMode="auto">
          <a:xfrm flipH="0" flipV="0">
            <a:off x="3449954" y="531375"/>
            <a:ext cx="3422496" cy="14329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800" i="1">
                <a:solidFill>
                  <a:schemeClr val="tx1">
                    <a:lumMod val="50000"/>
                    <a:lumOff val="50000"/>
                  </a:schemeClr>
                </a:solidFill>
              </a:rPr>
              <a:t>Votre</a:t>
            </a:r>
            <a:r>
              <a:rPr lang="fr-FR" sz="800" i="1">
                <a:solidFill>
                  <a:schemeClr val="tx1">
                    <a:lumMod val="50000"/>
                    <a:lumOff val="50000"/>
                  </a:schemeClr>
                </a:solidFill>
              </a:rPr>
              <a:t> </a:t>
            </a:r>
            <a:r>
              <a:rPr lang="en-US" sz="800" i="1">
                <a:solidFill>
                  <a:schemeClr val="tx1">
                    <a:lumMod val="50000"/>
                    <a:lumOff val="50000"/>
                  </a:schemeClr>
                </a:solidFill>
              </a:rPr>
              <a:t>corps </a:t>
            </a:r>
            <a:r>
              <a:rPr lang="en-US" sz="800" i="1">
                <a:solidFill>
                  <a:schemeClr val="tx1">
                    <a:lumMod val="50000"/>
                    <a:lumOff val="50000"/>
                  </a:schemeClr>
                </a:solidFill>
              </a:rPr>
              <a:t>s’</a:t>
            </a:r>
            <a:r>
              <a:rPr lang="fr-FR" sz="800" i="1">
                <a:solidFill>
                  <a:schemeClr val="tx1">
                    <a:lumMod val="50000"/>
                    <a:lumOff val="50000"/>
                  </a:schemeClr>
                </a:solidFill>
              </a:rPr>
              <a:t>est</a:t>
            </a:r>
            <a:r>
              <a:rPr lang="fr-FR" sz="800" i="1">
                <a:solidFill>
                  <a:schemeClr val="tx1">
                    <a:lumMod val="50000"/>
                    <a:lumOff val="50000"/>
                  </a:schemeClr>
                </a:solidFill>
              </a:rPr>
              <a:t> </a:t>
            </a:r>
            <a:r>
              <a:rPr lang="fr-FR" sz="800" i="1">
                <a:solidFill>
                  <a:schemeClr val="tx1">
                    <a:lumMod val="50000"/>
                    <a:lumOff val="50000"/>
                  </a:schemeClr>
                </a:solidFill>
              </a:rPr>
              <a:t>renforcé</a:t>
            </a:r>
            <a:r>
              <a:rPr lang="fr-FR" sz="800" i="1">
                <a:solidFill>
                  <a:schemeClr val="tx1">
                    <a:lumMod val="50000"/>
                    <a:lumOff val="50000"/>
                  </a:schemeClr>
                </a:solidFill>
              </a:rPr>
              <a:t> </a:t>
            </a:r>
            <a:r>
              <a:rPr lang="fr-FR" sz="800" i="1">
                <a:solidFill>
                  <a:schemeClr val="tx1">
                    <a:lumMod val="50000"/>
                    <a:lumOff val="50000"/>
                  </a:schemeClr>
                </a:solidFill>
              </a:rPr>
              <a:t>et </a:t>
            </a:r>
            <a:r>
              <a:rPr lang="fr-FR" sz="800" i="1">
                <a:solidFill>
                  <a:schemeClr val="tx1">
                    <a:lumMod val="50000"/>
                    <a:lumOff val="50000"/>
                  </a:schemeClr>
                </a:solidFill>
              </a:rPr>
              <a:t>il </a:t>
            </a:r>
            <a:r>
              <a:rPr lang="fr-FR" sz="800" i="1">
                <a:solidFill>
                  <a:schemeClr val="tx1">
                    <a:lumMod val="50000"/>
                    <a:lumOff val="50000"/>
                  </a:schemeClr>
                </a:solidFill>
              </a:rPr>
              <a:t>guérit</a:t>
            </a:r>
            <a:r>
              <a:rPr lang="fr-FR" sz="800" i="1">
                <a:solidFill>
                  <a:schemeClr val="tx1">
                    <a:lumMod val="50000"/>
                    <a:lumOff val="50000"/>
                  </a:schemeClr>
                </a:solidFill>
              </a:rPr>
              <a:t> </a:t>
            </a:r>
            <a:r>
              <a:rPr lang="fr-FR" sz="800" i="1">
                <a:solidFill>
                  <a:schemeClr val="tx1">
                    <a:lumMod val="50000"/>
                    <a:lumOff val="50000"/>
                  </a:schemeClr>
                </a:solidFill>
              </a:rPr>
              <a:t>maintenant</a:t>
            </a:r>
            <a:r>
              <a:rPr lang="fr-FR" sz="800" i="1">
                <a:solidFill>
                  <a:schemeClr val="tx1">
                    <a:lumMod val="50000"/>
                    <a:lumOff val="50000"/>
                  </a:schemeClr>
                </a:solidFill>
              </a:rPr>
              <a:t> </a:t>
            </a:r>
            <a:r>
              <a:rPr lang="fr-FR" sz="800" i="1">
                <a:solidFill>
                  <a:schemeClr val="tx1">
                    <a:lumMod val="50000"/>
                    <a:lumOff val="50000"/>
                  </a:schemeClr>
                </a:solidFill>
              </a:rPr>
              <a:t>très </a:t>
            </a:r>
            <a:r>
              <a:rPr lang="fr-FR" sz="800" i="1">
                <a:solidFill>
                  <a:schemeClr val="tx1">
                    <a:lumMod val="50000"/>
                    <a:lumOff val="50000"/>
                  </a:schemeClr>
                </a:solidFill>
              </a:rPr>
              <a:t>vite</a:t>
            </a:r>
            <a:r>
              <a:rPr lang="fr-FR" sz="800" i="1">
                <a:solidFill>
                  <a:schemeClr val="tx1">
                    <a:lumMod val="50000"/>
                    <a:lumOff val="50000"/>
                  </a:schemeClr>
                </a:solidFill>
              </a:rPr>
              <a:t> </a:t>
            </a:r>
            <a:r>
              <a:rPr lang="fr-FR" sz="800" i="1">
                <a:solidFill>
                  <a:schemeClr val="tx1">
                    <a:lumMod val="50000"/>
                    <a:lumOff val="50000"/>
                  </a:schemeClr>
                </a:solidFill>
              </a:rPr>
              <a:t>de </a:t>
            </a:r>
            <a:r>
              <a:rPr lang="fr-FR" sz="800" i="1">
                <a:solidFill>
                  <a:schemeClr val="tx1">
                    <a:lumMod val="50000"/>
                    <a:lumOff val="50000"/>
                  </a:schemeClr>
                </a:solidFill>
              </a:rPr>
              <a:t>ses</a:t>
            </a:r>
            <a:r>
              <a:rPr lang="fr-FR" sz="800" i="1">
                <a:solidFill>
                  <a:schemeClr val="tx1">
                    <a:lumMod val="50000"/>
                    <a:lumOff val="50000"/>
                  </a:schemeClr>
                </a:solidFill>
              </a:rPr>
              <a:t> </a:t>
            </a:r>
            <a:r>
              <a:rPr lang="fr-FR" sz="800" i="1">
                <a:solidFill>
                  <a:schemeClr val="tx1">
                    <a:lumMod val="50000"/>
                    <a:lumOff val="50000"/>
                  </a:schemeClr>
                </a:solidFill>
              </a:rPr>
              <a:t>blessures</a:t>
            </a:r>
            <a:r>
              <a:rPr lang="fr-FR" sz="800" i="1">
                <a:solidFill>
                  <a:schemeClr val="tx1">
                    <a:lumMod val="50000"/>
                    <a:lumOff val="50000"/>
                  </a:schemeClr>
                </a:solidFill>
              </a:rPr>
              <a:t> </a:t>
            </a:r>
            <a:r>
              <a:rPr lang="en-US" sz="800" i="1">
                <a:solidFill>
                  <a:schemeClr val="tx1">
                    <a:lumMod val="50000"/>
                    <a:lumOff val="50000"/>
                  </a:schemeClr>
                </a:solidFill>
              </a:rPr>
              <a:t>; </a:t>
            </a:r>
            <a:r>
              <a:rPr lang="fr-FR" sz="800" i="1">
                <a:solidFill>
                  <a:schemeClr val="tx1">
                    <a:lumMod val="50000"/>
                    <a:lumOff val="50000"/>
                  </a:schemeClr>
                </a:solidFill>
              </a:rPr>
              <a:t>vos</a:t>
            </a:r>
            <a:r>
              <a:rPr lang="fr-FR" sz="800" i="1">
                <a:solidFill>
                  <a:schemeClr val="tx1">
                    <a:lumMod val="50000"/>
                    <a:lumOff val="50000"/>
                  </a:schemeClr>
                </a:solidFill>
              </a:rPr>
              <a:t> </a:t>
            </a:r>
            <a:r>
              <a:rPr lang="en-US" sz="800" i="1">
                <a:solidFill>
                  <a:schemeClr val="tx1">
                    <a:lumMod val="50000"/>
                    <a:lumOff val="50000"/>
                  </a:schemeClr>
                </a:solidFill>
              </a:rPr>
              <a:t>sens</a:t>
            </a:r>
            <a:r>
              <a:rPr lang="en-US" sz="800" i="1">
                <a:solidFill>
                  <a:schemeClr val="tx1">
                    <a:lumMod val="50000"/>
                    <a:lumOff val="50000"/>
                  </a:schemeClr>
                </a:solidFill>
              </a:rPr>
              <a:t> </a:t>
            </a:r>
            <a:r>
              <a:rPr lang="fr-FR" sz="800" i="1">
                <a:solidFill>
                  <a:schemeClr val="tx1">
                    <a:lumMod val="50000"/>
                    <a:lumOff val="50000"/>
                  </a:schemeClr>
                </a:solidFill>
              </a:rPr>
              <a:t>sont</a:t>
            </a:r>
            <a:r>
              <a:rPr lang="fr-FR" sz="800" i="1">
                <a:solidFill>
                  <a:schemeClr val="tx1">
                    <a:lumMod val="50000"/>
                    <a:lumOff val="50000"/>
                  </a:schemeClr>
                </a:solidFill>
              </a:rPr>
              <a:t> </a:t>
            </a:r>
            <a:r>
              <a:rPr lang="en-US" sz="800" i="1">
                <a:solidFill>
                  <a:schemeClr val="tx1">
                    <a:lumMod val="50000"/>
                    <a:lumOff val="50000"/>
                  </a:schemeClr>
                </a:solidFill>
              </a:rPr>
              <a:t>plus </a:t>
            </a:r>
            <a:r>
              <a:rPr lang="fr-FR" sz="800" i="1">
                <a:solidFill>
                  <a:schemeClr val="tx1">
                    <a:lumMod val="50000"/>
                    <a:lumOff val="50000"/>
                  </a:schemeClr>
                </a:solidFill>
              </a:rPr>
              <a:t>affûtés</a:t>
            </a:r>
            <a:r>
              <a:rPr lang="en-US" sz="800" i="1">
                <a:solidFill>
                  <a:schemeClr val="tx1">
                    <a:lumMod val="50000"/>
                    <a:lumOff val="50000"/>
                  </a:schemeClr>
                </a:solidFill>
              </a:rPr>
              <a:t>, </a:t>
            </a:r>
            <a:r>
              <a:rPr lang="fr-FR" sz="800" i="1">
                <a:solidFill>
                  <a:schemeClr val="tx1">
                    <a:lumMod val="50000"/>
                    <a:lumOff val="50000"/>
                  </a:schemeClr>
                </a:solidFill>
              </a:rPr>
              <a:t>surtout </a:t>
            </a:r>
            <a:r>
              <a:rPr lang="fr-FR" sz="800" i="1">
                <a:solidFill>
                  <a:schemeClr val="tx1">
                    <a:lumMod val="50000"/>
                    <a:lumOff val="50000"/>
                  </a:schemeClr>
                </a:solidFill>
              </a:rPr>
              <a:t>votre</a:t>
            </a:r>
            <a:r>
              <a:rPr lang="fr-FR" sz="800" i="1">
                <a:solidFill>
                  <a:schemeClr val="tx1">
                    <a:lumMod val="50000"/>
                    <a:lumOff val="50000"/>
                  </a:schemeClr>
                </a:solidFill>
              </a:rPr>
              <a:t> </a:t>
            </a:r>
            <a:r>
              <a:rPr lang="fr-FR" sz="800" i="1">
                <a:solidFill>
                  <a:schemeClr val="tx1">
                    <a:lumMod val="50000"/>
                    <a:lumOff val="50000"/>
                  </a:schemeClr>
                </a:solidFill>
              </a:rPr>
              <a:t>ouïe</a:t>
            </a:r>
            <a:r>
              <a:rPr lang="fr-FR" sz="800" i="1">
                <a:solidFill>
                  <a:schemeClr val="tx1">
                    <a:lumMod val="50000"/>
                    <a:lumOff val="50000"/>
                  </a:schemeClr>
                </a:solidFill>
              </a:rPr>
              <a:t> </a:t>
            </a:r>
            <a:r>
              <a:rPr lang="fr-FR" sz="800" i="1">
                <a:solidFill>
                  <a:schemeClr val="tx1">
                    <a:lumMod val="50000"/>
                    <a:lumOff val="50000"/>
                  </a:schemeClr>
                </a:solidFill>
              </a:rPr>
              <a:t>et </a:t>
            </a:r>
            <a:r>
              <a:rPr lang="fr-FR" sz="800" i="1">
                <a:solidFill>
                  <a:schemeClr val="tx1">
                    <a:lumMod val="50000"/>
                    <a:lumOff val="50000"/>
                  </a:schemeClr>
                </a:solidFill>
              </a:rPr>
              <a:t>votre</a:t>
            </a:r>
            <a:r>
              <a:rPr lang="fr-FR" sz="800" i="1">
                <a:solidFill>
                  <a:schemeClr val="tx1">
                    <a:lumMod val="50000"/>
                    <a:lumOff val="50000"/>
                  </a:schemeClr>
                </a:solidFill>
              </a:rPr>
              <a:t> </a:t>
            </a:r>
            <a:r>
              <a:rPr lang="fr-FR" sz="800" i="1">
                <a:solidFill>
                  <a:schemeClr val="tx1">
                    <a:lumMod val="50000"/>
                    <a:lumOff val="50000"/>
                  </a:schemeClr>
                </a:solidFill>
              </a:rPr>
              <a:t>odorat</a:t>
            </a:r>
            <a:r>
              <a:rPr lang="en-US" sz="800" i="1">
                <a:solidFill>
                  <a:schemeClr val="tx1">
                    <a:lumMod val="50000"/>
                    <a:lumOff val="50000"/>
                  </a:schemeClr>
                </a:solidFill>
              </a:rPr>
              <a:t>. </a:t>
            </a:r>
            <a:r>
              <a:rPr lang="fr-FR" sz="800" i="1">
                <a:solidFill>
                  <a:schemeClr val="tx1">
                    <a:lumMod val="50000"/>
                    <a:lumOff val="50000"/>
                  </a:schemeClr>
                </a:solidFill>
              </a:rPr>
              <a:t>Vous </a:t>
            </a:r>
            <a:r>
              <a:rPr lang="fr-FR" sz="800" i="1">
                <a:solidFill>
                  <a:schemeClr val="tx1">
                    <a:lumMod val="50000"/>
                    <a:lumOff val="50000"/>
                  </a:schemeClr>
                </a:solidFill>
              </a:rPr>
              <a:t>sentez</a:t>
            </a:r>
            <a:r>
              <a:rPr lang="fr-FR" sz="800" i="1">
                <a:solidFill>
                  <a:schemeClr val="tx1">
                    <a:lumMod val="50000"/>
                    <a:lumOff val="50000"/>
                  </a:schemeClr>
                </a:solidFill>
              </a:rPr>
              <a:t> </a:t>
            </a:r>
            <a:r>
              <a:rPr lang="fr-FR" sz="800" i="1">
                <a:solidFill>
                  <a:schemeClr val="tx1">
                    <a:lumMod val="50000"/>
                    <a:lumOff val="50000"/>
                  </a:schemeClr>
                </a:solidFill>
              </a:rPr>
              <a:t>également</a:t>
            </a:r>
            <a:r>
              <a:rPr lang="fr-FR" sz="800" i="1">
                <a:solidFill>
                  <a:schemeClr val="tx1">
                    <a:lumMod val="50000"/>
                    <a:lumOff val="50000"/>
                  </a:schemeClr>
                </a:solidFill>
              </a:rPr>
              <a:t> </a:t>
            </a:r>
            <a:r>
              <a:rPr lang="en-US" sz="800" i="1">
                <a:solidFill>
                  <a:schemeClr val="tx1">
                    <a:lumMod val="50000"/>
                    <a:lumOff val="50000"/>
                  </a:schemeClr>
                </a:solidFill>
              </a:rPr>
              <a:t>la fascination </a:t>
            </a:r>
            <a:r>
              <a:rPr lang="fr-FR" sz="800" i="1">
                <a:solidFill>
                  <a:schemeClr val="tx1">
                    <a:lumMod val="50000"/>
                    <a:lumOff val="50000"/>
                  </a:schemeClr>
                </a:solidFill>
              </a:rPr>
              <a:t>mêlée </a:t>
            </a:r>
            <a:r>
              <a:rPr lang="fr-FR" sz="800" i="1">
                <a:solidFill>
                  <a:schemeClr val="tx1">
                    <a:lumMod val="50000"/>
                    <a:lumOff val="50000"/>
                  </a:schemeClr>
                </a:solidFill>
              </a:rPr>
              <a:t>de </a:t>
            </a:r>
            <a:r>
              <a:rPr lang="fr-FR" sz="800" i="1">
                <a:solidFill>
                  <a:schemeClr val="tx1">
                    <a:lumMod val="50000"/>
                    <a:lumOff val="50000"/>
                  </a:schemeClr>
                </a:solidFill>
              </a:rPr>
              <a:t>peur</a:t>
            </a:r>
            <a:r>
              <a:rPr lang="fr-FR" sz="800" i="1">
                <a:solidFill>
                  <a:schemeClr val="tx1">
                    <a:lumMod val="50000"/>
                    <a:lumOff val="50000"/>
                  </a:schemeClr>
                </a:solidFill>
              </a:rPr>
              <a:t> </a:t>
            </a:r>
            <a:r>
              <a:rPr lang="en-US" sz="800" i="1">
                <a:solidFill>
                  <a:schemeClr val="tx1">
                    <a:lumMod val="50000"/>
                    <a:lumOff val="50000"/>
                  </a:schemeClr>
                </a:solidFill>
              </a:rPr>
              <a:t>diffuse </a:t>
            </a:r>
            <a:r>
              <a:rPr lang="fr-FR" sz="800" i="1">
                <a:solidFill>
                  <a:schemeClr val="tx1">
                    <a:lumMod val="50000"/>
                    <a:lumOff val="50000"/>
                  </a:schemeClr>
                </a:solidFill>
              </a:rPr>
              <a:t>que</a:t>
            </a:r>
            <a:r>
              <a:rPr lang="fr-FR" sz="800" i="1">
                <a:solidFill>
                  <a:schemeClr val="tx1">
                    <a:lumMod val="50000"/>
                    <a:lumOff val="50000"/>
                  </a:schemeClr>
                </a:solidFill>
              </a:rPr>
              <a:t> </a:t>
            </a:r>
            <a:r>
              <a:rPr lang="fr-FR" sz="800" i="1">
                <a:solidFill>
                  <a:schemeClr val="tx1">
                    <a:lumMod val="50000"/>
                    <a:lumOff val="50000"/>
                  </a:schemeClr>
                </a:solidFill>
              </a:rPr>
              <a:t>vous </a:t>
            </a:r>
            <a:r>
              <a:rPr lang="fr-FR" sz="800" i="1">
                <a:solidFill>
                  <a:schemeClr val="tx1">
                    <a:lumMod val="50000"/>
                    <a:lumOff val="50000"/>
                  </a:schemeClr>
                </a:solidFill>
              </a:rPr>
              <a:t>provoquez</a:t>
            </a:r>
            <a:r>
              <a:rPr lang="fr-FR" sz="800" i="1">
                <a:solidFill>
                  <a:schemeClr val="tx1">
                    <a:lumMod val="50000"/>
                    <a:lumOff val="50000"/>
                  </a:schemeClr>
                </a:solidFill>
              </a:rPr>
              <a:t> </a:t>
            </a:r>
            <a:r>
              <a:rPr lang="fr-FR" sz="800" i="1">
                <a:solidFill>
                  <a:schemeClr val="tx1">
                    <a:lumMod val="50000"/>
                    <a:lumOff val="50000"/>
                  </a:schemeClr>
                </a:solidFill>
              </a:rPr>
              <a:t>chez </a:t>
            </a:r>
            <a:r>
              <a:rPr lang="fr-FR" sz="800" i="1">
                <a:solidFill>
                  <a:schemeClr val="tx1">
                    <a:lumMod val="50000"/>
                    <a:lumOff val="50000"/>
                  </a:schemeClr>
                </a:solidFill>
              </a:rPr>
              <a:t>les </a:t>
            </a:r>
            <a:r>
              <a:rPr lang="fr-FR" sz="800" i="1">
                <a:solidFill>
                  <a:schemeClr val="tx1">
                    <a:lumMod val="50000"/>
                    <a:lumOff val="50000"/>
                  </a:schemeClr>
                </a:solidFill>
              </a:rPr>
              <a:t>humains</a:t>
            </a:r>
            <a:r>
              <a:rPr lang="en-US" sz="800" i="1">
                <a:solidFill>
                  <a:schemeClr val="tx1">
                    <a:lumMod val="50000"/>
                    <a:lumOff val="50000"/>
                  </a:schemeClr>
                </a:solidFill>
              </a:rPr>
              <a:t>.</a:t>
            </a:r>
            <a:endParaRPr sz="1400" i="1">
              <a:solidFill>
                <a:schemeClr val="tx1">
                  <a:lumMod val="50000"/>
                  <a:lumOff val="50000"/>
                </a:schemeClr>
              </a:solidFill>
            </a:endParaRPr>
          </a:p>
          <a:p>
            <a:pPr>
              <a:defRPr/>
            </a:pPr>
            <a:endParaRPr sz="800" i="1"/>
          </a:p>
          <a:p>
            <a:pPr>
              <a:defRPr/>
            </a:pPr>
            <a:r>
              <a:rPr lang="en-US" sz="800" i="1">
                <a:solidFill>
                  <a:schemeClr val="tx1">
                    <a:lumMod val="50000"/>
                    <a:lumOff val="50000"/>
                  </a:schemeClr>
                </a:solidFill>
              </a:rPr>
              <a:t>Au </a:t>
            </a:r>
            <a:r>
              <a:rPr lang="fr-FR" sz="800" i="1">
                <a:solidFill>
                  <a:schemeClr val="tx1">
                    <a:lumMod val="50000"/>
                    <a:lumOff val="50000"/>
                  </a:schemeClr>
                </a:solidFill>
              </a:rPr>
              <a:t>chapitre</a:t>
            </a:r>
            <a:r>
              <a:rPr lang="fr-FR" sz="800" i="1">
                <a:solidFill>
                  <a:schemeClr val="tx1">
                    <a:lumMod val="50000"/>
                    <a:lumOff val="50000"/>
                  </a:schemeClr>
                </a:solidFill>
              </a:rPr>
              <a:t> </a:t>
            </a:r>
            <a:r>
              <a:rPr lang="fr-FR" sz="800" i="1">
                <a:solidFill>
                  <a:schemeClr val="tx1">
                    <a:lumMod val="50000"/>
                    <a:lumOff val="50000"/>
                  </a:schemeClr>
                </a:solidFill>
              </a:rPr>
              <a:t>des </a:t>
            </a:r>
            <a:r>
              <a:rPr lang="fr-FR" sz="800" i="1">
                <a:solidFill>
                  <a:schemeClr val="tx1">
                    <a:lumMod val="50000"/>
                    <a:lumOff val="50000"/>
                  </a:schemeClr>
                </a:solidFill>
              </a:rPr>
              <a:t>mauvaises</a:t>
            </a:r>
            <a:r>
              <a:rPr lang="fr-FR" sz="800" i="1">
                <a:solidFill>
                  <a:schemeClr val="tx1">
                    <a:lumMod val="50000"/>
                    <a:lumOff val="50000"/>
                  </a:schemeClr>
                </a:solidFill>
              </a:rPr>
              <a:t> </a:t>
            </a:r>
            <a:r>
              <a:rPr lang="fr-FR" sz="800" i="1">
                <a:solidFill>
                  <a:schemeClr val="tx1">
                    <a:lumMod val="50000"/>
                    <a:lumOff val="50000"/>
                  </a:schemeClr>
                </a:solidFill>
              </a:rPr>
              <a:t>nouvelles</a:t>
            </a:r>
            <a:r>
              <a:rPr lang="en-US" sz="800" i="1">
                <a:solidFill>
                  <a:schemeClr val="tx1">
                    <a:lumMod val="50000"/>
                    <a:lumOff val="50000"/>
                  </a:schemeClr>
                </a:solidFill>
              </a:rPr>
              <a:t>, </a:t>
            </a:r>
            <a:r>
              <a:rPr lang="fr-FR" sz="800" i="1">
                <a:solidFill>
                  <a:schemeClr val="tx1">
                    <a:lumMod val="50000"/>
                    <a:lumOff val="50000"/>
                  </a:schemeClr>
                </a:solidFill>
              </a:rPr>
              <a:t>vous </a:t>
            </a:r>
            <a:r>
              <a:rPr lang="fr-FR" sz="800" i="1">
                <a:solidFill>
                  <a:schemeClr val="tx1">
                    <a:lumMod val="50000"/>
                    <a:lumOff val="50000"/>
                  </a:schemeClr>
                </a:solidFill>
              </a:rPr>
              <a:t>êtes</a:t>
            </a:r>
            <a:r>
              <a:rPr lang="fr-FR" sz="800" i="1">
                <a:solidFill>
                  <a:schemeClr val="tx1">
                    <a:lumMod val="50000"/>
                    <a:lumOff val="50000"/>
                  </a:schemeClr>
                </a:solidFill>
              </a:rPr>
              <a:t> </a:t>
            </a:r>
            <a:r>
              <a:rPr lang="fr-FR" sz="800" i="1">
                <a:solidFill>
                  <a:schemeClr val="tx1">
                    <a:lumMod val="50000"/>
                    <a:lumOff val="50000"/>
                  </a:schemeClr>
                </a:solidFill>
              </a:rPr>
              <a:t>devenu</a:t>
            </a:r>
            <a:r>
              <a:rPr lang="fr-FR" sz="800" i="1">
                <a:solidFill>
                  <a:schemeClr val="tx1">
                    <a:lumMod val="50000"/>
                    <a:lumOff val="50000"/>
                  </a:schemeClr>
                </a:solidFill>
              </a:rPr>
              <a:t> </a:t>
            </a:r>
            <a:r>
              <a:rPr lang="en-US" sz="800" i="1">
                <a:solidFill>
                  <a:schemeClr val="tx1">
                    <a:lumMod val="50000"/>
                    <a:lumOff val="50000"/>
                  </a:schemeClr>
                </a:solidFill>
              </a:rPr>
              <a:t>sensible à </a:t>
            </a:r>
            <a:r>
              <a:rPr lang="en-US" sz="800" i="1">
                <a:solidFill>
                  <a:schemeClr val="tx1">
                    <a:lumMod val="50000"/>
                    <a:lumOff val="50000"/>
                  </a:schemeClr>
                </a:solidFill>
              </a:rPr>
              <a:t>l’</a:t>
            </a:r>
            <a:r>
              <a:rPr lang="fr-FR" sz="800" i="1">
                <a:solidFill>
                  <a:schemeClr val="tx1">
                    <a:lumMod val="50000"/>
                    <a:lumOff val="50000"/>
                  </a:schemeClr>
                </a:solidFill>
              </a:rPr>
              <a:t>argent</a:t>
            </a:r>
            <a:r>
              <a:rPr lang="fr-FR" sz="800" i="1">
                <a:solidFill>
                  <a:schemeClr val="tx1">
                    <a:lumMod val="50000"/>
                    <a:lumOff val="50000"/>
                  </a:schemeClr>
                </a:solidFill>
              </a:rPr>
              <a:t> </a:t>
            </a:r>
            <a:r>
              <a:rPr lang="fr-FR" sz="800" i="1">
                <a:solidFill>
                  <a:schemeClr val="tx1">
                    <a:lumMod val="50000"/>
                    <a:lumOff val="50000"/>
                  </a:schemeClr>
                </a:solidFill>
              </a:rPr>
              <a:t>et </a:t>
            </a:r>
            <a:r>
              <a:rPr lang="en-US" sz="800" i="1">
                <a:solidFill>
                  <a:schemeClr val="tx1">
                    <a:lumMod val="50000"/>
                    <a:lumOff val="50000"/>
                  </a:schemeClr>
                </a:solidFill>
              </a:rPr>
              <a:t>à </a:t>
            </a:r>
            <a:r>
              <a:rPr lang="en-US" sz="800" i="1">
                <a:solidFill>
                  <a:schemeClr val="tx1">
                    <a:lumMod val="50000"/>
                    <a:lumOff val="50000"/>
                  </a:schemeClr>
                </a:solidFill>
              </a:rPr>
              <a:t>l’</a:t>
            </a:r>
            <a:r>
              <a:rPr lang="fr-FR" sz="800" i="1">
                <a:solidFill>
                  <a:schemeClr val="tx1">
                    <a:lumMod val="50000"/>
                    <a:lumOff val="50000"/>
                  </a:schemeClr>
                </a:solidFill>
              </a:rPr>
              <a:t>aconit</a:t>
            </a:r>
            <a:r>
              <a:rPr lang="en-US" sz="800" i="1">
                <a:solidFill>
                  <a:schemeClr val="tx1">
                    <a:lumMod val="50000"/>
                    <a:lumOff val="50000"/>
                  </a:schemeClr>
                </a:solidFill>
              </a:rPr>
              <a:t>. </a:t>
            </a:r>
            <a:r>
              <a:rPr lang="fr-FR" sz="800" i="1">
                <a:solidFill>
                  <a:schemeClr val="tx1">
                    <a:lumMod val="50000"/>
                    <a:lumOff val="50000"/>
                  </a:schemeClr>
                </a:solidFill>
              </a:rPr>
              <a:t>Maintenir</a:t>
            </a:r>
            <a:r>
              <a:rPr lang="fr-FR" sz="800" i="1">
                <a:solidFill>
                  <a:schemeClr val="tx1">
                    <a:lumMod val="50000"/>
                    <a:lumOff val="50000"/>
                  </a:schemeClr>
                </a:solidFill>
              </a:rPr>
              <a:t> </a:t>
            </a:r>
            <a:r>
              <a:rPr lang="fr-FR" sz="800" i="1">
                <a:solidFill>
                  <a:schemeClr val="tx1">
                    <a:lumMod val="50000"/>
                    <a:lumOff val="50000"/>
                  </a:schemeClr>
                </a:solidFill>
              </a:rPr>
              <a:t>le </a:t>
            </a:r>
            <a:r>
              <a:rPr lang="en-US" sz="800" i="1">
                <a:solidFill>
                  <a:schemeClr val="tx1">
                    <a:lumMod val="50000"/>
                    <a:lumOff val="50000"/>
                  </a:schemeClr>
                </a:solidFill>
              </a:rPr>
              <a:t>secret </a:t>
            </a:r>
            <a:r>
              <a:rPr lang="fr-FR" sz="800" i="1">
                <a:solidFill>
                  <a:schemeClr val="tx1">
                    <a:lumMod val="50000"/>
                    <a:lumOff val="50000"/>
                  </a:schemeClr>
                </a:solidFill>
              </a:rPr>
              <a:t>de </a:t>
            </a:r>
            <a:r>
              <a:rPr lang="fr-FR" sz="800" i="1">
                <a:solidFill>
                  <a:schemeClr val="tx1">
                    <a:lumMod val="50000"/>
                    <a:lumOff val="50000"/>
                  </a:schemeClr>
                </a:solidFill>
              </a:rPr>
              <a:t>votre</a:t>
            </a:r>
            <a:r>
              <a:rPr lang="fr-FR" sz="800" i="1">
                <a:solidFill>
                  <a:schemeClr val="tx1">
                    <a:lumMod val="50000"/>
                    <a:lumOff val="50000"/>
                  </a:schemeClr>
                </a:solidFill>
              </a:rPr>
              <a:t> </a:t>
            </a:r>
            <a:r>
              <a:rPr lang="en-US" sz="800" i="1">
                <a:solidFill>
                  <a:schemeClr val="tx1">
                    <a:lumMod val="50000"/>
                    <a:lumOff val="50000"/>
                  </a:schemeClr>
                </a:solidFill>
              </a:rPr>
              <a:t>condition est </a:t>
            </a:r>
            <a:r>
              <a:rPr lang="fr-FR" sz="800" i="1">
                <a:solidFill>
                  <a:schemeClr val="tx1">
                    <a:lumMod val="50000"/>
                    <a:lumOff val="50000"/>
                  </a:schemeClr>
                </a:solidFill>
              </a:rPr>
              <a:t>maintenant</a:t>
            </a:r>
            <a:r>
              <a:rPr lang="fr-FR" sz="800" i="1">
                <a:solidFill>
                  <a:schemeClr val="tx1">
                    <a:lumMod val="50000"/>
                    <a:lumOff val="50000"/>
                  </a:schemeClr>
                </a:solidFill>
              </a:rPr>
              <a:t> </a:t>
            </a:r>
            <a:r>
              <a:rPr lang="fr-FR" sz="800" i="1">
                <a:solidFill>
                  <a:schemeClr val="tx1">
                    <a:lumMod val="50000"/>
                    <a:lumOff val="50000"/>
                  </a:schemeClr>
                </a:solidFill>
              </a:rPr>
              <a:t>aussi</a:t>
            </a:r>
            <a:r>
              <a:rPr lang="fr-FR" sz="800" i="1">
                <a:solidFill>
                  <a:schemeClr val="tx1">
                    <a:lumMod val="50000"/>
                    <a:lumOff val="50000"/>
                  </a:schemeClr>
                </a:solidFill>
              </a:rPr>
              <a:t> </a:t>
            </a:r>
            <a:r>
              <a:rPr lang="en-US" sz="800" i="1">
                <a:solidFill>
                  <a:schemeClr val="tx1">
                    <a:lumMod val="50000"/>
                    <a:lumOff val="50000"/>
                  </a:schemeClr>
                </a:solidFill>
              </a:rPr>
              <a:t>vital </a:t>
            </a:r>
            <a:r>
              <a:rPr lang="fr-FR" sz="800" i="1">
                <a:solidFill>
                  <a:schemeClr val="tx1">
                    <a:lumMod val="50000"/>
                    <a:lumOff val="50000"/>
                  </a:schemeClr>
                </a:solidFill>
              </a:rPr>
              <a:t>que</a:t>
            </a:r>
            <a:r>
              <a:rPr lang="fr-FR" sz="800" i="1">
                <a:solidFill>
                  <a:schemeClr val="tx1">
                    <a:lumMod val="50000"/>
                    <a:lumOff val="50000"/>
                  </a:schemeClr>
                </a:solidFill>
              </a:rPr>
              <a:t> </a:t>
            </a:r>
            <a:r>
              <a:rPr lang="fr-FR" sz="800" i="1">
                <a:solidFill>
                  <a:schemeClr val="tx1">
                    <a:lumMod val="50000"/>
                    <a:lumOff val="50000"/>
                  </a:schemeClr>
                </a:solidFill>
              </a:rPr>
              <a:t>de </a:t>
            </a:r>
            <a:r>
              <a:rPr lang="fr-FR" sz="800" i="1">
                <a:solidFill>
                  <a:schemeClr val="tx1">
                    <a:lumMod val="50000"/>
                    <a:lumOff val="50000"/>
                  </a:schemeClr>
                </a:solidFill>
              </a:rPr>
              <a:t>garder</a:t>
            </a:r>
            <a:r>
              <a:rPr lang="fr-FR" sz="800" i="1">
                <a:solidFill>
                  <a:schemeClr val="tx1">
                    <a:lumMod val="50000"/>
                    <a:lumOff val="50000"/>
                  </a:schemeClr>
                </a:solidFill>
              </a:rPr>
              <a:t> </a:t>
            </a:r>
            <a:r>
              <a:rPr lang="fr-FR" sz="800" i="1">
                <a:solidFill>
                  <a:schemeClr val="tx1">
                    <a:lumMod val="50000"/>
                    <a:lumOff val="50000"/>
                  </a:schemeClr>
                </a:solidFill>
              </a:rPr>
              <a:t>le </a:t>
            </a:r>
            <a:r>
              <a:rPr lang="fr-FR" sz="800" i="1">
                <a:solidFill>
                  <a:schemeClr val="tx1">
                    <a:lumMod val="50000"/>
                    <a:lumOff val="50000"/>
                  </a:schemeClr>
                </a:solidFill>
              </a:rPr>
              <a:t>contrôle</a:t>
            </a:r>
            <a:r>
              <a:rPr lang="fr-FR" sz="800" i="1">
                <a:solidFill>
                  <a:schemeClr val="tx1">
                    <a:lumMod val="50000"/>
                    <a:lumOff val="50000"/>
                  </a:schemeClr>
                </a:solidFill>
              </a:rPr>
              <a:t> </a:t>
            </a:r>
            <a:r>
              <a:rPr lang="fr-FR" sz="800" i="1">
                <a:solidFill>
                  <a:schemeClr val="tx1">
                    <a:lumMod val="50000"/>
                    <a:lumOff val="50000"/>
                  </a:schemeClr>
                </a:solidFill>
              </a:rPr>
              <a:t>de </a:t>
            </a:r>
            <a:r>
              <a:rPr lang="en-US" sz="800" i="1">
                <a:solidFill>
                  <a:schemeClr val="tx1">
                    <a:lumMod val="50000"/>
                    <a:lumOff val="50000"/>
                  </a:schemeClr>
                </a:solidFill>
              </a:rPr>
              <a:t>la </a:t>
            </a:r>
            <a:r>
              <a:rPr lang="fr-FR" sz="800" i="1">
                <a:solidFill>
                  <a:schemeClr val="tx1">
                    <a:lumMod val="50000"/>
                    <a:lumOff val="50000"/>
                  </a:schemeClr>
                </a:solidFill>
              </a:rPr>
              <a:t>bête </a:t>
            </a:r>
            <a:r>
              <a:rPr lang="fr-FR" sz="800" i="1">
                <a:solidFill>
                  <a:schemeClr val="tx1">
                    <a:lumMod val="50000"/>
                    <a:lumOff val="50000"/>
                  </a:schemeClr>
                </a:solidFill>
              </a:rPr>
              <a:t>qui </a:t>
            </a:r>
            <a:r>
              <a:rPr lang="fr-FR" sz="800" i="1">
                <a:solidFill>
                  <a:schemeClr val="tx1">
                    <a:lumMod val="50000"/>
                    <a:lumOff val="50000"/>
                  </a:schemeClr>
                </a:solidFill>
              </a:rPr>
              <a:t>sommeille</a:t>
            </a:r>
            <a:r>
              <a:rPr lang="fr-FR" sz="800" i="1">
                <a:solidFill>
                  <a:schemeClr val="tx1">
                    <a:lumMod val="50000"/>
                    <a:lumOff val="50000"/>
                  </a:schemeClr>
                </a:solidFill>
              </a:rPr>
              <a:t> </a:t>
            </a:r>
            <a:r>
              <a:rPr lang="en-US" sz="800" i="1">
                <a:solidFill>
                  <a:schemeClr val="tx1">
                    <a:lumMod val="50000"/>
                    <a:lumOff val="50000"/>
                  </a:schemeClr>
                </a:solidFill>
              </a:rPr>
              <a:t>en</a:t>
            </a:r>
            <a:r>
              <a:rPr lang="en-US" sz="800" i="1">
                <a:solidFill>
                  <a:schemeClr val="tx1">
                    <a:lumMod val="50000"/>
                    <a:lumOff val="50000"/>
                  </a:schemeClr>
                </a:solidFill>
              </a:rPr>
              <a:t> </a:t>
            </a:r>
            <a:r>
              <a:rPr lang="fr-FR" sz="800" i="1">
                <a:solidFill>
                  <a:schemeClr val="tx1">
                    <a:lumMod val="50000"/>
                    <a:lumOff val="50000"/>
                  </a:schemeClr>
                </a:solidFill>
              </a:rPr>
              <a:t>vous </a:t>
            </a:r>
            <a:r>
              <a:rPr lang="fr-FR" sz="800" i="1">
                <a:solidFill>
                  <a:schemeClr val="tx1">
                    <a:lumMod val="50000"/>
                    <a:lumOff val="50000"/>
                  </a:schemeClr>
                </a:solidFill>
              </a:rPr>
              <a:t>et </a:t>
            </a:r>
            <a:r>
              <a:rPr lang="fr-FR" sz="800" i="1">
                <a:solidFill>
                  <a:schemeClr val="tx1">
                    <a:lumMod val="50000"/>
                    <a:lumOff val="50000"/>
                  </a:schemeClr>
                </a:solidFill>
              </a:rPr>
              <a:t>qui </a:t>
            </a:r>
            <a:r>
              <a:rPr lang="fr-FR" sz="800" i="1">
                <a:solidFill>
                  <a:schemeClr val="tx1">
                    <a:lumMod val="50000"/>
                    <a:lumOff val="50000"/>
                  </a:schemeClr>
                </a:solidFill>
              </a:rPr>
              <a:t>pourrait</a:t>
            </a:r>
            <a:r>
              <a:rPr lang="fr-FR" sz="800" i="1">
                <a:solidFill>
                  <a:schemeClr val="tx1">
                    <a:lumMod val="50000"/>
                    <a:lumOff val="50000"/>
                  </a:schemeClr>
                </a:solidFill>
              </a:rPr>
              <a:t> </a:t>
            </a:r>
            <a:r>
              <a:rPr lang="fr-FR" sz="800" i="1">
                <a:solidFill>
                  <a:schemeClr val="tx1">
                    <a:lumMod val="50000"/>
                    <a:lumOff val="50000"/>
                  </a:schemeClr>
                </a:solidFill>
              </a:rPr>
              <a:t>blesser </a:t>
            </a:r>
            <a:r>
              <a:rPr lang="fr-FR" sz="800" i="1">
                <a:solidFill>
                  <a:schemeClr val="tx1">
                    <a:lumMod val="50000"/>
                    <a:lumOff val="50000"/>
                  </a:schemeClr>
                </a:solidFill>
              </a:rPr>
              <a:t>des </a:t>
            </a:r>
            <a:r>
              <a:rPr lang="fr-FR" sz="800" i="1">
                <a:solidFill>
                  <a:schemeClr val="tx1">
                    <a:lumMod val="50000"/>
                    <a:lumOff val="50000"/>
                  </a:schemeClr>
                </a:solidFill>
              </a:rPr>
              <a:t>êtres</a:t>
            </a:r>
            <a:r>
              <a:rPr lang="fr-FR" sz="800" i="1">
                <a:solidFill>
                  <a:schemeClr val="tx1">
                    <a:lumMod val="50000"/>
                    <a:lumOff val="50000"/>
                  </a:schemeClr>
                </a:solidFill>
              </a:rPr>
              <a:t> </a:t>
            </a:r>
            <a:r>
              <a:rPr lang="fr-FR" sz="800" i="1">
                <a:solidFill>
                  <a:schemeClr val="tx1">
                    <a:lumMod val="50000"/>
                    <a:lumOff val="50000"/>
                  </a:schemeClr>
                </a:solidFill>
              </a:rPr>
              <a:t>chers</a:t>
            </a:r>
            <a:r>
              <a:rPr lang="en-US" sz="800" i="1">
                <a:solidFill>
                  <a:schemeClr val="tx1">
                    <a:lumMod val="50000"/>
                    <a:lumOff val="50000"/>
                  </a:schemeClr>
                </a:solidFill>
              </a:rPr>
              <a:t>, </a:t>
            </a:r>
            <a:r>
              <a:rPr lang="fr-FR" sz="800" i="1">
                <a:solidFill>
                  <a:schemeClr val="tx1">
                    <a:lumMod val="50000"/>
                    <a:lumOff val="50000"/>
                  </a:schemeClr>
                </a:solidFill>
              </a:rPr>
              <a:t>ou</a:t>
            </a:r>
            <a:r>
              <a:rPr lang="fr-FR" sz="800" i="1">
                <a:solidFill>
                  <a:schemeClr val="tx1">
                    <a:lumMod val="50000"/>
                    <a:lumOff val="50000"/>
                  </a:schemeClr>
                </a:solidFill>
              </a:rPr>
              <a:t> </a:t>
            </a:r>
            <a:r>
              <a:rPr lang="fr-FR" sz="800" i="1">
                <a:solidFill>
                  <a:schemeClr val="tx1">
                    <a:lumMod val="50000"/>
                    <a:lumOff val="50000"/>
                  </a:schemeClr>
                </a:solidFill>
              </a:rPr>
              <a:t>pire</a:t>
            </a:r>
            <a:r>
              <a:rPr lang="en-US" sz="800" i="1">
                <a:solidFill>
                  <a:schemeClr val="tx1">
                    <a:lumMod val="50000"/>
                    <a:lumOff val="50000"/>
                  </a:schemeClr>
                </a:solidFill>
              </a:rPr>
              <a:t>.</a:t>
            </a:r>
            <a:endParaRPr sz="1400" i="1"/>
          </a:p>
          <a:p>
            <a:pPr>
              <a:defRPr/>
            </a:pPr>
            <a:endParaRPr sz="1600" i="1"/>
          </a:p>
        </p:txBody>
      </p:sp>
      <p:sp>
        <p:nvSpPr>
          <p:cNvPr id="1557284179" name="ZoneTexte 2"/>
          <p:cNvSpPr txBox="1"/>
          <p:nvPr/>
        </p:nvSpPr>
        <p:spPr bwMode="auto">
          <a:xfrm>
            <a:off x="-5167" y="533754"/>
            <a:ext cx="3412598" cy="1310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800" b="0" i="1" u="none" strike="noStrike" cap="none" spc="0">
                <a:solidFill>
                  <a:schemeClr val="tx1">
                    <a:lumMod val="50000"/>
                    <a:lumOff val="50000"/>
                  </a:schemeClr>
                </a:solidFill>
                <a:latin typeface="Arial"/>
                <a:ea typeface="Arial"/>
                <a:cs typeface="Arial"/>
              </a:rPr>
              <a:t>Depuis qu’il vous a mordu alors que la lune était pleine, vous sentez la rage parcourir votre corps et la faim s’insinuer jusque dans vos rêves. Cette faim insatiable vous pousse à vivre chaque instant comme s’il était le dernier et vous encourage à laisser libre cours à vos pulsions.</a:t>
            </a:r>
            <a:endParaRPr sz="1400" i="1"/>
          </a:p>
          <a:p>
            <a:pPr>
              <a:defRPr/>
            </a:pPr>
            <a:endParaRPr sz="800" i="1"/>
          </a:p>
          <a:p>
            <a:pPr>
              <a:defRPr/>
            </a:pPr>
            <a:r>
              <a:rPr lang="fr-FR" sz="800" b="0" i="1" u="none" strike="noStrike" cap="none" spc="0">
                <a:solidFill>
                  <a:schemeClr val="tx1">
                    <a:lumMod val="50000"/>
                    <a:lumOff val="50000"/>
                  </a:schemeClr>
                </a:solidFill>
                <a:latin typeface="Arial"/>
                <a:ea typeface="Arial"/>
                <a:cs typeface="Arial"/>
              </a:rPr>
              <a:t>Vous </a:t>
            </a:r>
            <a:r>
              <a:rPr lang="fr-FR" sz="800" b="0" i="1" u="none" strike="noStrike" cap="none" spc="0">
                <a:solidFill>
                  <a:schemeClr val="tx1">
                    <a:lumMod val="50000"/>
                    <a:lumOff val="50000"/>
                  </a:schemeClr>
                </a:solidFill>
                <a:latin typeface="Arial"/>
                <a:ea typeface="Arial"/>
                <a:cs typeface="Arial"/>
              </a:rPr>
              <a:t>avez </a:t>
            </a:r>
            <a:r>
              <a:rPr lang="fr-FR" sz="800" b="0" i="1" u="none" strike="noStrike" cap="none" spc="0">
                <a:solidFill>
                  <a:schemeClr val="tx1">
                    <a:lumMod val="50000"/>
                    <a:lumOff val="50000"/>
                  </a:schemeClr>
                </a:solidFill>
                <a:latin typeface="Arial"/>
                <a:ea typeface="Arial"/>
                <a:cs typeface="Arial"/>
              </a:rPr>
              <a:t>découvert </a:t>
            </a:r>
            <a:r>
              <a:rPr lang="fr-FR" sz="800" b="0" i="1" u="none" strike="noStrike" cap="none" spc="0">
                <a:solidFill>
                  <a:schemeClr val="tx1">
                    <a:lumMod val="50000"/>
                    <a:lumOff val="50000"/>
                  </a:schemeClr>
                </a:solidFill>
                <a:latin typeface="Arial"/>
                <a:ea typeface="Arial"/>
                <a:cs typeface="Arial"/>
              </a:rPr>
              <a:t>que </a:t>
            </a:r>
            <a:r>
              <a:rPr lang="fr-FR" sz="800" b="0" i="1" u="none" strike="noStrike" cap="none" spc="0">
                <a:solidFill>
                  <a:schemeClr val="tx1">
                    <a:lumMod val="50000"/>
                    <a:lumOff val="50000"/>
                  </a:schemeClr>
                </a:solidFill>
                <a:latin typeface="Arial"/>
                <a:ea typeface="Arial"/>
                <a:cs typeface="Arial"/>
              </a:rPr>
              <a:t>vous </a:t>
            </a:r>
            <a:r>
              <a:rPr lang="fr-FR" sz="800" b="0" i="1" u="none" strike="noStrike" cap="none" spc="0">
                <a:solidFill>
                  <a:schemeClr val="tx1">
                    <a:lumMod val="50000"/>
                    <a:lumOff val="50000"/>
                  </a:schemeClr>
                </a:solidFill>
                <a:latin typeface="Arial"/>
                <a:ea typeface="Arial"/>
                <a:cs typeface="Arial"/>
              </a:rPr>
              <a:t>pouviez </a:t>
            </a:r>
            <a:r>
              <a:rPr lang="fr-FR" sz="800" b="0" i="1" u="none" strike="noStrike" cap="none" spc="0">
                <a:solidFill>
                  <a:schemeClr val="tx1">
                    <a:lumMod val="50000"/>
                    <a:lumOff val="50000"/>
                  </a:schemeClr>
                </a:solidFill>
                <a:latin typeface="Arial"/>
                <a:ea typeface="Arial"/>
                <a:cs typeface="Arial"/>
              </a:rPr>
              <a:t>vous </a:t>
            </a:r>
            <a:r>
              <a:rPr lang="en-US" sz="800" b="0" i="1" u="none" strike="noStrike" cap="none" spc="0">
                <a:solidFill>
                  <a:schemeClr val="tx1">
                    <a:lumMod val="50000"/>
                    <a:lumOff val="50000"/>
                  </a:schemeClr>
                </a:solidFill>
                <a:latin typeface="Arial"/>
                <a:ea typeface="Arial"/>
                <a:cs typeface="Arial"/>
              </a:rPr>
              <a:t>transformer en </a:t>
            </a:r>
            <a:r>
              <a:rPr lang="fr-FR" sz="800" b="0" i="1" u="none" strike="noStrike" cap="none" spc="0">
                <a:solidFill>
                  <a:schemeClr val="tx1">
                    <a:lumMod val="50000"/>
                    <a:lumOff val="50000"/>
                  </a:schemeClr>
                </a:solidFill>
                <a:latin typeface="Arial"/>
                <a:ea typeface="Arial"/>
                <a:cs typeface="Arial"/>
              </a:rPr>
              <a:t>loup</a:t>
            </a:r>
            <a:r>
              <a:rPr lang="en-US" sz="800" b="0" i="1" u="none" strike="noStrike" cap="none" spc="0">
                <a:solidFill>
                  <a:schemeClr val="tx1">
                    <a:lumMod val="50000"/>
                    <a:lumOff val="50000"/>
                  </a:schemeClr>
                </a:solidFill>
                <a:latin typeface="Arial"/>
                <a:ea typeface="Arial"/>
                <a:cs typeface="Arial"/>
              </a:rPr>
              <a:t>-</a:t>
            </a:r>
            <a:r>
              <a:rPr lang="fr-FR" sz="800" b="0" i="1" u="none" strike="noStrike" cap="none" spc="0">
                <a:solidFill>
                  <a:schemeClr val="tx1">
                    <a:lumMod val="50000"/>
                    <a:lumOff val="50000"/>
                  </a:schemeClr>
                </a:solidFill>
                <a:latin typeface="Arial"/>
                <a:ea typeface="Arial"/>
                <a:cs typeface="Arial"/>
              </a:rPr>
              <a:t>garou </a:t>
            </a:r>
            <a:r>
              <a:rPr lang="en-US" sz="800" b="0" i="1" u="none" strike="noStrike" cap="none" spc="0">
                <a:solidFill>
                  <a:schemeClr val="tx1">
                    <a:lumMod val="50000"/>
                    <a:lumOff val="50000"/>
                  </a:schemeClr>
                </a:solidFill>
                <a:latin typeface="Arial"/>
                <a:ea typeface="Arial"/>
                <a:cs typeface="Arial"/>
              </a:rPr>
              <a:t>sous </a:t>
            </a:r>
            <a:r>
              <a:rPr lang="fr-FR" sz="800" b="0" i="1" u="none" strike="noStrike" cap="none" spc="0">
                <a:solidFill>
                  <a:schemeClr val="tx1">
                    <a:lumMod val="50000"/>
                    <a:lumOff val="50000"/>
                  </a:schemeClr>
                </a:solidFill>
                <a:latin typeface="Arial"/>
                <a:ea typeface="Arial"/>
                <a:cs typeface="Arial"/>
              </a:rPr>
              <a:t>forme </a:t>
            </a:r>
            <a:r>
              <a:rPr lang="fr-FR" sz="800" b="0" i="1" u="none" strike="noStrike" cap="none" spc="0">
                <a:solidFill>
                  <a:schemeClr val="tx1">
                    <a:lumMod val="50000"/>
                    <a:lumOff val="50000"/>
                  </a:schemeClr>
                </a:solidFill>
                <a:latin typeface="Arial"/>
                <a:ea typeface="Arial"/>
                <a:cs typeface="Arial"/>
              </a:rPr>
              <a:t>bestiale </a:t>
            </a:r>
            <a:r>
              <a:rPr lang="fr-FR" sz="800" b="0" i="1" u="none" strike="noStrike" cap="none" spc="0">
                <a:solidFill>
                  <a:schemeClr val="tx1">
                    <a:lumMod val="50000"/>
                    <a:lumOff val="50000"/>
                  </a:schemeClr>
                </a:solidFill>
                <a:latin typeface="Arial"/>
                <a:ea typeface="Arial"/>
                <a:cs typeface="Arial"/>
              </a:rPr>
              <a:t>lorsque </a:t>
            </a:r>
            <a:r>
              <a:rPr lang="fr-FR" sz="800" b="0" i="1" u="none" strike="noStrike" cap="none" spc="0">
                <a:solidFill>
                  <a:schemeClr val="tx1">
                    <a:lumMod val="50000"/>
                    <a:lumOff val="50000"/>
                  </a:schemeClr>
                </a:solidFill>
                <a:latin typeface="Arial"/>
                <a:ea typeface="Arial"/>
                <a:cs typeface="Arial"/>
              </a:rPr>
              <a:t>vous </a:t>
            </a:r>
            <a:r>
              <a:rPr lang="fr-FR" sz="800" b="0" i="1" u="none" strike="noStrike" cap="none" spc="0">
                <a:solidFill>
                  <a:schemeClr val="tx1">
                    <a:lumMod val="50000"/>
                    <a:lumOff val="50000"/>
                  </a:schemeClr>
                </a:solidFill>
                <a:latin typeface="Arial"/>
                <a:ea typeface="Arial"/>
                <a:cs typeface="Arial"/>
              </a:rPr>
              <a:t>négligez </a:t>
            </a:r>
            <a:r>
              <a:rPr lang="fr-FR" sz="800" b="0" i="1" u="none" strike="noStrike" cap="none" spc="0">
                <a:solidFill>
                  <a:schemeClr val="tx1">
                    <a:lumMod val="50000"/>
                    <a:lumOff val="50000"/>
                  </a:schemeClr>
                </a:solidFill>
                <a:latin typeface="Arial"/>
                <a:ea typeface="Arial"/>
                <a:cs typeface="Arial"/>
              </a:rPr>
              <a:t>trop </a:t>
            </a:r>
            <a:r>
              <a:rPr lang="fr-FR" sz="800" b="0" i="1" u="none" strike="noStrike" cap="none" spc="0">
                <a:solidFill>
                  <a:schemeClr val="tx1">
                    <a:lumMod val="50000"/>
                    <a:lumOff val="50000"/>
                  </a:schemeClr>
                </a:solidFill>
                <a:latin typeface="Arial"/>
                <a:ea typeface="Arial"/>
                <a:cs typeface="Arial"/>
              </a:rPr>
              <a:t>votre </a:t>
            </a:r>
            <a:r>
              <a:rPr lang="fr-FR" sz="800" b="0" i="1" u="none" strike="noStrike" cap="none" spc="0">
                <a:solidFill>
                  <a:schemeClr val="tx1">
                    <a:lumMod val="50000"/>
                    <a:lumOff val="50000"/>
                  </a:schemeClr>
                </a:solidFill>
                <a:latin typeface="Arial"/>
                <a:ea typeface="Arial"/>
                <a:cs typeface="Arial"/>
              </a:rPr>
              <a:t>faim</a:t>
            </a:r>
            <a:r>
              <a:rPr lang="en-US" sz="800" b="0" i="1" u="none" strike="noStrike" cap="none" spc="0">
                <a:solidFill>
                  <a:schemeClr val="tx1">
                    <a:lumMod val="50000"/>
                    <a:lumOff val="50000"/>
                  </a:schemeClr>
                </a:solidFill>
                <a:latin typeface="Arial"/>
                <a:ea typeface="Arial"/>
                <a:cs typeface="Arial"/>
              </a:rPr>
              <a:t>, </a:t>
            </a:r>
            <a:r>
              <a:rPr lang="fr-FR" sz="800" b="0" i="1" u="none" strike="noStrike" cap="none" spc="0">
                <a:solidFill>
                  <a:schemeClr val="tx1">
                    <a:lumMod val="50000"/>
                    <a:lumOff val="50000"/>
                  </a:schemeClr>
                </a:solidFill>
                <a:latin typeface="Arial"/>
                <a:ea typeface="Arial"/>
                <a:cs typeface="Arial"/>
              </a:rPr>
              <a:t>et </a:t>
            </a:r>
            <a:r>
              <a:rPr lang="fr-FR" sz="800" b="0" i="1" u="none" strike="noStrike" cap="none" spc="0">
                <a:solidFill>
                  <a:schemeClr val="tx1">
                    <a:lumMod val="50000"/>
                    <a:lumOff val="50000"/>
                  </a:schemeClr>
                </a:solidFill>
                <a:latin typeface="Arial"/>
                <a:ea typeface="Arial"/>
                <a:cs typeface="Arial"/>
              </a:rPr>
              <a:t>lui </a:t>
            </a:r>
            <a:r>
              <a:rPr lang="fr-FR" sz="800" b="0" i="1" u="none" strike="noStrike" cap="none" spc="0">
                <a:solidFill>
                  <a:schemeClr val="tx1">
                    <a:lumMod val="50000"/>
                    <a:lumOff val="50000"/>
                  </a:schemeClr>
                </a:solidFill>
                <a:latin typeface="Arial"/>
                <a:ea typeface="Arial"/>
                <a:cs typeface="Arial"/>
              </a:rPr>
              <a:t>préférez </a:t>
            </a:r>
            <a:r>
              <a:rPr lang="en-US" sz="800" b="0" i="1" u="none" strike="noStrike" cap="none" spc="0">
                <a:solidFill>
                  <a:schemeClr val="tx1">
                    <a:lumMod val="50000"/>
                    <a:lumOff val="50000"/>
                  </a:schemeClr>
                </a:solidFill>
                <a:latin typeface="Arial"/>
                <a:ea typeface="Arial"/>
                <a:cs typeface="Arial"/>
              </a:rPr>
              <a:t>la </a:t>
            </a:r>
            <a:r>
              <a:rPr lang="fr-FR" sz="800" b="0" i="1" u="none" strike="noStrike" cap="none" spc="0">
                <a:solidFill>
                  <a:schemeClr val="tx1">
                    <a:lumMod val="50000"/>
                    <a:lumOff val="50000"/>
                  </a:schemeClr>
                </a:solidFill>
                <a:latin typeface="Arial"/>
                <a:ea typeface="Arial"/>
                <a:cs typeface="Arial"/>
              </a:rPr>
              <a:t>forme </a:t>
            </a:r>
            <a:r>
              <a:rPr lang="fr-FR" sz="800" b="0" i="1" u="none" strike="noStrike" cap="none" spc="0">
                <a:solidFill>
                  <a:schemeClr val="tx1">
                    <a:lumMod val="50000"/>
                    <a:lumOff val="50000"/>
                  </a:schemeClr>
                </a:solidFill>
                <a:latin typeface="Arial"/>
                <a:ea typeface="Arial"/>
                <a:cs typeface="Arial"/>
              </a:rPr>
              <a:t>hybride </a:t>
            </a:r>
            <a:r>
              <a:rPr lang="fr-FR" sz="800" b="0" i="1" u="none" strike="noStrike" cap="none" spc="0">
                <a:solidFill>
                  <a:schemeClr val="tx1">
                    <a:lumMod val="50000"/>
                    <a:lumOff val="50000"/>
                  </a:schemeClr>
                </a:solidFill>
                <a:latin typeface="Arial"/>
                <a:ea typeface="Arial"/>
                <a:cs typeface="Arial"/>
              </a:rPr>
              <a:t>que </a:t>
            </a:r>
            <a:r>
              <a:rPr lang="fr-FR" sz="800" b="0" i="1" u="none" strike="noStrike" cap="none" spc="0">
                <a:solidFill>
                  <a:schemeClr val="tx1">
                    <a:lumMod val="50000"/>
                    <a:lumOff val="50000"/>
                  </a:schemeClr>
                </a:solidFill>
                <a:latin typeface="Arial"/>
                <a:ea typeface="Arial"/>
                <a:cs typeface="Arial"/>
              </a:rPr>
              <a:t>vous </a:t>
            </a:r>
            <a:r>
              <a:rPr lang="fr-FR" sz="800" b="0" i="1" u="none" strike="noStrike" cap="none" spc="0">
                <a:solidFill>
                  <a:schemeClr val="tx1">
                    <a:lumMod val="50000"/>
                    <a:lumOff val="50000"/>
                  </a:schemeClr>
                </a:solidFill>
                <a:latin typeface="Arial"/>
                <a:ea typeface="Arial"/>
                <a:cs typeface="Arial"/>
              </a:rPr>
              <a:t>pouvez </a:t>
            </a:r>
            <a:r>
              <a:rPr lang="en-US" sz="800" b="0" i="1" u="none" strike="noStrike" cap="none" spc="0">
                <a:solidFill>
                  <a:schemeClr val="tx1">
                    <a:lumMod val="50000"/>
                    <a:lumOff val="50000"/>
                  </a:schemeClr>
                </a:solidFill>
                <a:latin typeface="Arial"/>
                <a:ea typeface="Arial"/>
                <a:cs typeface="Arial"/>
              </a:rPr>
              <a:t>plus </a:t>
            </a:r>
            <a:r>
              <a:rPr lang="fr-FR" sz="800" b="0" i="1" u="none" strike="noStrike" cap="none" spc="0">
                <a:solidFill>
                  <a:schemeClr val="tx1">
                    <a:lumMod val="50000"/>
                    <a:lumOff val="50000"/>
                  </a:schemeClr>
                </a:solidFill>
                <a:latin typeface="Arial"/>
                <a:ea typeface="Arial"/>
                <a:cs typeface="Arial"/>
              </a:rPr>
              <a:t>aisément </a:t>
            </a:r>
            <a:r>
              <a:rPr lang="fr-FR" sz="800" b="0" i="1" u="none" strike="noStrike" cap="none" spc="0">
                <a:solidFill>
                  <a:schemeClr val="tx1">
                    <a:lumMod val="50000"/>
                    <a:lumOff val="50000"/>
                  </a:schemeClr>
                </a:solidFill>
                <a:latin typeface="Arial"/>
                <a:ea typeface="Arial"/>
                <a:cs typeface="Arial"/>
              </a:rPr>
              <a:t>contrôler</a:t>
            </a:r>
            <a:r>
              <a:rPr lang="en-US" sz="800" b="0" i="1" u="none" strike="noStrike" cap="none" spc="0">
                <a:solidFill>
                  <a:schemeClr val="tx1">
                    <a:lumMod val="50000"/>
                    <a:lumOff val="50000"/>
                  </a:schemeClr>
                </a:solidFill>
                <a:latin typeface="Arial"/>
                <a:ea typeface="Arial"/>
                <a:cs typeface="Arial"/>
              </a:rPr>
              <a:t>.</a:t>
            </a:r>
            <a:endParaRPr sz="1400" i="1"/>
          </a:p>
          <a:p>
            <a:pPr algn="l">
              <a:defRPr/>
            </a:pPr>
            <a:endParaRPr sz="1600" i="1"/>
          </a:p>
        </p:txBody>
      </p:sp>
      <p:sp>
        <p:nvSpPr>
          <p:cNvPr id="730182817" name=""/>
          <p:cNvSpPr/>
          <p:nvPr/>
        </p:nvSpPr>
        <p:spPr bwMode="auto">
          <a:xfrm rot="0" flipH="0" flipV="0">
            <a:off x="2344122" y="6124716"/>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11805231" name="Rectangle : avec coins arrondis en haut 1151560973"/>
          <p:cNvSpPr/>
          <p:nvPr/>
        </p:nvSpPr>
        <p:spPr bwMode="auto">
          <a:xfrm rot="5399942">
            <a:off x="2367315" y="6241170"/>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3983420" name=""/>
          <p:cNvSpPr/>
          <p:nvPr/>
        </p:nvSpPr>
        <p:spPr bwMode="auto">
          <a:xfrm rot="0" flipH="0" flipV="0">
            <a:off x="2353645" y="7143891"/>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02960525" name="Rectangle : avec coins arrondis en haut 1151560973"/>
          <p:cNvSpPr/>
          <p:nvPr/>
        </p:nvSpPr>
        <p:spPr bwMode="auto">
          <a:xfrm rot="5399942">
            <a:off x="2376837" y="7260345"/>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2120945" name=""/>
          <p:cNvSpPr/>
          <p:nvPr/>
        </p:nvSpPr>
        <p:spPr bwMode="auto">
          <a:xfrm rot="0" flipH="0" flipV="0">
            <a:off x="2353645" y="8163065"/>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19960718" name="Rectangle : avec coins arrondis en haut 1151560973"/>
          <p:cNvSpPr/>
          <p:nvPr/>
        </p:nvSpPr>
        <p:spPr bwMode="auto">
          <a:xfrm rot="5399942">
            <a:off x="2376837" y="8279520"/>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6371122" name=""/>
          <p:cNvSpPr txBox="1"/>
          <p:nvPr/>
        </p:nvSpPr>
        <p:spPr bwMode="auto">
          <a:xfrm rot="0" flipH="0" flipV="0">
            <a:off x="98431" y="2116627"/>
            <a:ext cx="3394301"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800" b="0" i="0" u="none" strike="noStrike" cap="none" spc="0">
                <a:solidFill>
                  <a:schemeClr val="tx1">
                    <a:lumMod val="50000"/>
                    <a:lumOff val="50000"/>
                  </a:schemeClr>
                </a:solidFill>
                <a:latin typeface="Arial"/>
                <a:ea typeface="Arial"/>
                <a:cs typeface="Arial"/>
              </a:rPr>
              <a:t>En tant que loup-garou, vous pouvez utiliser deux formes à volonté : la forme humaine et la forme hybride. Quant à la forme bestiale, elle est incontrôlable et est à l'origine de la plupart des mythes terrifiants qui concernent les enfants de la lune. Toutes les formes ont ceci en commun :</a:t>
            </a:r>
            <a:r>
              <a:rPr lang="fr-FR" sz="800" b="0" i="0" u="none" strike="noStrike" cap="none" spc="0">
                <a:solidFill>
                  <a:schemeClr val="tx1">
                    <a:lumMod val="50000"/>
                    <a:lumOff val="50000"/>
                  </a:schemeClr>
                </a:solidFill>
                <a:latin typeface="Arial"/>
                <a:ea typeface="Arial"/>
                <a:cs typeface="Arial"/>
              </a:rPr>
              <a:t> </a:t>
            </a:r>
            <a:endParaRPr lang="fr-FR" sz="800" b="0" i="0" u="none" strike="noStrike" cap="none" spc="0">
              <a:solidFill>
                <a:schemeClr val="tx1">
                  <a:lumMod val="50000"/>
                  <a:lumOff val="50000"/>
                </a:schemeClr>
              </a:solidFill>
              <a:latin typeface="Arial"/>
              <a:cs typeface="Arial"/>
            </a:endParaRPr>
          </a:p>
        </p:txBody>
      </p:sp>
      <p:sp>
        <p:nvSpPr>
          <p:cNvPr id="1003727244" name=""/>
          <p:cNvSpPr txBox="1"/>
          <p:nvPr/>
        </p:nvSpPr>
        <p:spPr bwMode="auto">
          <a:xfrm rot="0" flipH="0" flipV="0">
            <a:off x="3434312" y="2116627"/>
            <a:ext cx="3411580"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184750" indent="-184750">
              <a:buFont typeface="Arial"/>
              <a:buChar char="•"/>
              <a:defRPr/>
            </a:pPr>
            <a:r>
              <a:rPr lang="fr-FR" sz="800" b="0" i="0" u="none" strike="noStrike" cap="none" spc="0">
                <a:solidFill>
                  <a:schemeClr val="tx1">
                    <a:lumMod val="50000"/>
                    <a:lumOff val="50000"/>
                  </a:schemeClr>
                </a:solidFill>
                <a:latin typeface="Arial"/>
                <a:ea typeface="Arial"/>
                <a:cs typeface="Arial"/>
              </a:rPr>
              <a:t>Votre ouïe et odorat sont améliorés au delà de la limite humaine.</a:t>
            </a:r>
            <a:endParaRPr lang="fr-FR" sz="800" b="0" i="0" u="none" strike="noStrike" cap="none" spc="0">
              <a:solidFill>
                <a:schemeClr val="tx1">
                  <a:lumMod val="50000"/>
                  <a:lumOff val="50000"/>
                </a:schemeClr>
              </a:solidFill>
              <a:latin typeface="Arial"/>
              <a:ea typeface="Arial"/>
              <a:cs typeface="Arial"/>
            </a:endParaRPr>
          </a:p>
          <a:p>
            <a:pPr marL="184750" indent="-184750">
              <a:buFont typeface="Arial"/>
              <a:buChar char="•"/>
              <a:defRPr/>
            </a:pPr>
            <a:r>
              <a:rPr lang="fr-FR" sz="800" b="0" i="0" u="none" strike="noStrike" cap="none" spc="0">
                <a:solidFill>
                  <a:schemeClr val="tx1">
                    <a:lumMod val="50000"/>
                    <a:lumOff val="50000"/>
                  </a:schemeClr>
                </a:solidFill>
                <a:latin typeface="Arial"/>
                <a:ea typeface="Arial"/>
                <a:cs typeface="Arial"/>
              </a:rPr>
              <a:t>Vous subissez un malus de -50 à votre résistance physique contre l’argent ou l’aconit.</a:t>
            </a:r>
            <a:r>
              <a:rPr lang="fr-FR" sz="800" b="0" i="0" u="none" strike="noStrike" cap="none" spc="0">
                <a:solidFill>
                  <a:schemeClr val="tx1">
                    <a:lumMod val="50000"/>
                    <a:lumOff val="50000"/>
                  </a:schemeClr>
                </a:solidFill>
                <a:latin typeface="Arial"/>
                <a:cs typeface="Arial"/>
              </a:rPr>
              <a:t> </a:t>
            </a:r>
            <a:endParaRPr lang="fr-FR" sz="800" b="0" i="0" u="none" strike="noStrike" cap="none" spc="0">
              <a:solidFill>
                <a:schemeClr val="tx1">
                  <a:lumMod val="50000"/>
                  <a:lumOff val="50000"/>
                </a:schemeClr>
              </a:solidFill>
              <a:latin typeface="Arial"/>
              <a:cs typeface="Arial"/>
            </a:endParaRPr>
          </a:p>
          <a:p>
            <a:pPr marL="184750" indent="-184750">
              <a:buFont typeface="Arial"/>
              <a:buChar char="•"/>
              <a:defRPr/>
            </a:pPr>
            <a:r>
              <a:rPr lang="fr-FR" sz="800" b="0" i="0" u="none" strike="noStrike" cap="none" spc="0">
                <a:solidFill>
                  <a:schemeClr val="tx1">
                    <a:lumMod val="50000"/>
                    <a:lumOff val="50000"/>
                  </a:schemeClr>
                </a:solidFill>
                <a:latin typeface="Arial"/>
                <a:ea typeface="Arial"/>
                <a:cs typeface="Arial"/>
              </a:rPr>
              <a:t>Vous pouvez guérir d'un trauma physique à chaque nuit de sommeil.</a:t>
            </a:r>
            <a:endParaRPr lang="fr-FR" sz="800" b="0" i="0" u="none" strike="noStrike" cap="none" spc="0">
              <a:solidFill>
                <a:schemeClr val="tx1">
                  <a:lumMod val="50000"/>
                  <a:lumOff val="50000"/>
                </a:schemeClr>
              </a:solidFill>
              <a:latin typeface="Arial"/>
              <a:cs typeface="Arial"/>
            </a:endParaRPr>
          </a:p>
        </p:txBody>
      </p:sp>
      <p:sp>
        <p:nvSpPr>
          <p:cNvPr id="1627793609" name=""/>
          <p:cNvSpPr/>
          <p:nvPr/>
        </p:nvSpPr>
        <p:spPr bwMode="auto">
          <a:xfrm>
            <a:off x="3282427" y="22347"/>
            <a:ext cx="3571425"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Georgia"/>
                <a:ea typeface="Georgia"/>
                <a:cs typeface="Georgia"/>
              </a:rPr>
              <a:t>Les </a:t>
            </a:r>
            <a:r>
              <a:rPr sz="2200" b="1">
                <a:solidFill>
                  <a:srgbClr val="BFBFBF"/>
                </a:solidFill>
                <a:latin typeface="Georgia"/>
                <a:ea typeface="Georgia"/>
                <a:cs typeface="Georgia"/>
              </a:rPr>
              <a:t>monstres </a:t>
            </a:r>
            <a:r>
              <a:rPr sz="1600">
                <a:solidFill>
                  <a:srgbClr val="BFBFBF"/>
                </a:solidFill>
                <a:latin typeface="Georgia"/>
                <a:ea typeface="Georgia"/>
                <a:cs typeface="Georgia"/>
              </a:rPr>
              <a:t>que nous sommes</a:t>
            </a:r>
            <a:endParaRPr sz="2000">
              <a:solidFill>
                <a:srgbClr val="BFBFBF"/>
              </a:solidFill>
              <a:latin typeface="Georgia"/>
              <a:cs typeface="Georgia"/>
            </a:endParaRPr>
          </a:p>
        </p:txBody>
      </p:sp>
      <p:sp>
        <p:nvSpPr>
          <p:cNvPr id="1124359758" name="Flèche : pentagone 1610574377"/>
          <p:cNvSpPr/>
          <p:nvPr/>
        </p:nvSpPr>
        <p:spPr bwMode="auto">
          <a:xfrm>
            <a:off x="5935042" y="61423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81938602" name="Flèche : pentagone 463861063"/>
          <p:cNvSpPr/>
          <p:nvPr/>
        </p:nvSpPr>
        <p:spPr bwMode="auto">
          <a:xfrm>
            <a:off x="6123817" y="61423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32080416" name="Flèche : pentagone 272004907"/>
          <p:cNvSpPr/>
          <p:nvPr/>
        </p:nvSpPr>
        <p:spPr bwMode="auto">
          <a:xfrm>
            <a:off x="6312600" y="61423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95804984" name="Connecteur droit 1942366049"/>
          <p:cNvCxnSpPr/>
          <p:nvPr/>
        </p:nvCxnSpPr>
        <p:spPr bwMode="auto">
          <a:xfrm flipV="1">
            <a:off x="-56173" y="361948"/>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50927969" name="ZoneTexte 483029020"/>
          <p:cNvSpPr txBox="1"/>
          <p:nvPr/>
        </p:nvSpPr>
        <p:spPr bwMode="auto">
          <a:xfrm>
            <a:off x="972" y="178887"/>
            <a:ext cx="477656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Pouvoir des Sorcières</a:t>
            </a:r>
            <a:endParaRPr/>
          </a:p>
        </p:txBody>
      </p:sp>
      <p:cxnSp>
        <p:nvCxnSpPr>
          <p:cNvPr id="198392764" name="Connecteur droit 626166318"/>
          <p:cNvCxnSpPr/>
          <p:nvPr/>
        </p:nvCxnSpPr>
        <p:spPr bwMode="auto">
          <a:xfrm flipV="1">
            <a:off x="-56170" y="2266945"/>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57162947" name="ZoneTexte 2021489157"/>
          <p:cNvSpPr txBox="1"/>
          <p:nvPr/>
        </p:nvSpPr>
        <p:spPr bwMode="auto">
          <a:xfrm>
            <a:off x="-8544" y="2083882"/>
            <a:ext cx="294829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Le Livre des Ombres</a:t>
            </a:r>
            <a:endParaRPr/>
          </a:p>
        </p:txBody>
      </p:sp>
      <p:cxnSp>
        <p:nvCxnSpPr>
          <p:cNvPr id="1532053423" name="Connecteur droit 1991074862"/>
          <p:cNvCxnSpPr/>
          <p:nvPr/>
        </p:nvCxnSpPr>
        <p:spPr bwMode="auto">
          <a:xfrm flipV="1">
            <a:off x="3252186" y="6280263"/>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208165" name="ZoneTexte 1094835336"/>
          <p:cNvSpPr txBox="1"/>
          <p:nvPr/>
        </p:nvSpPr>
        <p:spPr bwMode="auto">
          <a:xfrm flipH="0" flipV="0">
            <a:off x="3081033" y="6412831"/>
            <a:ext cx="220589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produisez un acte d'hubris magique inconsidéré ou non maîtrisé</a:t>
            </a:r>
            <a:r>
              <a:rPr sz="800">
                <a:solidFill>
                  <a:schemeClr val="tx1">
                    <a:lumMod val="50000"/>
                    <a:lumOff val="50000"/>
                  </a:schemeClr>
                </a:solidFill>
              </a:rPr>
              <a:t>.</a:t>
            </a:r>
            <a:endParaRPr/>
          </a:p>
        </p:txBody>
      </p:sp>
      <p:sp>
        <p:nvSpPr>
          <p:cNvPr id="711139754" name="Rectangle : avec coins arrondis en haut 1574209032"/>
          <p:cNvSpPr/>
          <p:nvPr/>
        </p:nvSpPr>
        <p:spPr bwMode="auto">
          <a:xfrm rot="5399942">
            <a:off x="5223843" y="653302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55469956" name="Flèche : pentagone 521086653"/>
          <p:cNvSpPr/>
          <p:nvPr/>
        </p:nvSpPr>
        <p:spPr bwMode="auto">
          <a:xfrm>
            <a:off x="5793890" y="652043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65981780" name="Flèche : pentagone 1507310733"/>
          <p:cNvSpPr/>
          <p:nvPr/>
        </p:nvSpPr>
        <p:spPr bwMode="auto">
          <a:xfrm>
            <a:off x="5982669" y="652043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97259083" name="Flèche : pentagone 732388424"/>
          <p:cNvSpPr/>
          <p:nvPr/>
        </p:nvSpPr>
        <p:spPr bwMode="auto">
          <a:xfrm>
            <a:off x="6171444" y="652043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5324915" name="Flèche : pentagone 326874465"/>
          <p:cNvSpPr/>
          <p:nvPr/>
        </p:nvSpPr>
        <p:spPr bwMode="auto">
          <a:xfrm>
            <a:off x="6360220" y="652043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81311713" name="Flèche : pentagone 2090650957"/>
          <p:cNvSpPr/>
          <p:nvPr/>
        </p:nvSpPr>
        <p:spPr bwMode="auto">
          <a:xfrm>
            <a:off x="6548995" y="652043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39690917" name="ZoneTexte 1374103996"/>
          <p:cNvSpPr txBox="1"/>
          <p:nvPr/>
        </p:nvSpPr>
        <p:spPr bwMode="auto">
          <a:xfrm flipH="0" flipV="0">
            <a:off x="3252177" y="7134399"/>
            <a:ext cx="3602394" cy="27740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d’hubris cochée entraîne un </a:t>
            </a:r>
            <a:r>
              <a:rPr sz="800" b="1">
                <a:solidFill>
                  <a:schemeClr val="tx1">
                    <a:lumMod val="50000"/>
                    <a:lumOff val="50000"/>
                  </a:schemeClr>
                </a:solidFill>
              </a:rPr>
              <a:t>malus de -10 à la maîtrise de soi</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mn-lt"/>
                <a:ea typeface="+mn-ea"/>
                <a:cs typeface="+mn-cs"/>
              </a:rPr>
              <a:t>Après une épreuve de maîtrise de soi échouée, cochez une case d’hubris. </a:t>
            </a:r>
            <a:r>
              <a:rPr lang="fr-FR" sz="800" b="0" i="0" u="none" strike="noStrike" cap="none" spc="0">
                <a:solidFill>
                  <a:schemeClr val="tx1">
                    <a:lumMod val="50000"/>
                    <a:lumOff val="50000"/>
                  </a:schemeClr>
                </a:solidFill>
                <a:latin typeface="Arial"/>
                <a:ea typeface="Arial"/>
                <a:cs typeface="Arial"/>
              </a:rPr>
              <a:t>Si vous réussissez un choc de maîtrise de soi, cochez une case d’hubris. Si vous échouez à un choc de maîtrise de soi, cochez une case de corruption. </a:t>
            </a:r>
            <a:r>
              <a:rPr lang="fr-FR" sz="800" b="0" i="0" u="none" strike="noStrike" cap="none" spc="0">
                <a:solidFill>
                  <a:schemeClr val="tx1">
                    <a:lumMod val="50000"/>
                    <a:lumOff val="50000"/>
                  </a:schemeClr>
                </a:solidFill>
                <a:latin typeface="Arial"/>
                <a:ea typeface="Arial"/>
                <a:cs typeface="Arial"/>
              </a:rPr>
              <a:t>Vous pouvez diminuer votre hubris en méditant pour vous reconnecter à votre nature profonde durant une scène et en pratiquant un rituel de purification.</a:t>
            </a:r>
            <a:endParaRPr lang="fr-FR" sz="800" b="0" i="0" u="none" strike="noStrike" cap="none" spc="0">
              <a:solidFill>
                <a:schemeClr val="tx1">
                  <a:lumMod val="50000"/>
                  <a:lumOff val="50000"/>
                </a:schemeClr>
              </a:solidFill>
              <a:latin typeface="Arial"/>
              <a:ea typeface="Arial"/>
              <a:cs typeface="Aria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une case de corruption, les marques deviennent visibles sur votre corps : veines noires, yeux cernés et injectés de sang, aura de danger, etc. Au premier niveau de corruption, c’est discret et ne dure qu’une scène</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Au second niveau de corruption, vous </a:t>
            </a:r>
            <a:r>
              <a:rPr sz="800" b="1">
                <a:solidFill>
                  <a:schemeClr val="tx1">
                    <a:lumMod val="50000"/>
                    <a:lumOff val="50000"/>
                  </a:schemeClr>
                </a:solidFill>
              </a:rPr>
              <a:t>perdez 1d6 points de maîtrise de soi.</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Au troisième niveau de corruption, vous êtes contrôlé par votre hubris et devenez un PNJ qui devra être secouru par les autres PJ. </a:t>
            </a:r>
            <a:r>
              <a:rPr sz="800" b="1">
                <a:solidFill>
                  <a:schemeClr val="tx1">
                    <a:lumMod val="50000"/>
                    <a:lumOff val="50000"/>
                  </a:schemeClr>
                </a:solidFill>
              </a:rPr>
              <a:t>Vous perdez également 2d6 points de maîtrise de soi</a:t>
            </a:r>
            <a:r>
              <a:rPr sz="800">
                <a:solidFill>
                  <a:schemeClr val="tx1">
                    <a:lumMod val="50000"/>
                    <a:lumOff val="50000"/>
                  </a:schemeClr>
                </a:solidFill>
              </a:rPr>
              <a:t>.</a:t>
            </a:r>
            <a:br>
              <a:rPr sz="800">
                <a:solidFill>
                  <a:schemeClr val="tx1">
                    <a:lumMod val="50000"/>
                    <a:lumOff val="50000"/>
                  </a:schemeClr>
                </a:solidFill>
              </a:rPr>
            </a:br>
            <a:endParaRPr sz="800">
              <a:solidFill>
                <a:schemeClr val="tx1">
                  <a:lumMod val="50000"/>
                  <a:lumOff val="50000"/>
                </a:schemeClr>
              </a:solidFill>
            </a:endParaRPr>
          </a:p>
          <a:p>
            <a:pPr algn="l">
              <a:defRPr/>
            </a:pPr>
            <a:r>
              <a:rPr sz="800">
                <a:solidFill>
                  <a:schemeClr val="tx1">
                    <a:lumMod val="50000"/>
                    <a:lumOff val="50000"/>
                  </a:schemeClr>
                </a:solidFill>
              </a:rPr>
              <a:t>Tant que vous n’avez pas coché 3 cases de corruption, vous pouvez effacer une case de corruption à chaque début de nouveau scénario.</a:t>
            </a:r>
            <a:endParaRPr/>
          </a:p>
        </p:txBody>
      </p:sp>
      <p:sp>
        <p:nvSpPr>
          <p:cNvPr id="612633306" name="ZoneTexte 1748705365"/>
          <p:cNvSpPr txBox="1"/>
          <p:nvPr/>
        </p:nvSpPr>
        <p:spPr bwMode="auto">
          <a:xfrm>
            <a:off x="3296619" y="6097203"/>
            <a:ext cx="228146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Hubris &amp; Corruption</a:t>
            </a:r>
            <a:endParaRPr/>
          </a:p>
        </p:txBody>
      </p:sp>
      <p:cxnSp>
        <p:nvCxnSpPr>
          <p:cNvPr id="1121885948" name="Connecteur droit 1556830908"/>
          <p:cNvCxnSpPr/>
          <p:nvPr/>
        </p:nvCxnSpPr>
        <p:spPr bwMode="auto">
          <a:xfrm flipV="1">
            <a:off x="-37125" y="5175243"/>
            <a:ext cx="3190874"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2618732" name="ZoneTexte 409639257"/>
          <p:cNvSpPr txBox="1"/>
          <p:nvPr/>
        </p:nvSpPr>
        <p:spPr bwMode="auto">
          <a:xfrm>
            <a:off x="-5859" y="4992179"/>
            <a:ext cx="2105049"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Utiliser le Pouvoir</a:t>
            </a:r>
            <a:endParaRPr sz="1800" b="0">
              <a:solidFill>
                <a:schemeClr val="tx1">
                  <a:lumMod val="75000"/>
                  <a:lumOff val="25000"/>
                </a:schemeClr>
              </a:solidFill>
            </a:endParaRPr>
          </a:p>
        </p:txBody>
      </p:sp>
      <p:sp>
        <p:nvSpPr>
          <p:cNvPr id="930512383" name="ZoneTexte 1168472887"/>
          <p:cNvSpPr txBox="1"/>
          <p:nvPr/>
        </p:nvSpPr>
        <p:spPr bwMode="auto">
          <a:xfrm flipH="0" flipV="0">
            <a:off x="972" y="2380332"/>
            <a:ext cx="3333296" cy="308000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Sortilèges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a:t>
            </a:r>
            <a:br>
              <a:rPr lang="fr-FR" sz="12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a:t>
            </a:r>
            <a:br>
              <a:rPr lang="fr-FR" sz="12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a:t>
            </a:r>
            <a:br>
              <a:rPr lang="fr-FR" sz="12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a:t>
            </a:r>
            <a:r>
              <a:rPr lang="fr-FR" sz="1100" b="0" i="0" u="none" strike="noStrike" cap="none" spc="0">
                <a:solidFill>
                  <a:schemeClr val="bg2">
                    <a:lumMod val="90000"/>
                  </a:schemeClr>
                </a:solidFill>
                <a:latin typeface="Arial"/>
                <a:ea typeface="Arial"/>
                <a:cs typeface="Arial"/>
              </a:rPr>
              <a:t>___________________</a:t>
            </a:r>
            <a:br>
              <a:rPr lang="fr-FR" sz="10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endParaRPr/>
          </a:p>
        </p:txBody>
      </p:sp>
      <p:sp>
        <p:nvSpPr>
          <p:cNvPr id="419458295" name="ZoneTexte 114796530"/>
          <p:cNvSpPr txBox="1"/>
          <p:nvPr/>
        </p:nvSpPr>
        <p:spPr bwMode="auto">
          <a:xfrm flipH="0" flipV="0">
            <a:off x="3274357" y="2466922"/>
            <a:ext cx="3637910" cy="370270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______________________________________________________________________________________</a:t>
            </a:r>
            <a:br>
              <a:rPr lang="fr-FR" sz="11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______________________________________________________________________________________</a:t>
            </a:r>
            <a:br>
              <a:rPr lang="fr-FR" sz="11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______________________________________________________________________________________</a:t>
            </a:r>
            <a:br>
              <a:rPr lang="fr-FR" sz="11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a:t>
            </a:r>
            <a:r>
              <a:rPr lang="fr-FR" sz="1100" b="0" i="0" u="none" strike="noStrike" cap="none" spc="0">
                <a:solidFill>
                  <a:schemeClr val="bg2">
                    <a:lumMod val="90000"/>
                  </a:schemeClr>
                </a:solidFill>
                <a:latin typeface="Arial"/>
                <a:ea typeface="Arial"/>
                <a:cs typeface="Arial"/>
              </a:rPr>
              <a:t>___________________________________</a:t>
            </a:r>
            <a:br>
              <a:rPr lang="fr-FR" sz="11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______________________________________________________________________________________</a:t>
            </a:r>
            <a:br>
              <a:rPr lang="fr-FR" sz="1100" b="0" i="0" u="none" strike="noStrike" cap="none" spc="0">
                <a:solidFill>
                  <a:schemeClr val="bg2">
                    <a:lumMod val="90000"/>
                  </a:schemeClr>
                </a:solidFill>
                <a:latin typeface="Arial"/>
                <a:ea typeface="Arial"/>
                <a:cs typeface="Arial"/>
              </a:rPr>
            </a:br>
            <a:br>
              <a:rPr lang="fr-FR" sz="300" b="0" i="0" u="none" strike="noStrike" cap="none" spc="0">
                <a:solidFill>
                  <a:schemeClr val="bg2">
                    <a:lumMod val="90000"/>
                  </a:schemeClr>
                </a:solidFill>
                <a:latin typeface="Arial"/>
                <a:ea typeface="Arial"/>
                <a:cs typeface="Arial"/>
              </a:rPr>
            </a:br>
            <a:r>
              <a:rPr lang="fr-FR" sz="1100" b="1" i="0" u="none" strike="noStrike" cap="none" spc="0">
                <a:solidFill>
                  <a:schemeClr val="tx1">
                    <a:lumMod val="65000"/>
                    <a:lumOff val="35000"/>
                  </a:schemeClr>
                </a:solidFill>
                <a:latin typeface="Arial"/>
                <a:ea typeface="Arial"/>
                <a:cs typeface="Arial"/>
              </a:rPr>
              <a:t>⚝</a:t>
            </a:r>
            <a:r>
              <a:rPr lang="fr-FR" sz="1100" b="0" i="0" u="none" strike="noStrike" cap="none" spc="0">
                <a:solidFill>
                  <a:schemeClr val="bg2">
                    <a:lumMod val="90000"/>
                  </a:schemeClr>
                </a:solidFill>
                <a:latin typeface="Arial"/>
                <a:ea typeface="Arial"/>
                <a:cs typeface="Arial"/>
              </a:rPr>
              <a:t>___________________________________________________________________</a:t>
            </a:r>
            <a:r>
              <a:rPr lang="fr-FR" sz="1100" b="0" i="0" u="none" strike="noStrike" cap="none" spc="0">
                <a:solidFill>
                  <a:schemeClr val="bg2">
                    <a:lumMod val="90000"/>
                  </a:schemeClr>
                </a:solidFill>
                <a:latin typeface="Arial"/>
                <a:ea typeface="Arial"/>
                <a:cs typeface="Arial"/>
              </a:rPr>
              <a:t>___________________</a:t>
            </a:r>
            <a:endParaRPr sz="1200" b="0" i="0" u="none" strike="noStrike" cap="none" spc="0">
              <a:solidFill>
                <a:schemeClr val="bg2">
                  <a:lumMod val="90000"/>
                </a:schemeClr>
              </a:solidFill>
              <a:latin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sortilège, considérez que chaque sortilège connu occupe 10% des chances d’obtention.</a:t>
            </a:r>
            <a:endParaRPr sz="1000">
              <a:solidFill>
                <a:schemeClr val="tx1">
                  <a:lumMod val="50000"/>
                  <a:lumOff val="50000"/>
                </a:schemeClr>
              </a:solidFill>
            </a:endParaRPr>
          </a:p>
        </p:txBody>
      </p:sp>
      <p:sp>
        <p:nvSpPr>
          <p:cNvPr id="1119647531" name="ZoneTexte 1085068195"/>
          <p:cNvSpPr txBox="1"/>
          <p:nvPr/>
        </p:nvSpPr>
        <p:spPr bwMode="auto">
          <a:xfrm flipH="0" flipV="0">
            <a:off x="972" y="5318609"/>
            <a:ext cx="3296367" cy="4343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900"/>
              <a:t>Ressentir</a:t>
            </a:r>
            <a:r>
              <a:rPr sz="900"/>
              <a:t> le </a:t>
            </a:r>
            <a:r>
              <a:rPr sz="900"/>
              <a:t>Pouvoir</a:t>
            </a:r>
            <a:r>
              <a:rPr sz="900"/>
              <a:t> :</a:t>
            </a:r>
            <a:r>
              <a:rPr sz="900">
                <a:solidFill>
                  <a:schemeClr val="tx1">
                    <a:lumMod val="50000"/>
                    <a:lumOff val="50000"/>
                  </a:schemeClr>
                </a:solidFill>
              </a:rPr>
              <a:t> Vous </a:t>
            </a:r>
            <a:r>
              <a:rPr sz="900">
                <a:solidFill>
                  <a:schemeClr val="tx1">
                    <a:lumMod val="50000"/>
                    <a:lumOff val="50000"/>
                  </a:schemeClr>
                </a:solidFill>
              </a:rPr>
              <a:t>pouvez</a:t>
            </a:r>
            <a:r>
              <a:rPr sz="900">
                <a:solidFill>
                  <a:schemeClr val="tx1">
                    <a:lumMod val="50000"/>
                    <a:lumOff val="50000"/>
                  </a:schemeClr>
                </a:solidFill>
              </a:rPr>
              <a:t> </a:t>
            </a:r>
            <a:r>
              <a:rPr sz="900">
                <a:solidFill>
                  <a:schemeClr val="tx1">
                    <a:lumMod val="50000"/>
                    <a:lumOff val="50000"/>
                  </a:schemeClr>
                </a:solidFill>
              </a:rPr>
              <a:t>ressentir</a:t>
            </a:r>
            <a:r>
              <a:rPr sz="900">
                <a:solidFill>
                  <a:schemeClr val="tx1">
                    <a:lumMod val="50000"/>
                    <a:lumOff val="50000"/>
                  </a:schemeClr>
                </a:solidFill>
              </a:rPr>
              <a:t> le </a:t>
            </a:r>
            <a:r>
              <a:rPr sz="900">
                <a:solidFill>
                  <a:schemeClr val="tx1">
                    <a:lumMod val="50000"/>
                    <a:lumOff val="50000"/>
                  </a:schemeClr>
                </a:solidFill>
              </a:rPr>
              <a:t>pouvoir</a:t>
            </a:r>
            <a:r>
              <a:rPr sz="900">
                <a:solidFill>
                  <a:schemeClr val="tx1">
                    <a:lumMod val="50000"/>
                    <a:lumOff val="50000"/>
                  </a:schemeClr>
                </a:solidFill>
              </a:rPr>
              <a:t> </a:t>
            </a:r>
            <a:r>
              <a:rPr sz="900">
                <a:solidFill>
                  <a:schemeClr val="tx1">
                    <a:lumMod val="50000"/>
                    <a:lumOff val="50000"/>
                  </a:schemeClr>
                </a:solidFill>
              </a:rPr>
              <a:t>autour</a:t>
            </a:r>
            <a:r>
              <a:rPr sz="900">
                <a:solidFill>
                  <a:schemeClr val="tx1">
                    <a:lumMod val="50000"/>
                    <a:lumOff val="50000"/>
                  </a:schemeClr>
                </a:solidFill>
              </a:rPr>
              <a:t> de vous via un jet de vigilance </a:t>
            </a:r>
            <a:r>
              <a:rPr sz="900">
                <a:solidFill>
                  <a:schemeClr val="tx1">
                    <a:lumMod val="50000"/>
                    <a:lumOff val="50000"/>
                  </a:schemeClr>
                </a:solidFill>
              </a:rPr>
              <a:t>réussi</a:t>
            </a:r>
            <a:r>
              <a:rPr sz="900">
                <a:solidFill>
                  <a:schemeClr val="tx1">
                    <a:lumMod val="50000"/>
                    <a:lumOff val="50000"/>
                  </a:schemeClr>
                </a:solidFill>
              </a:rPr>
              <a:t>. Vous </a:t>
            </a:r>
            <a:r>
              <a:rPr sz="900">
                <a:solidFill>
                  <a:schemeClr val="tx1">
                    <a:lumMod val="50000"/>
                    <a:lumOff val="50000"/>
                  </a:schemeClr>
                </a:solidFill>
              </a:rPr>
              <a:t>aurez</a:t>
            </a:r>
            <a:r>
              <a:rPr sz="900">
                <a:solidFill>
                  <a:schemeClr val="tx1">
                    <a:lumMod val="50000"/>
                    <a:lumOff val="50000"/>
                  </a:schemeClr>
                </a:solidFill>
              </a:rPr>
              <a:t> </a:t>
            </a:r>
            <a:r>
              <a:rPr sz="900">
                <a:solidFill>
                  <a:schemeClr val="tx1">
                    <a:lumMod val="50000"/>
                    <a:lumOff val="50000"/>
                  </a:schemeClr>
                </a:solidFill>
              </a:rPr>
              <a:t>alors</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idée de la puissance du </a:t>
            </a:r>
            <a:r>
              <a:rPr sz="900">
                <a:solidFill>
                  <a:schemeClr val="tx1">
                    <a:lumMod val="50000"/>
                    <a:lumOff val="50000"/>
                  </a:schemeClr>
                </a:solidFill>
              </a:rPr>
              <a:t>pouvoir</a:t>
            </a:r>
            <a:r>
              <a:rPr sz="900">
                <a:solidFill>
                  <a:schemeClr val="tx1">
                    <a:lumMod val="50000"/>
                    <a:lumOff val="50000"/>
                  </a:schemeClr>
                </a:solidFill>
              </a:rPr>
              <a:t> et de sa localisation approximative.</a:t>
            </a:r>
            <a:endParaRPr sz="1600"/>
          </a:p>
          <a:p>
            <a:pPr>
              <a:defRPr/>
            </a:pPr>
            <a:endParaRPr sz="900">
              <a:solidFill>
                <a:schemeClr val="tx1">
                  <a:lumMod val="50000"/>
                  <a:lumOff val="50000"/>
                </a:schemeClr>
              </a:solidFill>
            </a:endParaRPr>
          </a:p>
          <a:p>
            <a:pPr>
              <a:defRPr/>
            </a:pPr>
            <a:r>
              <a:rPr sz="900"/>
              <a:t>Pratiquer</a:t>
            </a:r>
            <a:r>
              <a:rPr sz="900"/>
              <a:t> la magie :</a:t>
            </a:r>
            <a:r>
              <a:rPr sz="900">
                <a:solidFill>
                  <a:schemeClr val="tx1">
                    <a:lumMod val="50000"/>
                    <a:lumOff val="50000"/>
                  </a:schemeClr>
                </a:solidFill>
              </a:rPr>
              <a:t> Lancer un </a:t>
            </a:r>
            <a:r>
              <a:rPr sz="900">
                <a:solidFill>
                  <a:schemeClr val="tx1">
                    <a:lumMod val="50000"/>
                    <a:lumOff val="50000"/>
                  </a:schemeClr>
                </a:solidFill>
              </a:rPr>
              <a:t>sortilège</a:t>
            </a:r>
            <a:r>
              <a:rPr sz="900">
                <a:solidFill>
                  <a:schemeClr val="tx1">
                    <a:lumMod val="50000"/>
                    <a:lumOff val="50000"/>
                  </a:schemeClr>
                </a:solidFill>
              </a:rPr>
              <a:t> </a:t>
            </a:r>
            <a:r>
              <a:rPr sz="900">
                <a:solidFill>
                  <a:schemeClr val="tx1">
                    <a:lumMod val="50000"/>
                    <a:lumOff val="50000"/>
                  </a:schemeClr>
                </a:solidFill>
              </a:rPr>
              <a:t>requiert</a:t>
            </a:r>
            <a:r>
              <a:rPr sz="900">
                <a:solidFill>
                  <a:schemeClr val="tx1">
                    <a:lumMod val="50000"/>
                    <a:lumOff val="50000"/>
                  </a:schemeClr>
                </a:solidFill>
              </a:rPr>
              <a:t> un </a:t>
            </a:r>
            <a:r>
              <a:rPr sz="900">
                <a:solidFill>
                  <a:schemeClr val="tx1">
                    <a:lumMod val="50000"/>
                    <a:lumOff val="50000"/>
                  </a:schemeClr>
                </a:solidFill>
              </a:rPr>
              <a:t>rituel</a:t>
            </a:r>
            <a:r>
              <a:rPr sz="900">
                <a:solidFill>
                  <a:schemeClr val="tx1">
                    <a:lumMod val="50000"/>
                    <a:lumOff val="50000"/>
                  </a:schemeClr>
                </a:solidFill>
              </a:rPr>
              <a:t> devant être mis en scène</a:t>
            </a:r>
            <a:r>
              <a:rPr sz="900">
                <a:solidFill>
                  <a:schemeClr val="tx1">
                    <a:lumMod val="50000"/>
                    <a:lumOff val="50000"/>
                  </a:schemeClr>
                </a:solidFill>
              </a:rPr>
              <a:t>. Un test </a:t>
            </a:r>
            <a:r>
              <a:rPr sz="900">
                <a:solidFill>
                  <a:schemeClr val="tx1">
                    <a:lumMod val="50000"/>
                    <a:lumOff val="50000"/>
                  </a:schemeClr>
                </a:solidFill>
              </a:rPr>
              <a:t>d’occultisme</a:t>
            </a:r>
            <a:r>
              <a:rPr sz="900">
                <a:solidFill>
                  <a:schemeClr val="tx1">
                    <a:lumMod val="50000"/>
                    <a:lumOff val="50000"/>
                  </a:schemeClr>
                </a:solidFill>
              </a:rPr>
              <a:t> doit </a:t>
            </a:r>
            <a:r>
              <a:rPr sz="900">
                <a:solidFill>
                  <a:schemeClr val="tx1">
                    <a:lumMod val="50000"/>
                    <a:lumOff val="50000"/>
                  </a:schemeClr>
                </a:solidFill>
              </a:rPr>
              <a:t>être</a:t>
            </a:r>
            <a:r>
              <a:rPr sz="900">
                <a:solidFill>
                  <a:schemeClr val="tx1">
                    <a:lumMod val="50000"/>
                    <a:lumOff val="50000"/>
                  </a:schemeClr>
                </a:solidFill>
              </a:rPr>
              <a:t> </a:t>
            </a:r>
            <a:r>
              <a:rPr sz="900">
                <a:solidFill>
                  <a:schemeClr val="tx1">
                    <a:lumMod val="50000"/>
                    <a:lumOff val="50000"/>
                  </a:schemeClr>
                </a:solidFill>
              </a:rPr>
              <a:t>réalisé</a:t>
            </a:r>
            <a:r>
              <a:rPr sz="900">
                <a:solidFill>
                  <a:schemeClr val="tx1">
                    <a:lumMod val="50000"/>
                    <a:lumOff val="50000"/>
                  </a:schemeClr>
                </a:solidFill>
              </a:rPr>
              <a:t> pour savoir </a:t>
            </a:r>
            <a:r>
              <a:rPr sz="900">
                <a:solidFill>
                  <a:schemeClr val="tx1">
                    <a:lumMod val="50000"/>
                    <a:lumOff val="50000"/>
                  </a:schemeClr>
                </a:solidFill>
              </a:rPr>
              <a:t>si</a:t>
            </a:r>
            <a:r>
              <a:rPr sz="900">
                <a:solidFill>
                  <a:schemeClr val="tx1">
                    <a:lumMod val="50000"/>
                    <a:lumOff val="50000"/>
                  </a:schemeClr>
                </a:solidFill>
              </a:rPr>
              <a:t> le </a:t>
            </a:r>
            <a:r>
              <a:rPr sz="900">
                <a:solidFill>
                  <a:schemeClr val="tx1">
                    <a:lumMod val="50000"/>
                    <a:lumOff val="50000"/>
                  </a:schemeClr>
                </a:solidFill>
              </a:rPr>
              <a:t>sortilège</a:t>
            </a:r>
            <a:r>
              <a:rPr sz="900">
                <a:solidFill>
                  <a:schemeClr val="tx1">
                    <a:lumMod val="50000"/>
                    <a:lumOff val="50000"/>
                  </a:schemeClr>
                </a:solidFill>
              </a:rPr>
              <a:t> </a:t>
            </a:r>
            <a:r>
              <a:rPr sz="900">
                <a:solidFill>
                  <a:schemeClr val="tx1">
                    <a:lumMod val="50000"/>
                    <a:lumOff val="50000"/>
                  </a:schemeClr>
                </a:solidFill>
              </a:rPr>
              <a:t>opère</a:t>
            </a:r>
            <a:r>
              <a:rPr sz="900">
                <a:solidFill>
                  <a:schemeClr val="tx1">
                    <a:lumMod val="50000"/>
                    <a:lumOff val="50000"/>
                  </a:schemeClr>
                </a:solidFill>
              </a:rPr>
              <a:t>. Si le </a:t>
            </a:r>
            <a:r>
              <a:rPr sz="900">
                <a:solidFill>
                  <a:schemeClr val="tx1">
                    <a:lumMod val="50000"/>
                    <a:lumOff val="50000"/>
                  </a:schemeClr>
                </a:solidFill>
              </a:rPr>
              <a:t>rituel</a:t>
            </a:r>
            <a:r>
              <a:rPr sz="900">
                <a:solidFill>
                  <a:schemeClr val="tx1">
                    <a:lumMod val="50000"/>
                    <a:lumOff val="50000"/>
                  </a:schemeClr>
                </a:solidFill>
              </a:rPr>
              <a:t> de votre livre des ombres ne </a:t>
            </a:r>
            <a:r>
              <a:rPr sz="900">
                <a:solidFill>
                  <a:schemeClr val="tx1">
                    <a:lumMod val="50000"/>
                    <a:lumOff val="50000"/>
                  </a:schemeClr>
                </a:solidFill>
              </a:rPr>
              <a:t>peut</a:t>
            </a:r>
            <a:r>
              <a:rPr sz="900">
                <a:solidFill>
                  <a:schemeClr val="tx1">
                    <a:lumMod val="50000"/>
                    <a:lumOff val="50000"/>
                  </a:schemeClr>
                </a:solidFill>
              </a:rPr>
              <a:t> </a:t>
            </a:r>
            <a:r>
              <a:rPr sz="900">
                <a:solidFill>
                  <a:schemeClr val="tx1">
                    <a:lumMod val="50000"/>
                    <a:lumOff val="50000"/>
                  </a:schemeClr>
                </a:solidFill>
              </a:rPr>
              <a:t>être</a:t>
            </a:r>
            <a:r>
              <a:rPr sz="900">
                <a:solidFill>
                  <a:schemeClr val="tx1">
                    <a:lumMod val="50000"/>
                    <a:lumOff val="50000"/>
                  </a:schemeClr>
                </a:solidFill>
              </a:rPr>
              <a:t> </a:t>
            </a:r>
            <a:r>
              <a:rPr sz="900">
                <a:solidFill>
                  <a:schemeClr val="tx1">
                    <a:lumMod val="50000"/>
                    <a:lumOff val="50000"/>
                  </a:schemeClr>
                </a:solidFill>
              </a:rPr>
              <a:t>correctement</a:t>
            </a:r>
            <a:r>
              <a:rPr sz="900">
                <a:solidFill>
                  <a:schemeClr val="tx1">
                    <a:lumMod val="50000"/>
                    <a:lumOff val="50000"/>
                  </a:schemeClr>
                </a:solidFill>
              </a:rPr>
              <a:t> </a:t>
            </a:r>
            <a:r>
              <a:rPr sz="900">
                <a:solidFill>
                  <a:schemeClr val="tx1">
                    <a:lumMod val="50000"/>
                    <a:lumOff val="50000"/>
                  </a:schemeClr>
                </a:solidFill>
              </a:rPr>
              <a:t>pratiqué</a:t>
            </a:r>
            <a:r>
              <a:rPr sz="900">
                <a:solidFill>
                  <a:schemeClr val="tx1">
                    <a:lumMod val="50000"/>
                    <a:lumOff val="50000"/>
                  </a:schemeClr>
                </a:solidFill>
              </a:rPr>
              <a:t> (manque de temps </a:t>
            </a:r>
            <a:r>
              <a:rPr sz="900">
                <a:solidFill>
                  <a:schemeClr val="tx1">
                    <a:lumMod val="50000"/>
                    <a:lumOff val="50000"/>
                  </a:schemeClr>
                </a:solidFill>
              </a:rPr>
              <a:t>ou</a:t>
            </a:r>
            <a:r>
              <a:rPr sz="900">
                <a:solidFill>
                  <a:schemeClr val="tx1">
                    <a:lumMod val="50000"/>
                    <a:lumOff val="50000"/>
                  </a:schemeClr>
                </a:solidFill>
              </a:rPr>
              <a:t> de matériel) et que le sort opère, cochez une case d’hubris. Si le sort apporte un bonus, celui-ci est de 50.</a:t>
            </a:r>
            <a:endParaRPr sz="900">
              <a:solidFill>
                <a:schemeClr val="tx1">
                  <a:lumMod val="50000"/>
                  <a:lumOff val="50000"/>
                </a:schemeClr>
              </a:solidFill>
            </a:endParaRPr>
          </a:p>
          <a:p>
            <a:pPr>
              <a:defRPr/>
            </a:pPr>
            <a:endParaRPr sz="900">
              <a:solidFill>
                <a:schemeClr val="tx1">
                  <a:lumMod val="50000"/>
                  <a:lumOff val="50000"/>
                </a:schemeClr>
              </a:solidFill>
            </a:endParaRPr>
          </a:p>
          <a:p>
            <a:pPr marL="0" marR="0" indent="0" algn="l">
              <a:lnSpc>
                <a:spcPct val="100000"/>
              </a:lnSpc>
              <a:spcBef>
                <a:spcPts val="0"/>
              </a:spcBef>
              <a:spcAft>
                <a:spcPts val="0"/>
              </a:spcAft>
              <a:defRPr/>
            </a:pPr>
            <a:r>
              <a:rPr lang="fr-FR" sz="900" b="0" i="0" u="none" strike="noStrike" cap="none" spc="0">
                <a:solidFill>
                  <a:schemeClr val="tx1"/>
                </a:solidFill>
                <a:latin typeface="Arial"/>
                <a:ea typeface="Arial"/>
                <a:cs typeface="Arial"/>
              </a:rPr>
              <a:t>Pouvoir instinctif :</a:t>
            </a:r>
            <a:r>
              <a:rPr sz="900">
                <a:solidFill>
                  <a:schemeClr val="tx1">
                    <a:lumMod val="50000"/>
                    <a:lumOff val="50000"/>
                  </a:schemeClr>
                </a:solidFill>
              </a:rPr>
              <a:t> </a:t>
            </a:r>
            <a:r>
              <a:rPr sz="900">
                <a:solidFill>
                  <a:schemeClr val="tx1">
                    <a:lumMod val="50000"/>
                    <a:lumOff val="50000"/>
                  </a:schemeClr>
                </a:solidFill>
              </a:rPr>
              <a:t>Vous pouvez utilisez votre pouvoir de manière instinctif et en</a:t>
            </a:r>
            <a:r>
              <a:rPr lang="fr-FR" sz="900">
                <a:solidFill>
                  <a:schemeClr val="tx1">
                    <a:lumMod val="50000"/>
                    <a:lumOff val="50000"/>
                  </a:schemeClr>
                </a:solidFill>
              </a:rPr>
              <a:t> dehors des rituels de votre livre des ombres. Faites un test d’occultisme pour voir si le pouvoir opère, puis </a:t>
            </a:r>
            <a:r>
              <a:rPr sz="900">
                <a:solidFill>
                  <a:schemeClr val="tx1">
                    <a:lumMod val="50000"/>
                    <a:lumOff val="50000"/>
                  </a:schemeClr>
                </a:solidFill>
              </a:rPr>
              <a:t>effectuez un test de </a:t>
            </a:r>
            <a:r>
              <a:rPr sz="900">
                <a:solidFill>
                  <a:schemeClr val="tx1">
                    <a:lumMod val="50000"/>
                    <a:lumOff val="50000"/>
                  </a:schemeClr>
                </a:solidFill>
              </a:rPr>
              <a:t>Maîtrise de soi</a:t>
            </a:r>
            <a:r>
              <a:rPr sz="900">
                <a:solidFill>
                  <a:schemeClr val="tx1">
                    <a:lumMod val="50000"/>
                    <a:lumOff val="50000"/>
                  </a:schemeClr>
                </a:solidFill>
              </a:rPr>
              <a:t>. </a:t>
            </a:r>
            <a:endParaRPr sz="900">
              <a:solidFill>
                <a:schemeClr val="tx1">
                  <a:lumMod val="50000"/>
                  <a:lumOff val="50000"/>
                </a:schemeClr>
              </a:solidFill>
            </a:endParaRPr>
          </a:p>
          <a:p>
            <a:pPr marL="0" marR="0" indent="0" algn="l">
              <a:lnSpc>
                <a:spcPct val="100000"/>
              </a:lnSpc>
              <a:spcBef>
                <a:spcPts val="0"/>
              </a:spcBef>
              <a:spcAft>
                <a:spcPts val="0"/>
              </a:spcAft>
              <a:defRPr/>
            </a:pPr>
            <a:endParaRPr sz="900">
              <a:solidFill>
                <a:schemeClr val="tx1">
                  <a:lumMod val="50000"/>
                  <a:lumOff val="50000"/>
                </a:schemeClr>
              </a:solidFill>
            </a:endParaRPr>
          </a:p>
          <a:p>
            <a:pPr marL="0" marR="0" indent="0" algn="l">
              <a:lnSpc>
                <a:spcPct val="100000"/>
              </a:lnSpc>
              <a:spcBef>
                <a:spcPts val="0"/>
              </a:spcBef>
              <a:spcAft>
                <a:spcPts val="0"/>
              </a:spcAft>
              <a:defRPr/>
            </a:pPr>
            <a:r>
              <a:rPr lang="fr-FR" sz="900" b="0" i="0" u="none" strike="noStrike" cap="none" spc="0">
                <a:solidFill>
                  <a:schemeClr val="tx1"/>
                </a:solidFill>
                <a:latin typeface="Arial"/>
                <a:ea typeface="Arial"/>
                <a:cs typeface="Arial"/>
              </a:rPr>
              <a:t>Magie noire </a:t>
            </a:r>
            <a:r>
              <a:rPr sz="900">
                <a:solidFill>
                  <a:schemeClr val="tx1">
                    <a:lumMod val="50000"/>
                    <a:lumOff val="50000"/>
                  </a:schemeClr>
                </a:solidFill>
              </a:rPr>
              <a:t>: </a:t>
            </a:r>
            <a:r>
              <a:rPr lang="fr-FR" sz="900" b="0" i="0" u="none" strike="noStrike" cap="none" spc="0">
                <a:solidFill>
                  <a:schemeClr val="tx1">
                    <a:lumMod val="50000"/>
                    <a:lumOff val="50000"/>
                  </a:schemeClr>
                </a:solidFill>
                <a:latin typeface="+mn-lt"/>
                <a:ea typeface="+mn-ea"/>
                <a:cs typeface="+mn-cs"/>
              </a:rPr>
              <a:t>Invoquer la magie noire fait automatiquement cocher une case de corruption.</a:t>
            </a:r>
            <a:r>
              <a:rPr sz="900">
                <a:solidFill>
                  <a:schemeClr val="tx1">
                    <a:lumMod val="50000"/>
                    <a:lumOff val="50000"/>
                  </a:schemeClr>
                </a:solidFill>
              </a:rPr>
              <a:t> Toute magie réalisée à l’encontre de quelqu’un d’autre, sous le coup de la colère, par vengeance ou par jalousie est considérée comme noire.</a:t>
            </a:r>
            <a:endParaRPr sz="900">
              <a:solidFill>
                <a:schemeClr val="tx1">
                  <a:lumMod val="50000"/>
                  <a:lumOff val="50000"/>
                </a:schemeClr>
              </a:solidFill>
            </a:endParaRPr>
          </a:p>
          <a:p>
            <a:pPr marL="0" marR="0" indent="0" algn="l">
              <a:lnSpc>
                <a:spcPct val="100000"/>
              </a:lnSpc>
              <a:spcBef>
                <a:spcPts val="0"/>
              </a:spcBef>
              <a:spcAft>
                <a:spcPts val="0"/>
              </a:spcAft>
              <a:defRPr/>
            </a:pPr>
            <a:br>
              <a:rPr sz="900">
                <a:solidFill>
                  <a:schemeClr val="tx1">
                    <a:lumMod val="50000"/>
                    <a:lumOff val="50000"/>
                  </a:schemeClr>
                </a:solidFill>
              </a:rPr>
            </a:br>
            <a:r>
              <a:rPr lang="fr-FR" sz="900" b="0" i="0" u="none" strike="noStrike" cap="none" spc="0">
                <a:solidFill>
                  <a:schemeClr val="tx1"/>
                </a:solidFill>
                <a:latin typeface="Arial"/>
                <a:ea typeface="Arial"/>
                <a:cs typeface="Arial"/>
              </a:rPr>
              <a:t>Rituels de convent</a:t>
            </a:r>
            <a:r>
              <a:rPr sz="900">
                <a:solidFill>
                  <a:schemeClr val="tx1">
                    <a:lumMod val="50000"/>
                    <a:lumOff val="50000"/>
                  </a:schemeClr>
                </a:solidFill>
              </a:rPr>
              <a:t> : Réaliser un rituel en convent permet de cumuler plusieurs effets de sorts et d’obtenir des bonus grâce à la participation des autres sorcières (détails dans le manuel de jeu).</a:t>
            </a:r>
            <a:endParaRPr sz="900">
              <a:solidFill>
                <a:schemeClr val="tx1">
                  <a:lumMod val="50000"/>
                  <a:lumOff val="50000"/>
                </a:schemeClr>
              </a:solidFill>
            </a:endParaRPr>
          </a:p>
          <a:p>
            <a:pPr>
              <a:defRPr/>
            </a:pPr>
            <a:endParaRPr sz="900">
              <a:solidFill>
                <a:schemeClr val="tx1">
                  <a:lumMod val="50000"/>
                  <a:lumOff val="50000"/>
                </a:schemeClr>
              </a:solidFill>
            </a:endParaRPr>
          </a:p>
          <a:p>
            <a:pPr>
              <a:defRPr/>
            </a:pPr>
            <a:r>
              <a:rPr sz="900"/>
              <a:t>Sorts </a:t>
            </a:r>
            <a:r>
              <a:rPr sz="900"/>
              <a:t>simultanés</a:t>
            </a:r>
            <a:r>
              <a:rPr sz="900"/>
              <a:t> : </a:t>
            </a:r>
            <a:r>
              <a:rPr sz="900">
                <a:solidFill>
                  <a:schemeClr val="tx1">
                    <a:lumMod val="50000"/>
                    <a:lumOff val="50000"/>
                  </a:schemeClr>
                </a:solidFill>
              </a:rPr>
              <a:t>Vous </a:t>
            </a:r>
            <a:r>
              <a:rPr sz="900">
                <a:solidFill>
                  <a:schemeClr val="tx1">
                    <a:lumMod val="50000"/>
                    <a:lumOff val="50000"/>
                  </a:schemeClr>
                </a:solidFill>
              </a:rPr>
              <a:t>pouvez</a:t>
            </a:r>
            <a:r>
              <a:rPr sz="900">
                <a:solidFill>
                  <a:schemeClr val="tx1">
                    <a:lumMod val="50000"/>
                    <a:lumOff val="50000"/>
                  </a:schemeClr>
                </a:solidFill>
              </a:rPr>
              <a:t> </a:t>
            </a:r>
            <a:r>
              <a:rPr sz="900">
                <a:solidFill>
                  <a:schemeClr val="tx1">
                    <a:lumMod val="50000"/>
                    <a:lumOff val="50000"/>
                  </a:schemeClr>
                </a:solidFill>
              </a:rPr>
              <a:t>maintenir</a:t>
            </a:r>
            <a:r>
              <a:rPr sz="900">
                <a:solidFill>
                  <a:schemeClr val="tx1">
                    <a:lumMod val="50000"/>
                    <a:lumOff val="50000"/>
                  </a:schemeClr>
                </a:solidFill>
              </a:rPr>
              <a:t> un </a:t>
            </a:r>
            <a:r>
              <a:rPr sz="900">
                <a:solidFill>
                  <a:schemeClr val="tx1">
                    <a:lumMod val="50000"/>
                    <a:lumOff val="50000"/>
                  </a:schemeClr>
                </a:solidFill>
              </a:rPr>
              <a:t>sorts </a:t>
            </a:r>
            <a:r>
              <a:rPr sz="900">
                <a:solidFill>
                  <a:schemeClr val="tx1">
                    <a:lumMod val="50000"/>
                    <a:lumOff val="50000"/>
                  </a:schemeClr>
                </a:solidFill>
              </a:rPr>
              <a:t>actifs</a:t>
            </a:r>
            <a:r>
              <a:rPr sz="900">
                <a:solidFill>
                  <a:schemeClr val="tx1">
                    <a:lumMod val="50000"/>
                    <a:lumOff val="50000"/>
                  </a:schemeClr>
                </a:solidFill>
              </a:rPr>
              <a:t> </a:t>
            </a:r>
            <a:r>
              <a:rPr sz="900">
                <a:solidFill>
                  <a:schemeClr val="tx1">
                    <a:lumMod val="50000"/>
                    <a:lumOff val="50000"/>
                  </a:schemeClr>
                </a:solidFill>
              </a:rPr>
              <a:t>simultané plus un </a:t>
            </a:r>
            <a:r>
              <a:rPr sz="900">
                <a:solidFill>
                  <a:schemeClr val="tx1">
                    <a:lumMod val="50000"/>
                    <a:lumOff val="50000"/>
                  </a:schemeClr>
                </a:solidFill>
              </a:rPr>
              <a:t>pour chaque tranche de 20 points d’occultisme</a:t>
            </a:r>
            <a:r>
              <a:rPr sz="900">
                <a:solidFill>
                  <a:schemeClr val="tx1">
                    <a:lumMod val="50000"/>
                    <a:lumOff val="50000"/>
                  </a:schemeClr>
                </a:solidFill>
              </a:rPr>
              <a:t>. </a:t>
            </a:r>
            <a:r>
              <a:rPr sz="900">
                <a:solidFill>
                  <a:schemeClr val="tx1">
                    <a:lumMod val="50000"/>
                    <a:lumOff val="50000"/>
                  </a:schemeClr>
                </a:solidFill>
              </a:rPr>
              <a:t>Dépasser</a:t>
            </a:r>
            <a:r>
              <a:rPr sz="900">
                <a:solidFill>
                  <a:schemeClr val="tx1">
                    <a:lumMod val="50000"/>
                    <a:lumOff val="50000"/>
                  </a:schemeClr>
                </a:solidFill>
              </a:rPr>
              <a:t> la </a:t>
            </a:r>
            <a:r>
              <a:rPr sz="900">
                <a:solidFill>
                  <a:schemeClr val="tx1">
                    <a:lumMod val="50000"/>
                    <a:lumOff val="50000"/>
                  </a:schemeClr>
                </a:solidFill>
              </a:rPr>
              <a:t>limite</a:t>
            </a:r>
            <a:r>
              <a:rPr sz="900">
                <a:solidFill>
                  <a:schemeClr val="tx1">
                    <a:lumMod val="50000"/>
                    <a:lumOff val="50000"/>
                  </a:schemeClr>
                </a:solidFill>
              </a:rPr>
              <a:t> </a:t>
            </a:r>
            <a:r>
              <a:rPr sz="900">
                <a:solidFill>
                  <a:schemeClr val="tx1">
                    <a:lumMod val="50000"/>
                    <a:lumOff val="50000"/>
                  </a:schemeClr>
                </a:solidFill>
              </a:rPr>
              <a:t>provoque un test de </a:t>
            </a:r>
            <a:r>
              <a:rPr sz="900">
                <a:solidFill>
                  <a:schemeClr val="tx1">
                    <a:lumMod val="50000"/>
                    <a:lumOff val="50000"/>
                  </a:schemeClr>
                </a:solidFill>
              </a:rPr>
              <a:t>maîtrise de soi</a:t>
            </a:r>
            <a:r>
              <a:rPr sz="900">
                <a:solidFill>
                  <a:schemeClr val="tx1">
                    <a:lumMod val="50000"/>
                    <a:lumOff val="50000"/>
                  </a:schemeClr>
                </a:solidFill>
              </a:rPr>
              <a:t>.</a:t>
            </a:r>
            <a:endParaRPr/>
          </a:p>
        </p:txBody>
      </p:sp>
      <p:sp>
        <p:nvSpPr>
          <p:cNvPr id="730980087" name="Étoile : 5 branches 278736380"/>
          <p:cNvSpPr/>
          <p:nvPr/>
        </p:nvSpPr>
        <p:spPr bwMode="auto">
          <a:xfrm>
            <a:off x="2180358" y="9555490"/>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3431757" name="Étoile : 5 branches 1495350449"/>
          <p:cNvSpPr/>
          <p:nvPr/>
        </p:nvSpPr>
        <p:spPr bwMode="auto">
          <a:xfrm>
            <a:off x="2369133" y="9555490"/>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18567353" name="Étoile : 5 branches 79046386"/>
          <p:cNvSpPr/>
          <p:nvPr/>
        </p:nvSpPr>
        <p:spPr bwMode="auto">
          <a:xfrm>
            <a:off x="2557912" y="9555490"/>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41364473" name="Étoile : 5 branches 749256076"/>
          <p:cNvSpPr/>
          <p:nvPr/>
        </p:nvSpPr>
        <p:spPr bwMode="auto">
          <a:xfrm>
            <a:off x="2746687" y="9555490"/>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53054570" name="Étoile : 5 branches 411245083"/>
          <p:cNvSpPr/>
          <p:nvPr/>
        </p:nvSpPr>
        <p:spPr bwMode="auto">
          <a:xfrm>
            <a:off x="2935459" y="9555490"/>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14674204" name="ZoneTexte 496444952"/>
          <p:cNvSpPr txBox="1"/>
          <p:nvPr/>
        </p:nvSpPr>
        <p:spPr bwMode="auto">
          <a:xfrm>
            <a:off x="5805405" y="6304255"/>
            <a:ext cx="1313115"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HUBRIS</a:t>
            </a:r>
            <a:endParaRPr/>
          </a:p>
        </p:txBody>
      </p:sp>
      <p:sp>
        <p:nvSpPr>
          <p:cNvPr id="990088676" name="ZoneTexte 474433989"/>
          <p:cNvSpPr txBox="1"/>
          <p:nvPr/>
        </p:nvSpPr>
        <p:spPr bwMode="auto">
          <a:xfrm>
            <a:off x="5672054" y="6834385"/>
            <a:ext cx="1431156" cy="2746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latin typeface="Arial"/>
                <a:ea typeface="Arial"/>
                <a:cs typeface="Arial"/>
              </a:rPr>
              <a:t>CORRUPTION</a:t>
            </a:r>
            <a:endParaRPr sz="1400"/>
          </a:p>
        </p:txBody>
      </p:sp>
      <p:sp>
        <p:nvSpPr>
          <p:cNvPr id="1171674373" name="ZoneTexte 1"/>
          <p:cNvSpPr txBox="1"/>
          <p:nvPr/>
        </p:nvSpPr>
        <p:spPr bwMode="auto">
          <a:xfrm flipH="0" flipV="0">
            <a:off x="1212" y="480138"/>
            <a:ext cx="3429225" cy="1585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i="1">
                <a:solidFill>
                  <a:schemeClr val="tx1">
                    <a:lumMod val="50000"/>
                    <a:lumOff val="50000"/>
                  </a:schemeClr>
                </a:solidFill>
              </a:rPr>
              <a:t>C</a:t>
            </a:r>
            <a:r>
              <a:rPr lang="fr-FR" sz="900" b="0" i="1" u="none" strike="noStrike" cap="none" spc="0">
                <a:solidFill>
                  <a:schemeClr val="tx1">
                    <a:lumMod val="50000"/>
                    <a:lumOff val="50000"/>
                  </a:schemeClr>
                </a:solidFill>
                <a:latin typeface="Arial"/>
                <a:ea typeface="Arial"/>
                <a:cs typeface="Arial"/>
              </a:rPr>
              <a:t>ertaines familles ont un pouvoir dans le sang, transmis le plus souvent de mères en filles, bien que des hommes puissent également en hériter. Ce pouvoir ne s’exprime que via la magie et offre à ses pratiquantes une puissance remarquable. Les sorcières sont avant tout les pratiquantes d’une tradition magique ayant des pouvoirs bien au delà de la plupart de leurs homologues. </a:t>
            </a:r>
            <a:endParaRPr sz="900" b="0" i="1" u="none" strike="noStrike" cap="none" spc="0">
              <a:solidFill>
                <a:schemeClr val="tx1">
                  <a:lumMod val="50000"/>
                  <a:lumOff val="50000"/>
                </a:schemeClr>
              </a:solidFill>
              <a:latin typeface="Arial"/>
              <a:ea typeface="Arial"/>
              <a:cs typeface="Arial"/>
            </a:endParaRPr>
          </a:p>
          <a:p>
            <a:pPr>
              <a:defRPr/>
            </a:pPr>
            <a:endParaRPr sz="800" b="0" i="1" u="none" strike="noStrike" cap="none" spc="0">
              <a:solidFill>
                <a:schemeClr val="tx1">
                  <a:lumMod val="50000"/>
                  <a:lumOff val="50000"/>
                </a:schemeClr>
              </a:solidFill>
              <a:latin typeface="Arial"/>
              <a:ea typeface="Arial"/>
              <a:cs typeface="Arial"/>
            </a:endParaRPr>
          </a:p>
          <a:p>
            <a:pPr>
              <a:defRPr/>
            </a:pPr>
            <a:r>
              <a:rPr lang="fr-FR" sz="900" b="0" i="1" u="none" strike="noStrike" cap="none" spc="0">
                <a:solidFill>
                  <a:schemeClr val="tx1">
                    <a:lumMod val="50000"/>
                    <a:lumOff val="50000"/>
                  </a:schemeClr>
                </a:solidFill>
                <a:latin typeface="Arial"/>
                <a:ea typeface="Arial"/>
                <a:cs typeface="Arial"/>
              </a:rPr>
              <a:t>Certaines familles s’enorgueillissent du pouvoir de leur lignée tandis que d’autres le cache comme un secret honteux ou ignorent complètement leurs dons.</a:t>
            </a:r>
            <a:endParaRPr sz="1600" i="1"/>
          </a:p>
        </p:txBody>
      </p:sp>
      <p:sp>
        <p:nvSpPr>
          <p:cNvPr id="1555866858" name="ZoneTexte 2"/>
          <p:cNvSpPr txBox="1"/>
          <p:nvPr/>
        </p:nvSpPr>
        <p:spPr bwMode="auto">
          <a:xfrm flipH="0" flipV="0">
            <a:off x="3374465" y="471204"/>
            <a:ext cx="3515148" cy="17072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i="1">
                <a:solidFill>
                  <a:schemeClr val="tx1">
                    <a:lumMod val="50000"/>
                    <a:lumOff val="50000"/>
                  </a:schemeClr>
                </a:solidFill>
              </a:rPr>
              <a:t>Les sorcières sont capables de ressentir l’utilisation du pouvoir dans leurs alentours proches, de quelque nature qu’il soit mais sans grande précision. </a:t>
            </a:r>
            <a:endParaRPr sz="900" b="0" i="1" u="none" strike="noStrike" cap="none" spc="0">
              <a:solidFill>
                <a:schemeClr val="tx1">
                  <a:lumMod val="50000"/>
                  <a:lumOff val="50000"/>
                </a:schemeClr>
              </a:solidFill>
              <a:latin typeface="Arial"/>
              <a:ea typeface="Arial"/>
              <a:cs typeface="Arial"/>
            </a:endParaRPr>
          </a:p>
          <a:p>
            <a:pPr>
              <a:defRPr/>
            </a:pPr>
            <a:endParaRPr sz="800" i="1">
              <a:solidFill>
                <a:schemeClr val="tx1">
                  <a:lumMod val="50000"/>
                  <a:lumOff val="50000"/>
                </a:schemeClr>
              </a:solidFill>
            </a:endParaRPr>
          </a:p>
          <a:p>
            <a:pPr>
              <a:defRPr/>
            </a:pPr>
            <a:r>
              <a:rPr lang="fr-FR" sz="900" b="0" i="1" u="none" strike="noStrike" cap="none" spc="0">
                <a:solidFill>
                  <a:schemeClr val="tx1">
                    <a:lumMod val="50000"/>
                    <a:lumOff val="50000"/>
                  </a:schemeClr>
                </a:solidFill>
                <a:latin typeface="Arial"/>
                <a:ea typeface="Arial"/>
                <a:cs typeface="Arial"/>
              </a:rPr>
              <a:t>Une sorcière pratique généralement sa magie à l’aide de rituels inscrits dans son propre livre des ombres mais elle reste capable d'invoquer le pouvoir de manière instinctif, ce que l’on considère comme un acte d'hubris.</a:t>
            </a:r>
            <a:br>
              <a:rPr lang="en-US" sz="900" i="1">
                <a:solidFill>
                  <a:schemeClr val="tx1">
                    <a:lumMod val="50000"/>
                    <a:lumOff val="50000"/>
                  </a:schemeClr>
                </a:solidFill>
              </a:rPr>
            </a:br>
            <a:endParaRPr sz="800" i="1">
              <a:solidFill>
                <a:schemeClr val="tx1">
                  <a:lumMod val="50000"/>
                  <a:lumOff val="50000"/>
                </a:schemeClr>
              </a:solidFill>
            </a:endParaRPr>
          </a:p>
          <a:p>
            <a:pPr>
              <a:defRPr/>
            </a:pPr>
            <a:r>
              <a:rPr lang="fr-FR" sz="900" i="1">
                <a:solidFill>
                  <a:schemeClr val="tx1">
                    <a:lumMod val="50000"/>
                    <a:lumOff val="50000"/>
                  </a:schemeClr>
                </a:solidFill>
              </a:rPr>
              <a:t>Trop d’actes d’hubris ainsi que la pratique de la magie noire ont un effet corrupteur et une pratiquante qui n’y prend pas garde peut rapidement perdre pied avec la réalité.</a:t>
            </a:r>
            <a:endParaRPr sz="1600" i="1"/>
          </a:p>
        </p:txBody>
      </p:sp>
      <p:sp>
        <p:nvSpPr>
          <p:cNvPr id="821257776" name=""/>
          <p:cNvSpPr/>
          <p:nvPr/>
        </p:nvSpPr>
        <p:spPr bwMode="auto">
          <a:xfrm>
            <a:off x="3282427" y="22347"/>
            <a:ext cx="3571425"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Georgia"/>
                <a:ea typeface="Georgia"/>
                <a:cs typeface="Georgia"/>
              </a:rPr>
              <a:t>Les </a:t>
            </a:r>
            <a:r>
              <a:rPr sz="2200" b="1">
                <a:solidFill>
                  <a:srgbClr val="BFBFBF"/>
                </a:solidFill>
                <a:latin typeface="Georgia"/>
                <a:ea typeface="Georgia"/>
                <a:cs typeface="Georgia"/>
              </a:rPr>
              <a:t>monstres </a:t>
            </a:r>
            <a:r>
              <a:rPr sz="1600">
                <a:solidFill>
                  <a:srgbClr val="BFBFBF"/>
                </a:solidFill>
                <a:latin typeface="Georgia"/>
                <a:ea typeface="Georgia"/>
                <a:cs typeface="Georgia"/>
              </a:rPr>
              <a:t>que nous sommes</a:t>
            </a:r>
            <a:endParaRPr sz="2000">
              <a:solidFill>
                <a:srgbClr val="BFBFBF"/>
              </a:solidFill>
              <a:latin typeface="Georgia"/>
              <a:cs typeface="Georgia"/>
            </a:endParaRPr>
          </a:p>
        </p:txBody>
      </p:sp>
      <p:sp>
        <p:nvSpPr>
          <p:cNvPr id="1747769726" name="Flèche : pentagone 1507310733"/>
          <p:cNvSpPr/>
          <p:nvPr/>
        </p:nvSpPr>
        <p:spPr bwMode="auto">
          <a:xfrm>
            <a:off x="5982669" y="6733050"/>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86558055" name="Flèche : pentagone 732388424"/>
          <p:cNvSpPr/>
          <p:nvPr/>
        </p:nvSpPr>
        <p:spPr bwMode="auto">
          <a:xfrm>
            <a:off x="6171444" y="6733050"/>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69801268" name="Flèche : pentagone 326874465"/>
          <p:cNvSpPr/>
          <p:nvPr/>
        </p:nvSpPr>
        <p:spPr bwMode="auto">
          <a:xfrm>
            <a:off x="6360219" y="6733050"/>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1923796" name="ZoneTexte 273581705"/>
          <p:cNvSpPr txBox="1"/>
          <p:nvPr/>
        </p:nvSpPr>
        <p:spPr bwMode="auto">
          <a:xfrm>
            <a:off x="969" y="6219369"/>
            <a:ext cx="2995119" cy="359217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pouvoir personnel, considérez que chaque pouvoir occupe 40% des chances d’obtention. Un nouveau pouvoir débute avec un score de 50.</a:t>
            </a:r>
            <a:endParaRPr sz="600">
              <a:solidFill>
                <a:schemeClr val="tx1">
                  <a:lumMod val="50000"/>
                  <a:lumOff val="50000"/>
                </a:schemeClr>
              </a:solidFill>
            </a:endParaRPr>
          </a:p>
        </p:txBody>
      </p:sp>
      <p:cxnSp>
        <p:nvCxnSpPr>
          <p:cNvPr id="574028893" name="Connecteur droit 1094832104"/>
          <p:cNvCxnSpPr/>
          <p:nvPr/>
        </p:nvCxnSpPr>
        <p:spPr bwMode="auto">
          <a:xfrm flipV="1">
            <a:off x="-56172" y="361947"/>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87864966" name="ZoneTexte 2078543737"/>
          <p:cNvSpPr txBox="1"/>
          <p:nvPr/>
        </p:nvSpPr>
        <p:spPr bwMode="auto">
          <a:xfrm>
            <a:off x="972" y="178886"/>
            <a:ext cx="47877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Damnation des Vampires</a:t>
            </a:r>
            <a:endParaRPr/>
          </a:p>
        </p:txBody>
      </p:sp>
      <p:cxnSp>
        <p:nvCxnSpPr>
          <p:cNvPr id="1162044449" name="Connecteur droit 853743145"/>
          <p:cNvCxnSpPr/>
          <p:nvPr/>
        </p:nvCxnSpPr>
        <p:spPr bwMode="auto">
          <a:xfrm flipV="1">
            <a:off x="-56171" y="2409821"/>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383574918" name="ZoneTexte 1473119298"/>
          <p:cNvSpPr txBox="1"/>
          <p:nvPr/>
        </p:nvSpPr>
        <p:spPr bwMode="auto">
          <a:xfrm>
            <a:off x="-8545" y="2226758"/>
            <a:ext cx="402370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La Danse Macabre</a:t>
            </a:r>
            <a:endParaRPr/>
          </a:p>
        </p:txBody>
      </p:sp>
      <p:cxnSp>
        <p:nvCxnSpPr>
          <p:cNvPr id="67433809" name="Connecteur droit 1727809509"/>
          <p:cNvCxnSpPr/>
          <p:nvPr/>
        </p:nvCxnSpPr>
        <p:spPr bwMode="auto">
          <a:xfrm flipV="1">
            <a:off x="3252186" y="6370542"/>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401575922" name="ZoneTexte 759238070"/>
          <p:cNvSpPr txBox="1"/>
          <p:nvPr/>
        </p:nvSpPr>
        <p:spPr bwMode="auto">
          <a:xfrm>
            <a:off x="3144222" y="6530839"/>
            <a:ext cx="2140905" cy="61645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êtes assoiffé, insulté, agressé, menacé ou tenté par une morsure voluptueuse.</a:t>
            </a:r>
            <a:endParaRPr/>
          </a:p>
        </p:txBody>
      </p:sp>
      <p:sp>
        <p:nvSpPr>
          <p:cNvPr id="1037362012" name="Rectangle : avec coins arrondis en haut 965147191"/>
          <p:cNvSpPr/>
          <p:nvPr/>
        </p:nvSpPr>
        <p:spPr bwMode="auto">
          <a:xfrm rot="5399909">
            <a:off x="5223843" y="6651034"/>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50924775" name="Flèche : pentagone 2070329900"/>
          <p:cNvSpPr/>
          <p:nvPr/>
        </p:nvSpPr>
        <p:spPr bwMode="auto">
          <a:xfrm>
            <a:off x="5793890"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19586900" name="Flèche : pentagone 1325137089"/>
          <p:cNvSpPr/>
          <p:nvPr/>
        </p:nvSpPr>
        <p:spPr bwMode="auto">
          <a:xfrm>
            <a:off x="5982669"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52195619" name="Flèche : pentagone 295922856"/>
          <p:cNvSpPr/>
          <p:nvPr/>
        </p:nvSpPr>
        <p:spPr bwMode="auto">
          <a:xfrm>
            <a:off x="6171445"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74896887" name="Flèche : pentagone 1961547672"/>
          <p:cNvSpPr/>
          <p:nvPr/>
        </p:nvSpPr>
        <p:spPr bwMode="auto">
          <a:xfrm>
            <a:off x="6360221"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56593749" name="Flèche : pentagone 1305647833"/>
          <p:cNvSpPr/>
          <p:nvPr/>
        </p:nvSpPr>
        <p:spPr bwMode="auto">
          <a:xfrm>
            <a:off x="6548996"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91835713" name="ZoneTexte 545814566"/>
          <p:cNvSpPr txBox="1"/>
          <p:nvPr/>
        </p:nvSpPr>
        <p:spPr bwMode="auto">
          <a:xfrm flipH="0" flipV="0">
            <a:off x="3252177" y="7209668"/>
            <a:ext cx="3603111" cy="2652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soif entraîne un </a:t>
            </a:r>
            <a:r>
              <a:rPr sz="800" b="1">
                <a:solidFill>
                  <a:schemeClr val="tx1">
                    <a:lumMod val="50000"/>
                    <a:lumOff val="50000"/>
                  </a:schemeClr>
                </a:solidFill>
              </a:rPr>
              <a:t>malus de -10 à la maîtrise de soi</a:t>
            </a:r>
            <a:r>
              <a:rPr sz="800">
                <a:solidFill>
                  <a:schemeClr val="tx1">
                    <a:lumMod val="50000"/>
                    <a:lumOff val="50000"/>
                  </a:schemeClr>
                </a:solidFill>
              </a:rPr>
              <a:t>. Si vous échouez à une épreuve de maîtrise de soi, cochez une case de soif. </a:t>
            </a:r>
            <a:r>
              <a:rPr lang="fr-FR" sz="800" b="0" i="0" u="none" strike="noStrike" cap="none" spc="0">
                <a:solidFill>
                  <a:schemeClr val="tx1">
                    <a:lumMod val="50000"/>
                    <a:lumOff val="50000"/>
                  </a:schemeClr>
                </a:solidFill>
                <a:latin typeface="+mn-lt"/>
                <a:ea typeface="+mn-ea"/>
                <a:cs typeface="+mn-cs"/>
              </a:rPr>
              <a:t>Si vous réussissez à un choc de maîtrise de soi, cochez une case de soif. Si vous échouez à un choc de maîtrise de soi, cochez une case de perversion. Lorsque vous vous nourrissez de sang, vous pouvez effacer vos cases de soif. </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mn-lt"/>
                <a:ea typeface="+mn-ea"/>
                <a:cs typeface="+mn-cs"/>
              </a:rPr>
              <a:t>Lorsque vous cochez la première une case de perversion, la bête intérieure vous submerge et vous force à agir avec violence ou perversion durant quelques instants, avant que vous ne repreniez le contrôle.</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La seconde case de perversion cochée vous fait perdre votre contrôle durant une scène complète. </a:t>
            </a:r>
            <a:r>
              <a:rPr lang="fr-FR" sz="800" b="1" i="0" u="none" strike="noStrike" cap="none" spc="0">
                <a:solidFill>
                  <a:schemeClr val="tx1">
                    <a:lumMod val="50000"/>
                    <a:lumOff val="50000"/>
                  </a:schemeClr>
                </a:solidFill>
                <a:latin typeface="Arial"/>
                <a:ea typeface="Arial"/>
                <a:cs typeface="Arial"/>
              </a:rPr>
              <a:t>Perdez 1d6 points de maîtrise de soi</a:t>
            </a:r>
            <a:r>
              <a:rPr lang="fr-FR" sz="800" b="0" i="0" u="none" strike="noStrike" cap="none" spc="0">
                <a:solidFill>
                  <a:schemeClr val="tx1">
                    <a:lumMod val="50000"/>
                    <a:lumOff val="50000"/>
                  </a:schemeClr>
                </a:solidFill>
                <a:latin typeface="Arial"/>
                <a:ea typeface="Arial"/>
                <a:cs typeface="Arial"/>
              </a:rPr>
              <a:t>.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La troisième case de perversion cochée vous fait perdre votre humanité, votre personnage devient PNJ jusqu’à ce qu’il soit ramené à la raison par ses camarades (ce qui nécessite en général un scénario à part entière). Lorsque cela se produit, vous </a:t>
            </a:r>
            <a:r>
              <a:rPr lang="fr-FR" sz="800" b="1" i="0" u="none" strike="noStrike" cap="none" spc="0">
                <a:solidFill>
                  <a:schemeClr val="tx1">
                    <a:lumMod val="50000"/>
                    <a:lumOff val="50000"/>
                  </a:schemeClr>
                </a:solidFill>
                <a:latin typeface="Arial"/>
                <a:ea typeface="Arial"/>
                <a:cs typeface="Arial"/>
              </a:rPr>
              <a:t>perdrez 2d6 points  de maîtrise de soi</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ea typeface="Arial"/>
              <a:cs typeface="Aria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Arial"/>
                <a:ea typeface="Arial"/>
                <a:cs typeface="Arial"/>
              </a:rPr>
              <a:t>Tant que vous n’avez pas coché les trois cases de perversion, effacez une case de perversion au début d’un nouveau scénario.</a:t>
            </a:r>
            <a:endParaRPr sz="800">
              <a:solidFill>
                <a:schemeClr val="tx1">
                  <a:lumMod val="50000"/>
                  <a:lumOff val="50000"/>
                </a:schemeClr>
              </a:solidFill>
            </a:endParaRPr>
          </a:p>
        </p:txBody>
      </p:sp>
      <p:sp>
        <p:nvSpPr>
          <p:cNvPr id="2004688683" name="ZoneTexte 671978155"/>
          <p:cNvSpPr txBox="1"/>
          <p:nvPr/>
        </p:nvSpPr>
        <p:spPr bwMode="auto">
          <a:xfrm>
            <a:off x="3296619" y="6190177"/>
            <a:ext cx="2289743"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Soif &amp; Perversion</a:t>
            </a:r>
            <a:endParaRPr/>
          </a:p>
        </p:txBody>
      </p:sp>
      <p:cxnSp>
        <p:nvCxnSpPr>
          <p:cNvPr id="499437768" name="Connecteur droit 637589304"/>
          <p:cNvCxnSpPr/>
          <p:nvPr/>
        </p:nvCxnSpPr>
        <p:spPr bwMode="auto">
          <a:xfrm flipV="1">
            <a:off x="-37125" y="6095994"/>
            <a:ext cx="31908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99466328" name="ZoneTexte 172075623"/>
          <p:cNvSpPr txBox="1"/>
          <p:nvPr/>
        </p:nvSpPr>
        <p:spPr bwMode="auto">
          <a:xfrm>
            <a:off x="-5859" y="5912932"/>
            <a:ext cx="261625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Les Pouvoirs de Sang</a:t>
            </a:r>
            <a:endParaRPr sz="1800" b="0">
              <a:solidFill>
                <a:schemeClr val="tx1">
                  <a:lumMod val="75000"/>
                  <a:lumOff val="25000"/>
                </a:schemeClr>
              </a:solidFill>
            </a:endParaRPr>
          </a:p>
        </p:txBody>
      </p:sp>
      <p:sp>
        <p:nvSpPr>
          <p:cNvPr id="1326682116" name="ZoneTexte 1642812764"/>
          <p:cNvSpPr txBox="1"/>
          <p:nvPr/>
        </p:nvSpPr>
        <p:spPr bwMode="auto">
          <a:xfrm flipH="0" flipV="0">
            <a:off x="0" y="2558169"/>
            <a:ext cx="3390939" cy="2834999"/>
          </a:xfrm>
          <a:prstGeom prst="rect">
            <a:avLst/>
          </a:prstGeom>
          <a:noFill/>
        </p:spPr>
        <p:txBody>
          <a:bodyPr vertOverflow="overflow" horzOverflow="overflow" vert="horz" wrap="square" lIns="91440" tIns="45720" rIns="91440" bIns="45720" numCol="1" spcCol="72000" rtlCol="0" fromWordArt="0" anchor="t" anchorCtr="0" forceAA="0" compatLnSpc="0">
            <a:spAutoFit/>
          </a:bodyPr>
          <a:lstStyle/>
          <a:p>
            <a:pPr>
              <a:defRPr/>
            </a:pPr>
            <a:r>
              <a:rPr sz="900"/>
              <a:t>Le Baiser :</a:t>
            </a:r>
            <a:r>
              <a:rPr sz="1000"/>
              <a:t> </a:t>
            </a:r>
            <a:r>
              <a:rPr sz="900">
                <a:solidFill>
                  <a:schemeClr val="tx1">
                    <a:lumMod val="50000"/>
                    <a:lumOff val="50000"/>
                  </a:schemeClr>
                </a:solidFill>
              </a:rPr>
              <a:t>Vous devez vous nourrir du sang des mortels régulièrement. Lorsque vous mordez une créature douée de conscience, vous et votre cible partagez une décharge émotionnelle si intense que la cible oublie si vous le désirez les quelques minutes qui précèdent et qui suivent le baiser de la morsure, n’en gardant aucune trace visible si ce n’est une sensation de plaisir assouvi et la fatigue due à la prise du sang qui lui coûte une case de stress physique. Le plaisir du baiser est nommé l’</a:t>
            </a:r>
            <a:r>
              <a:rPr sz="900" b="1">
                <a:solidFill>
                  <a:schemeClr val="tx1">
                    <a:lumMod val="50000"/>
                    <a:lumOff val="50000"/>
                  </a:schemeClr>
                </a:solidFill>
              </a:rPr>
              <a:t>extase</a:t>
            </a:r>
            <a:r>
              <a:rPr sz="900">
                <a:solidFill>
                  <a:schemeClr val="tx1">
                    <a:lumMod val="50000"/>
                    <a:lumOff val="50000"/>
                  </a:schemeClr>
                </a:solidFill>
              </a:rPr>
              <a:t>, et la capacité à cacher son forfait est nommé l’</a:t>
            </a:r>
            <a:r>
              <a:rPr sz="900" b="1">
                <a:solidFill>
                  <a:schemeClr val="tx1">
                    <a:lumMod val="50000"/>
                    <a:lumOff val="50000"/>
                  </a:schemeClr>
                </a:solidFill>
              </a:rPr>
              <a:t>oubli</a:t>
            </a:r>
            <a:r>
              <a:rPr sz="900">
                <a:solidFill>
                  <a:schemeClr val="tx1">
                    <a:lumMod val="50000"/>
                    <a:lumOff val="50000"/>
                  </a:schemeClr>
                </a:solidFill>
              </a:rPr>
              <a:t>. Après vous être nourri, </a:t>
            </a:r>
            <a:r>
              <a:rPr sz="900">
                <a:solidFill>
                  <a:schemeClr val="tx1">
                    <a:lumMod val="50000"/>
                    <a:lumOff val="50000"/>
                  </a:schemeClr>
                </a:solidFill>
              </a:rPr>
              <a:t>vous effacez vos cases de soif.</a:t>
            </a:r>
            <a:br>
              <a:rPr sz="900">
                <a:solidFill>
                  <a:schemeClr val="tx1">
                    <a:lumMod val="50000"/>
                    <a:lumOff val="50000"/>
                  </a:schemeClr>
                </a:solidFill>
              </a:rPr>
            </a:br>
            <a:endParaRPr sz="900">
              <a:solidFill>
                <a:schemeClr val="tx1">
                  <a:lumMod val="50000"/>
                  <a:lumOff val="50000"/>
                </a:schemeClr>
              </a:solidFill>
            </a:endParaRPr>
          </a:p>
          <a:p>
            <a:pPr>
              <a:defRPr/>
            </a:pPr>
            <a:r>
              <a:rPr sz="900">
                <a:solidFill>
                  <a:schemeClr val="tx1">
                    <a:lumMod val="50000"/>
                    <a:lumOff val="50000"/>
                  </a:schemeClr>
                </a:solidFill>
              </a:rPr>
              <a:t>Vous nourrir deux fois sur la même personne en moins d’un mois oblige votre cible à effectuer un jet de résistance physique. S’il est échoué, le manque de sang le conduit au coma (et à l’hôpital).</a:t>
            </a:r>
            <a:endParaRPr sz="1600"/>
          </a:p>
          <a:p>
            <a:pPr>
              <a:defRPr/>
            </a:pPr>
            <a:endParaRPr sz="900">
              <a:solidFill>
                <a:schemeClr val="tx1">
                  <a:lumMod val="50000"/>
                  <a:lumOff val="50000"/>
                </a:schemeClr>
              </a:solidFill>
            </a:endParaRPr>
          </a:p>
          <a:p>
            <a:pPr>
              <a:defRPr/>
            </a:pPr>
            <a:r>
              <a:rPr sz="900">
                <a:solidFill>
                  <a:schemeClr val="tx1">
                    <a:lumMod val="50000"/>
                    <a:lumOff val="50000"/>
                  </a:schemeClr>
                </a:solidFill>
              </a:rPr>
              <a:t>Si vous vous nourrissez sur une créature surnaturelle, vous gagnez un point de </a:t>
            </a:r>
            <a:r>
              <a:rPr sz="900" b="1">
                <a:solidFill>
                  <a:schemeClr val="tx1">
                    <a:lumMod val="50000"/>
                    <a:lumOff val="50000"/>
                  </a:schemeClr>
                </a:solidFill>
              </a:rPr>
              <a:t>puissance de sang</a:t>
            </a:r>
            <a:r>
              <a:rPr sz="900">
                <a:solidFill>
                  <a:schemeClr val="tx1">
                    <a:lumMod val="50000"/>
                    <a:lumOff val="50000"/>
                  </a:schemeClr>
                </a:solidFill>
              </a:rPr>
              <a:t>. Les points de puissance de sang sont perdus à chaque nouveau scénario.</a:t>
            </a:r>
            <a:endParaRPr sz="1600"/>
          </a:p>
        </p:txBody>
      </p:sp>
      <p:sp>
        <p:nvSpPr>
          <p:cNvPr id="1498978133" name="Étoile : 7 branches 1681961038"/>
          <p:cNvSpPr/>
          <p:nvPr/>
        </p:nvSpPr>
        <p:spPr bwMode="auto">
          <a:xfrm>
            <a:off x="2181223"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62992294" name="Étoile : 7 branches 1476951547"/>
          <p:cNvSpPr/>
          <p:nvPr/>
        </p:nvSpPr>
        <p:spPr bwMode="auto">
          <a:xfrm>
            <a:off x="2465247"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59403635" name="Étoile : 7 branches 1520826925"/>
          <p:cNvSpPr/>
          <p:nvPr/>
        </p:nvSpPr>
        <p:spPr bwMode="auto">
          <a:xfrm>
            <a:off x="2749276"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51763325" name="ZoneTexte 1219899073"/>
          <p:cNvSpPr txBox="1"/>
          <p:nvPr/>
        </p:nvSpPr>
        <p:spPr bwMode="auto">
          <a:xfrm>
            <a:off x="45901" y="5438772"/>
            <a:ext cx="2141921" cy="4575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800">
                <a:solidFill>
                  <a:schemeClr val="tx1">
                    <a:lumMod val="50000"/>
                    <a:lumOff val="50000"/>
                  </a:schemeClr>
                </a:solidFill>
              </a:rPr>
              <a:t>Lorsque vous utilisez un point de puissance de sang, vous pouvez relancer un jet de dé lié à un pouvoir de sang.</a:t>
            </a:r>
            <a:endParaRPr/>
          </a:p>
        </p:txBody>
      </p:sp>
      <p:sp>
        <p:nvSpPr>
          <p:cNvPr id="1860200377" name="ZoneTexte 1283574123"/>
          <p:cNvSpPr txBox="1"/>
          <p:nvPr/>
        </p:nvSpPr>
        <p:spPr bwMode="auto">
          <a:xfrm flipH="0" flipV="0">
            <a:off x="3303452" y="2558165"/>
            <a:ext cx="3551118" cy="3657960"/>
          </a:xfrm>
          <a:prstGeom prst="rect">
            <a:avLst/>
          </a:prstGeom>
          <a:noFill/>
        </p:spPr>
        <p:txBody>
          <a:bodyPr vertOverflow="overflow" horzOverflow="overflow" vert="horz" wrap="square" lIns="91440" tIns="45720" rIns="91440" bIns="45720" numCol="1" spcCol="72000" rtlCol="0" fromWordArt="0" anchor="t" anchorCtr="0" forceAA="0" compatLnSpc="0">
            <a:spAutoFit/>
          </a:bodyPr>
          <a:lstStyle/>
          <a:p>
            <a:pPr>
              <a:defRPr/>
            </a:pPr>
            <a:r>
              <a:rPr lang="fr-FR" sz="900" b="0" i="0" u="none" strike="noStrike" cap="none" spc="0">
                <a:latin typeface="+mn-lt"/>
                <a:ea typeface="+mn-ea"/>
                <a:cs typeface="+mn-cs"/>
              </a:rPr>
              <a:t>La Régénération nocturne :</a:t>
            </a:r>
            <a:r>
              <a:rPr lang="fr-FR" sz="900" b="0" i="0" u="none" strike="noStrike" cap="none" spc="0">
                <a:solidFill>
                  <a:schemeClr val="tx1">
                    <a:lumMod val="50000"/>
                    <a:lumOff val="50000"/>
                  </a:schemeClr>
                </a:solidFill>
                <a:latin typeface="+mn-lt"/>
                <a:ea typeface="+mn-ea"/>
                <a:cs typeface="+mn-cs"/>
              </a:rPr>
              <a:t> Durant la nuit, à la fin d’une scène, vous pouvez récupérer tout votre stress physique prix d’une case de soif. </a:t>
            </a:r>
            <a:r>
              <a:rPr sz="900">
                <a:solidFill>
                  <a:schemeClr val="tx1">
                    <a:lumMod val="50000"/>
                    <a:lumOff val="50000"/>
                  </a:schemeClr>
                </a:solidFill>
              </a:rPr>
              <a:t>Vous pouvez également récupérer un trauma physique au prix d’une case de soif. Si vous êtes mis hors-combat au cours d’une scène, vous pouvez vous relever immédiatement au prix d’une case de perversion.</a:t>
            </a:r>
            <a:endParaRPr sz="900">
              <a:solidFill>
                <a:schemeClr val="tx1">
                  <a:lumMod val="50000"/>
                  <a:lumOff val="50000"/>
                </a:schemeClr>
              </a:solidFill>
            </a:endParaRPr>
          </a:p>
          <a:p>
            <a:pPr>
              <a:defRPr/>
            </a:pPr>
            <a:endParaRPr sz="900"/>
          </a:p>
          <a:p>
            <a:pPr>
              <a:defRPr/>
            </a:pPr>
            <a:r>
              <a:rPr sz="900"/>
              <a:t>La </a:t>
            </a:r>
            <a:r>
              <a:rPr sz="900"/>
              <a:t>Vraie</a:t>
            </a:r>
            <a:r>
              <a:rPr sz="900"/>
              <a:t> Foi : </a:t>
            </a:r>
            <a:r>
              <a:rPr sz="900">
                <a:solidFill>
                  <a:schemeClr val="tx1">
                    <a:lumMod val="50000"/>
                    <a:lumOff val="50000"/>
                  </a:schemeClr>
                </a:solidFill>
              </a:rPr>
              <a:t>Les vampires </a:t>
            </a:r>
            <a:r>
              <a:rPr sz="900">
                <a:solidFill>
                  <a:schemeClr val="tx1">
                    <a:lumMod val="50000"/>
                    <a:lumOff val="50000"/>
                  </a:schemeClr>
                </a:solidFill>
              </a:rPr>
              <a:t>sont</a:t>
            </a:r>
            <a:r>
              <a:rPr sz="900">
                <a:solidFill>
                  <a:schemeClr val="tx1">
                    <a:lumMod val="50000"/>
                    <a:lumOff val="50000"/>
                  </a:schemeClr>
                </a:solidFill>
              </a:rPr>
              <a:t> des </a:t>
            </a:r>
            <a:r>
              <a:rPr sz="900">
                <a:solidFill>
                  <a:schemeClr val="tx1">
                    <a:lumMod val="50000"/>
                    <a:lumOff val="50000"/>
                  </a:schemeClr>
                </a:solidFill>
              </a:rPr>
              <a:t>damnés et apprennent vite à</a:t>
            </a:r>
            <a:r>
              <a:rPr sz="900">
                <a:solidFill>
                  <a:schemeClr val="tx1">
                    <a:lumMod val="50000"/>
                    <a:lumOff val="50000"/>
                  </a:schemeClr>
                </a:solidFill>
              </a:rPr>
              <a:t> </a:t>
            </a:r>
            <a:r>
              <a:rPr sz="900">
                <a:solidFill>
                  <a:schemeClr val="tx1">
                    <a:lumMod val="50000"/>
                    <a:lumOff val="50000"/>
                  </a:schemeClr>
                </a:solidFill>
              </a:rPr>
              <a:t>craindre</a:t>
            </a:r>
            <a:r>
              <a:rPr sz="900">
                <a:solidFill>
                  <a:schemeClr val="tx1">
                    <a:lumMod val="50000"/>
                    <a:lumOff val="50000"/>
                  </a:schemeClr>
                </a:solidFill>
              </a:rPr>
              <a:t> les hommes de foi. Les </a:t>
            </a:r>
            <a:r>
              <a:rPr sz="900">
                <a:solidFill>
                  <a:schemeClr val="tx1">
                    <a:lumMod val="50000"/>
                    <a:lumOff val="50000"/>
                  </a:schemeClr>
                </a:solidFill>
              </a:rPr>
              <a:t>mortels</a:t>
            </a:r>
            <a:r>
              <a:rPr sz="900">
                <a:solidFill>
                  <a:schemeClr val="tx1">
                    <a:lumMod val="50000"/>
                    <a:lumOff val="50000"/>
                  </a:schemeClr>
                </a:solidFill>
              </a:rPr>
              <a:t> </a:t>
            </a:r>
            <a:r>
              <a:rPr sz="900">
                <a:solidFill>
                  <a:schemeClr val="tx1">
                    <a:lumMod val="50000"/>
                    <a:lumOff val="50000"/>
                  </a:schemeClr>
                </a:solidFill>
              </a:rPr>
              <a:t>possédant</a:t>
            </a:r>
            <a:r>
              <a:rPr sz="900">
                <a:solidFill>
                  <a:schemeClr val="tx1">
                    <a:lumMod val="50000"/>
                    <a:lumOff val="50000"/>
                  </a:schemeClr>
                </a:solidFill>
              </a:rPr>
              <a:t> la </a:t>
            </a:r>
            <a:r>
              <a:rPr sz="900">
                <a:solidFill>
                  <a:schemeClr val="tx1">
                    <a:lumMod val="50000"/>
                    <a:lumOff val="50000"/>
                  </a:schemeClr>
                </a:solidFill>
              </a:rPr>
              <a:t>vraie</a:t>
            </a:r>
            <a:r>
              <a:rPr sz="900">
                <a:solidFill>
                  <a:schemeClr val="tx1">
                    <a:lumMod val="50000"/>
                    <a:lumOff val="50000"/>
                  </a:schemeClr>
                </a:solidFill>
              </a:rPr>
              <a:t> foi </a:t>
            </a:r>
            <a:r>
              <a:rPr sz="900">
                <a:solidFill>
                  <a:schemeClr val="tx1">
                    <a:lumMod val="50000"/>
                    <a:lumOff val="50000"/>
                  </a:schemeClr>
                </a:solidFill>
              </a:rPr>
              <a:t>peuvent</a:t>
            </a:r>
            <a:r>
              <a:rPr sz="900">
                <a:solidFill>
                  <a:schemeClr val="tx1">
                    <a:lumMod val="50000"/>
                    <a:lumOff val="50000"/>
                  </a:schemeClr>
                </a:solidFill>
              </a:rPr>
              <a:t> la manifester, par </a:t>
            </a:r>
            <a:r>
              <a:rPr sz="900">
                <a:solidFill>
                  <a:schemeClr val="tx1">
                    <a:lumMod val="50000"/>
                    <a:lumOff val="50000"/>
                  </a:schemeClr>
                </a:solidFill>
              </a:rPr>
              <a:t>exemple</a:t>
            </a:r>
            <a:r>
              <a:rPr sz="900">
                <a:solidFill>
                  <a:schemeClr val="tx1">
                    <a:lumMod val="50000"/>
                    <a:lumOff val="50000"/>
                  </a:schemeClr>
                </a:solidFill>
              </a:rPr>
              <a:t> dans le </a:t>
            </a:r>
            <a:r>
              <a:rPr sz="900">
                <a:solidFill>
                  <a:schemeClr val="tx1">
                    <a:lumMod val="50000"/>
                    <a:lumOff val="50000"/>
                  </a:schemeClr>
                </a:solidFill>
              </a:rPr>
              <a:t>cas</a:t>
            </a:r>
            <a:r>
              <a:rPr sz="900">
                <a:solidFill>
                  <a:schemeClr val="tx1">
                    <a:lumMod val="50000"/>
                    <a:lumOff val="50000"/>
                  </a:schemeClr>
                </a:solidFill>
              </a:rPr>
              <a:t> des </a:t>
            </a:r>
            <a:r>
              <a:rPr sz="900">
                <a:solidFill>
                  <a:schemeClr val="tx1">
                    <a:lumMod val="50000"/>
                    <a:lumOff val="50000"/>
                  </a:schemeClr>
                </a:solidFill>
              </a:rPr>
              <a:t>catholiques</a:t>
            </a:r>
            <a:r>
              <a:rPr sz="900">
                <a:solidFill>
                  <a:schemeClr val="tx1">
                    <a:lumMod val="50000"/>
                    <a:lumOff val="50000"/>
                  </a:schemeClr>
                </a:solidFill>
              </a:rPr>
              <a:t> </a:t>
            </a:r>
            <a:r>
              <a:rPr sz="900">
                <a:solidFill>
                  <a:schemeClr val="tx1">
                    <a:lumMod val="50000"/>
                    <a:lumOff val="50000"/>
                  </a:schemeClr>
                </a:solidFill>
              </a:rPr>
              <a:t>en</a:t>
            </a:r>
            <a:r>
              <a:rPr sz="900">
                <a:solidFill>
                  <a:schemeClr val="tx1">
                    <a:lumMod val="50000"/>
                    <a:lumOff val="50000"/>
                  </a:schemeClr>
                </a:solidFill>
              </a:rPr>
              <a:t> </a:t>
            </a:r>
            <a:r>
              <a:rPr sz="900">
                <a:solidFill>
                  <a:schemeClr val="tx1">
                    <a:lumMod val="50000"/>
                    <a:lumOff val="50000"/>
                  </a:schemeClr>
                </a:solidFill>
              </a:rPr>
              <a:t>brandissant</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a:t>
            </a:r>
            <a:r>
              <a:rPr sz="900">
                <a:solidFill>
                  <a:schemeClr val="tx1">
                    <a:lumMod val="50000"/>
                    <a:lumOff val="50000"/>
                  </a:schemeClr>
                </a:solidFill>
              </a:rPr>
              <a:t>croix</a:t>
            </a:r>
            <a:r>
              <a:rPr sz="900">
                <a:solidFill>
                  <a:schemeClr val="tx1">
                    <a:lumMod val="50000"/>
                    <a:lumOff val="50000"/>
                  </a:schemeClr>
                </a:solidFill>
              </a:rPr>
              <a:t>, et dans </a:t>
            </a:r>
            <a:r>
              <a:rPr sz="900">
                <a:solidFill>
                  <a:schemeClr val="tx1">
                    <a:lumMod val="50000"/>
                    <a:lumOff val="50000"/>
                  </a:schemeClr>
                </a:solidFill>
              </a:rPr>
              <a:t>ce</a:t>
            </a:r>
            <a:r>
              <a:rPr sz="900">
                <a:solidFill>
                  <a:schemeClr val="tx1">
                    <a:lumMod val="50000"/>
                    <a:lumOff val="50000"/>
                  </a:schemeClr>
                </a:solidFill>
              </a:rPr>
              <a:t> </a:t>
            </a:r>
            <a:r>
              <a:rPr sz="900">
                <a:solidFill>
                  <a:schemeClr val="tx1">
                    <a:lumMod val="50000"/>
                    <a:lumOff val="50000"/>
                  </a:schemeClr>
                </a:solidFill>
              </a:rPr>
              <a:t>cas</a:t>
            </a:r>
            <a:r>
              <a:rPr sz="900">
                <a:solidFill>
                  <a:schemeClr val="tx1">
                    <a:lumMod val="50000"/>
                    <a:lumOff val="50000"/>
                  </a:schemeClr>
                </a:solidFill>
              </a:rPr>
              <a:t>, le vampire doit </a:t>
            </a:r>
            <a:r>
              <a:rPr sz="900">
                <a:solidFill>
                  <a:schemeClr val="tx1">
                    <a:lumMod val="50000"/>
                    <a:lumOff val="50000"/>
                  </a:schemeClr>
                </a:solidFill>
              </a:rPr>
              <a:t>réussir</a:t>
            </a:r>
            <a:r>
              <a:rPr sz="900">
                <a:solidFill>
                  <a:schemeClr val="tx1">
                    <a:lumMod val="50000"/>
                    <a:lumOff val="50000"/>
                  </a:schemeClr>
                </a:solidFill>
              </a:rPr>
              <a:t> un jet de </a:t>
            </a:r>
            <a:r>
              <a:rPr sz="900">
                <a:solidFill>
                  <a:schemeClr val="tx1">
                    <a:lumMod val="50000"/>
                    <a:lumOff val="50000"/>
                  </a:schemeClr>
                </a:solidFill>
              </a:rPr>
              <a:t>maîtrise</a:t>
            </a:r>
            <a:r>
              <a:rPr sz="900">
                <a:solidFill>
                  <a:schemeClr val="tx1">
                    <a:lumMod val="50000"/>
                    <a:lumOff val="50000"/>
                  </a:schemeClr>
                </a:solidFill>
              </a:rPr>
              <a:t> de soi </a:t>
            </a:r>
            <a:r>
              <a:rPr sz="900">
                <a:solidFill>
                  <a:schemeClr val="tx1">
                    <a:lumMod val="50000"/>
                    <a:lumOff val="50000"/>
                  </a:schemeClr>
                </a:solidFill>
              </a:rPr>
              <a:t>ou</a:t>
            </a:r>
            <a:r>
              <a:rPr sz="900">
                <a:solidFill>
                  <a:schemeClr val="tx1">
                    <a:lumMod val="50000"/>
                    <a:lumOff val="50000"/>
                  </a:schemeClr>
                </a:solidFill>
              </a:rPr>
              <a:t> </a:t>
            </a:r>
            <a:r>
              <a:rPr sz="900">
                <a:solidFill>
                  <a:schemeClr val="tx1">
                    <a:lumMod val="50000"/>
                    <a:lumOff val="50000"/>
                  </a:schemeClr>
                </a:solidFill>
              </a:rPr>
              <a:t>être repoussé</a:t>
            </a:r>
            <a:r>
              <a:rPr sz="900">
                <a:solidFill>
                  <a:schemeClr val="tx1">
                    <a:lumMod val="50000"/>
                    <a:lumOff val="50000"/>
                  </a:schemeClr>
                </a:solidFill>
              </a:rPr>
              <a:t>.</a:t>
            </a:r>
            <a:endParaRPr sz="1600"/>
          </a:p>
          <a:p>
            <a:pPr>
              <a:defRPr/>
            </a:pPr>
            <a:endParaRPr sz="900">
              <a:solidFill>
                <a:schemeClr val="tx1">
                  <a:lumMod val="50000"/>
                  <a:lumOff val="50000"/>
                </a:schemeClr>
              </a:solidFill>
            </a:endParaRPr>
          </a:p>
          <a:p>
            <a:pPr>
              <a:defRPr/>
            </a:pPr>
            <a:r>
              <a:rPr sz="900"/>
              <a:t>Création</a:t>
            </a:r>
            <a:r>
              <a:rPr sz="900"/>
              <a:t> :</a:t>
            </a:r>
            <a:r>
              <a:rPr sz="900">
                <a:solidFill>
                  <a:schemeClr val="tx1">
                    <a:lumMod val="50000"/>
                    <a:lumOff val="50000"/>
                  </a:schemeClr>
                </a:solidFill>
              </a:rPr>
              <a:t> Vider un mortel de son sang et lui faire boire le sien transforme le mortel en vampire ou </a:t>
            </a:r>
            <a:r>
              <a:rPr sz="900">
                <a:solidFill>
                  <a:schemeClr val="tx1">
                    <a:lumMod val="50000"/>
                    <a:lumOff val="50000"/>
                  </a:schemeClr>
                </a:solidFill>
              </a:rPr>
              <a:t>en</a:t>
            </a:r>
            <a:r>
              <a:rPr sz="900">
                <a:solidFill>
                  <a:schemeClr val="tx1">
                    <a:lumMod val="50000"/>
                    <a:lumOff val="50000"/>
                  </a:schemeClr>
                </a:solidFill>
              </a:rPr>
              <a:t> goule. Une goule est un vampire mineur lié à son</a:t>
            </a:r>
            <a:r>
              <a:rPr sz="900">
                <a:solidFill>
                  <a:schemeClr val="tx1">
                    <a:lumMod val="50000"/>
                    <a:lumOff val="50000"/>
                  </a:schemeClr>
                </a:solidFill>
              </a:rPr>
              <a:t> son créateur</a:t>
            </a:r>
            <a:r>
              <a:rPr sz="900">
                <a:solidFill>
                  <a:schemeClr val="tx1">
                    <a:lumMod val="50000"/>
                    <a:lumOff val="50000"/>
                  </a:schemeClr>
                </a:solidFill>
              </a:rPr>
              <a:t> </a:t>
            </a:r>
            <a:r>
              <a:rPr sz="900">
                <a:solidFill>
                  <a:schemeClr val="tx1">
                    <a:lumMod val="50000"/>
                    <a:lumOff val="50000"/>
                  </a:schemeClr>
                </a:solidFill>
              </a:rPr>
              <a:t>dont</a:t>
            </a:r>
            <a:r>
              <a:rPr sz="900">
                <a:solidFill>
                  <a:schemeClr val="tx1">
                    <a:lumMod val="50000"/>
                    <a:lumOff val="50000"/>
                  </a:schemeClr>
                </a:solidFill>
              </a:rPr>
              <a:t> il </a:t>
            </a:r>
            <a:r>
              <a:rPr sz="900">
                <a:solidFill>
                  <a:schemeClr val="tx1">
                    <a:lumMod val="50000"/>
                    <a:lumOff val="50000"/>
                  </a:schemeClr>
                </a:solidFill>
              </a:rPr>
              <a:t>devient</a:t>
            </a:r>
            <a:r>
              <a:rPr sz="900">
                <a:solidFill>
                  <a:schemeClr val="tx1">
                    <a:lumMod val="50000"/>
                    <a:lumOff val="50000"/>
                  </a:schemeClr>
                </a:solidFill>
              </a:rPr>
              <a:t> </a:t>
            </a:r>
            <a:r>
              <a:rPr sz="900">
                <a:solidFill>
                  <a:schemeClr val="tx1">
                    <a:lumMod val="50000"/>
                    <a:lumOff val="50000"/>
                  </a:schemeClr>
                </a:solidFill>
              </a:rPr>
              <a:t>dépendant, ce dernier devant </a:t>
            </a:r>
            <a:r>
              <a:rPr sz="900">
                <a:solidFill>
                  <a:schemeClr val="tx1">
                    <a:lumMod val="50000"/>
                    <a:lumOff val="50000"/>
                  </a:schemeClr>
                </a:solidFill>
              </a:rPr>
              <a:t>le </a:t>
            </a:r>
            <a:r>
              <a:rPr sz="900">
                <a:solidFill>
                  <a:schemeClr val="tx1">
                    <a:lumMod val="50000"/>
                    <a:lumOff val="50000"/>
                  </a:schemeClr>
                </a:solidFill>
              </a:rPr>
              <a:t>nourrir</a:t>
            </a:r>
            <a:r>
              <a:rPr sz="900">
                <a:solidFill>
                  <a:schemeClr val="tx1">
                    <a:lumMod val="50000"/>
                    <a:lumOff val="50000"/>
                  </a:schemeClr>
                </a:solidFill>
              </a:rPr>
              <a:t> avec son sang une fois par semaine</a:t>
            </a:r>
            <a:r>
              <a:rPr sz="900">
                <a:solidFill>
                  <a:schemeClr val="tx1">
                    <a:lumMod val="50000"/>
                    <a:lumOff val="50000"/>
                  </a:schemeClr>
                </a:solidFill>
              </a:rPr>
              <a:t>. </a:t>
            </a:r>
            <a:r>
              <a:rPr sz="900">
                <a:solidFill>
                  <a:schemeClr val="tx1">
                    <a:lumMod val="50000"/>
                    <a:lumOff val="50000"/>
                  </a:schemeClr>
                </a:solidFill>
              </a:rPr>
              <a:t>Abandonné</a:t>
            </a:r>
            <a:r>
              <a:rPr sz="900">
                <a:solidFill>
                  <a:schemeClr val="tx1">
                    <a:lumMod val="50000"/>
                    <a:lumOff val="50000"/>
                  </a:schemeClr>
                </a:solidFill>
              </a:rPr>
              <a:t> par son créateur, il </a:t>
            </a:r>
            <a:r>
              <a:rPr sz="900">
                <a:solidFill>
                  <a:schemeClr val="tx1">
                    <a:lumMod val="50000"/>
                    <a:lumOff val="50000"/>
                  </a:schemeClr>
                </a:solidFill>
              </a:rPr>
              <a:t>devient</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goule sauvage </a:t>
            </a:r>
            <a:r>
              <a:rPr sz="900">
                <a:solidFill>
                  <a:schemeClr val="tx1">
                    <a:lumMod val="50000"/>
                    <a:lumOff val="50000"/>
                  </a:schemeClr>
                </a:solidFill>
              </a:rPr>
              <a:t>cherchant</a:t>
            </a:r>
            <a:r>
              <a:rPr sz="900">
                <a:solidFill>
                  <a:schemeClr val="tx1">
                    <a:lumMod val="50000"/>
                    <a:lumOff val="50000"/>
                  </a:schemeClr>
                </a:solidFill>
              </a:rPr>
              <a:t> à </a:t>
            </a:r>
            <a:r>
              <a:rPr sz="900">
                <a:solidFill>
                  <a:schemeClr val="tx1">
                    <a:lumMod val="50000"/>
                    <a:lumOff val="50000"/>
                  </a:schemeClr>
                </a:solidFill>
              </a:rPr>
              <a:t>boire</a:t>
            </a:r>
            <a:r>
              <a:rPr sz="900">
                <a:solidFill>
                  <a:schemeClr val="tx1">
                    <a:lumMod val="50000"/>
                    <a:lumOff val="50000"/>
                  </a:schemeClr>
                </a:solidFill>
              </a:rPr>
              <a:t> le sang des </a:t>
            </a:r>
            <a:r>
              <a:rPr sz="900">
                <a:solidFill>
                  <a:schemeClr val="tx1">
                    <a:lumMod val="50000"/>
                    <a:lumOff val="50000"/>
                  </a:schemeClr>
                </a:solidFill>
              </a:rPr>
              <a:t>mortels</a:t>
            </a:r>
            <a:r>
              <a:rPr sz="900">
                <a:solidFill>
                  <a:schemeClr val="tx1">
                    <a:lumMod val="50000"/>
                    <a:lumOff val="50000"/>
                  </a:schemeClr>
                </a:solidFill>
              </a:rPr>
              <a:t> pour continuer d’</a:t>
            </a:r>
            <a:r>
              <a:rPr sz="900">
                <a:solidFill>
                  <a:schemeClr val="tx1">
                    <a:lumMod val="50000"/>
                    <a:lumOff val="50000"/>
                  </a:schemeClr>
                </a:solidFill>
              </a:rPr>
              <a:t>exister</a:t>
            </a:r>
            <a:r>
              <a:rPr sz="900">
                <a:solidFill>
                  <a:schemeClr val="tx1">
                    <a:lumMod val="50000"/>
                    <a:lumOff val="50000"/>
                  </a:schemeClr>
                </a:solidFill>
              </a:rPr>
              <a:t>. Contrairement à un vampire, une goule n’a aucun pouvoir personnel et son baiser n’engendre ni l’</a:t>
            </a:r>
            <a:r>
              <a:rPr sz="900" b="1">
                <a:solidFill>
                  <a:schemeClr val="tx1">
                    <a:lumMod val="50000"/>
                    <a:lumOff val="50000"/>
                  </a:schemeClr>
                </a:solidFill>
              </a:rPr>
              <a:t>extase </a:t>
            </a:r>
            <a:r>
              <a:rPr sz="900">
                <a:solidFill>
                  <a:schemeClr val="tx1">
                    <a:lumMod val="50000"/>
                    <a:lumOff val="50000"/>
                  </a:schemeClr>
                </a:solidFill>
              </a:rPr>
              <a:t>ni l’</a:t>
            </a:r>
            <a:r>
              <a:rPr sz="900" b="1">
                <a:solidFill>
                  <a:schemeClr val="tx1">
                    <a:lumMod val="50000"/>
                    <a:lumOff val="50000"/>
                  </a:schemeClr>
                </a:solidFill>
              </a:rPr>
              <a:t>oubli</a:t>
            </a:r>
            <a:r>
              <a:rPr sz="900">
                <a:solidFill>
                  <a:schemeClr val="tx1">
                    <a:lumMod val="50000"/>
                    <a:lumOff val="50000"/>
                  </a:schemeClr>
                </a:solidFill>
              </a:rPr>
              <a:t>. Vous trouverez plus de détails dans le manuel de jeu.</a:t>
            </a:r>
            <a:endParaRPr sz="1600"/>
          </a:p>
          <a:p>
            <a:pPr>
              <a:defRPr/>
            </a:pPr>
            <a:endParaRPr sz="900">
              <a:solidFill>
                <a:schemeClr val="tx1">
                  <a:lumMod val="50000"/>
                  <a:lumOff val="50000"/>
                </a:schemeClr>
              </a:solidFill>
            </a:endParaRPr>
          </a:p>
          <a:p>
            <a:pPr>
              <a:defRPr/>
            </a:pPr>
            <a:r>
              <a:rPr sz="900" b="0">
                <a:solidFill>
                  <a:schemeClr val="tx1"/>
                </a:solidFill>
              </a:rPr>
              <a:t>Le Pouvoir du Sang</a:t>
            </a:r>
            <a:r>
              <a:rPr sz="900">
                <a:solidFill>
                  <a:schemeClr val="tx1">
                    <a:lumMod val="50000"/>
                    <a:lumOff val="50000"/>
                  </a:schemeClr>
                </a:solidFill>
              </a:rPr>
              <a:t> </a:t>
            </a:r>
            <a:r>
              <a:rPr sz="900">
                <a:solidFill>
                  <a:schemeClr val="tx1">
                    <a:lumMod val="90000"/>
                    <a:lumOff val="5000"/>
                  </a:schemeClr>
                </a:solidFill>
              </a:rPr>
              <a:t>:</a:t>
            </a:r>
            <a:r>
              <a:rPr sz="900">
                <a:solidFill>
                  <a:schemeClr val="tx1">
                    <a:lumMod val="50000"/>
                    <a:lumOff val="50000"/>
                  </a:schemeClr>
                </a:solidFill>
              </a:rPr>
              <a:t> Chaque vampire développe ses propres Pouvoirs. Les utiliser en journée vous coûte systématiquement une case de soif.</a:t>
            </a:r>
            <a:endParaRPr sz="1600"/>
          </a:p>
        </p:txBody>
      </p:sp>
      <p:sp>
        <p:nvSpPr>
          <p:cNvPr id="245711859" name="ZoneTexte 790352176"/>
          <p:cNvSpPr txBox="1"/>
          <p:nvPr/>
        </p:nvSpPr>
        <p:spPr bwMode="auto">
          <a:xfrm>
            <a:off x="5973618" y="6424517"/>
            <a:ext cx="1314195"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SOIF</a:t>
            </a:r>
            <a:endParaRPr/>
          </a:p>
        </p:txBody>
      </p:sp>
      <p:sp>
        <p:nvSpPr>
          <p:cNvPr id="1962243826" name="ZoneTexte 2025740189"/>
          <p:cNvSpPr txBox="1"/>
          <p:nvPr/>
        </p:nvSpPr>
        <p:spPr bwMode="auto">
          <a:xfrm>
            <a:off x="5684755" y="6953542"/>
            <a:ext cx="1564007" cy="2746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indent="0" algn="l">
              <a:lnSpc>
                <a:spcPct val="100000"/>
              </a:lnSpc>
              <a:spcBef>
                <a:spcPts val="0"/>
              </a:spcBef>
              <a:spcAft>
                <a:spcPts val="0"/>
              </a:spcAft>
              <a:defRPr/>
            </a:pPr>
            <a:r>
              <a:rPr lang="fr-FR" sz="1200" b="1" i="0" u="none" strike="noStrike" cap="none" spc="0">
                <a:solidFill>
                  <a:schemeClr val="bg1">
                    <a:lumMod val="65000"/>
                  </a:schemeClr>
                </a:solidFill>
                <a:latin typeface="Arial"/>
                <a:ea typeface="Arial"/>
                <a:cs typeface="Arial"/>
              </a:rPr>
              <a:t>PERVERSION</a:t>
            </a:r>
            <a:endParaRPr sz="1200" b="1">
              <a:solidFill>
                <a:schemeClr val="bg1">
                  <a:lumMod val="50000"/>
                </a:schemeClr>
              </a:solidFill>
            </a:endParaRPr>
          </a:p>
        </p:txBody>
      </p:sp>
      <p:sp>
        <p:nvSpPr>
          <p:cNvPr id="1095328712" name=""/>
          <p:cNvSpPr/>
          <p:nvPr/>
        </p:nvSpPr>
        <p:spPr bwMode="auto">
          <a:xfrm rot="0" flipH="0" flipV="0">
            <a:off x="2344123" y="647213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68024086" name="Rectangle : avec coins arrondis en haut 1151560973"/>
          <p:cNvSpPr/>
          <p:nvPr/>
        </p:nvSpPr>
        <p:spPr bwMode="auto">
          <a:xfrm rot="5399909">
            <a:off x="2367315" y="6588589"/>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29965557" name=""/>
          <p:cNvSpPr/>
          <p:nvPr/>
        </p:nvSpPr>
        <p:spPr bwMode="auto">
          <a:xfrm rot="0" flipH="0" flipV="0">
            <a:off x="2353646" y="749130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75913297" name="Rectangle : avec coins arrondis en haut 1151560973"/>
          <p:cNvSpPr/>
          <p:nvPr/>
        </p:nvSpPr>
        <p:spPr bwMode="auto">
          <a:xfrm rot="5399909">
            <a:off x="2376838" y="7607763"/>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34387932" name=""/>
          <p:cNvSpPr/>
          <p:nvPr/>
        </p:nvSpPr>
        <p:spPr bwMode="auto">
          <a:xfrm rot="0" flipH="0" flipV="0">
            <a:off x="2353646" y="851048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49987179" name="Rectangle : avec coins arrondis en haut 1151560973"/>
          <p:cNvSpPr/>
          <p:nvPr/>
        </p:nvSpPr>
        <p:spPr bwMode="auto">
          <a:xfrm rot="5399909">
            <a:off x="2376838" y="8626938"/>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02822572" name=""/>
          <p:cNvSpPr txBox="1"/>
          <p:nvPr/>
        </p:nvSpPr>
        <p:spPr bwMode="auto">
          <a:xfrm rot="0" flipH="0" flipV="0">
            <a:off x="71831" y="545004"/>
            <a:ext cx="3186468" cy="1722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1000" b="0" i="1" u="none" strike="noStrike" cap="none" spc="0">
                <a:solidFill>
                  <a:schemeClr val="tx1">
                    <a:lumMod val="50000"/>
                    <a:lumOff val="50000"/>
                  </a:schemeClr>
                </a:solidFill>
                <a:latin typeface="Arial"/>
                <a:ea typeface="Arial"/>
                <a:cs typeface="Arial"/>
              </a:rPr>
              <a:t>Vous étiez vivant alors qu’un vampire aspirait votre sang jusqu’à la dernière goutte et vous offrait de boire le sien, de gré ou de </a:t>
            </a:r>
            <a:r>
              <a:rPr lang="fr-FR" sz="1000" b="0" i="1" u="none" strike="noStrike" cap="none" spc="0">
                <a:solidFill>
                  <a:schemeClr val="tx1">
                    <a:lumMod val="50000"/>
                    <a:lumOff val="50000"/>
                  </a:schemeClr>
                </a:solidFill>
                <a:latin typeface="Arial"/>
                <a:ea typeface="Arial"/>
                <a:cs typeface="Arial"/>
              </a:rPr>
              <a:t>force</a:t>
            </a:r>
            <a:r>
              <a:rPr lang="fr-FR" sz="1000" b="0" i="1" u="none" strike="noStrike" cap="none" spc="0">
                <a:solidFill>
                  <a:schemeClr val="tx1">
                    <a:lumMod val="50000"/>
                    <a:lumOff val="50000"/>
                  </a:schemeClr>
                </a:solidFill>
                <a:latin typeface="Arial"/>
                <a:ea typeface="Arial"/>
                <a:cs typeface="Arial"/>
              </a:rPr>
              <a:t>. Depuis cette nuit d’horreur, vous êtes un damné, un vampire qui dépend du sang des mortels pour continuer à exister. D’autres ont eu moins de chances que vous et sont devenus de simples goules, plus morts que vivants et aux ordres de leur créateur.</a:t>
            </a:r>
            <a:br>
              <a:rPr lang="fr-FR" sz="1000" b="0" i="1" u="none" strike="noStrike" cap="none" spc="0">
                <a:solidFill>
                  <a:schemeClr val="tx1">
                    <a:lumMod val="50000"/>
                    <a:lumOff val="50000"/>
                  </a:schemeClr>
                </a:solidFill>
                <a:latin typeface="Arial"/>
                <a:ea typeface="Arial"/>
                <a:cs typeface="Arial"/>
              </a:rPr>
            </a:br>
            <a:br>
              <a:rPr lang="fr-FR" sz="700" b="0" i="1" u="none" strike="noStrike" cap="none" spc="0">
                <a:solidFill>
                  <a:schemeClr val="tx1">
                    <a:lumMod val="50000"/>
                    <a:lumOff val="50000"/>
                  </a:schemeClr>
                </a:solidFill>
                <a:latin typeface="Arial"/>
                <a:ea typeface="Arial"/>
                <a:cs typeface="Arial"/>
              </a:rPr>
            </a:br>
            <a:r>
              <a:rPr lang="fr-FR" sz="1000" b="0" i="1" u="none" strike="noStrike" cap="none" spc="0">
                <a:solidFill>
                  <a:schemeClr val="tx1">
                    <a:lumMod val="50000"/>
                    <a:lumOff val="50000"/>
                  </a:schemeClr>
                </a:solidFill>
                <a:latin typeface="Arial"/>
                <a:ea typeface="Arial"/>
                <a:cs typeface="Arial"/>
              </a:rPr>
              <a:t>Contrairement aux vieilles croyances, votre corps est encore fonctionnel bien que votre peau soit fraîche et</a:t>
            </a:r>
            <a:endParaRPr sz="1000" b="0" i="1" u="none" strike="noStrike" cap="none" spc="0">
              <a:solidFill>
                <a:schemeClr val="tx1">
                  <a:lumMod val="50000"/>
                  <a:lumOff val="50000"/>
                </a:schemeClr>
              </a:solidFill>
              <a:latin typeface="Arial"/>
              <a:cs typeface="Arial"/>
            </a:endParaRPr>
          </a:p>
        </p:txBody>
      </p:sp>
      <p:sp>
        <p:nvSpPr>
          <p:cNvPr id="89460304" name=""/>
          <p:cNvSpPr txBox="1"/>
          <p:nvPr/>
        </p:nvSpPr>
        <p:spPr bwMode="auto">
          <a:xfrm rot="0" flipH="0" flipV="0">
            <a:off x="3472500" y="545004"/>
            <a:ext cx="3192588" cy="1722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1000" b="0" i="1" u="none" strike="noStrike" cap="none" spc="0">
                <a:solidFill>
                  <a:schemeClr val="tx1">
                    <a:lumMod val="50000"/>
                    <a:lumOff val="50000"/>
                  </a:schemeClr>
                </a:solidFill>
                <a:latin typeface="Arial"/>
                <a:ea typeface="Arial"/>
                <a:cs typeface="Arial"/>
              </a:rPr>
              <a:t>votre rythme cardiaque ralenti. Votre peau ne craint pas la morsure du soleil, mais utiliser vos pouvoirs le jour vous coûte davantage.</a:t>
            </a:r>
            <a:endParaRPr sz="1000" b="0" i="1" u="none" strike="noStrike" cap="none" spc="0">
              <a:solidFill>
                <a:schemeClr val="tx1">
                  <a:lumMod val="50000"/>
                  <a:lumOff val="50000"/>
                </a:schemeClr>
              </a:solidFill>
              <a:latin typeface="Arial"/>
              <a:ea typeface="Arial"/>
              <a:cs typeface="Arial"/>
            </a:endParaRPr>
          </a:p>
          <a:p>
            <a:pPr marL="0" marR="0" indent="0" algn="l">
              <a:lnSpc>
                <a:spcPct val="100000"/>
              </a:lnSpc>
              <a:spcBef>
                <a:spcPts val="0"/>
              </a:spcBef>
              <a:spcAft>
                <a:spcPts val="0"/>
              </a:spcAft>
              <a:defRPr/>
            </a:pPr>
            <a:endParaRPr sz="700" b="0" i="1" u="none" strike="noStrike" cap="none" spc="0">
              <a:solidFill>
                <a:schemeClr val="tx1">
                  <a:lumMod val="50000"/>
                  <a:lumOff val="50000"/>
                </a:schemeClr>
              </a:solidFill>
              <a:latin typeface="Arial"/>
              <a:cs typeface="Arial"/>
            </a:endParaRPr>
          </a:p>
          <a:p>
            <a:pPr marL="0" marR="0" indent="0" algn="l">
              <a:lnSpc>
                <a:spcPct val="100000"/>
              </a:lnSpc>
              <a:spcBef>
                <a:spcPts val="0"/>
              </a:spcBef>
              <a:spcAft>
                <a:spcPts val="0"/>
              </a:spcAft>
              <a:defRPr/>
            </a:pPr>
            <a:r>
              <a:rPr lang="fr-FR" sz="1000" b="0" i="1" u="none" strike="noStrike" cap="none" spc="0">
                <a:solidFill>
                  <a:schemeClr val="tx1">
                    <a:lumMod val="50000"/>
                    <a:lumOff val="50000"/>
                  </a:schemeClr>
                </a:solidFill>
                <a:latin typeface="Arial"/>
                <a:ea typeface="Arial"/>
                <a:cs typeface="Arial"/>
              </a:rPr>
              <a:t>Vous ne vieillissez plus et votre corps régénère de ses blessures aisément. Vous éprouvez encore des sensations, des émotions, des désirs et de la douleur. La douleur de ne plus vraiment faire partie du monde des vivants. Elle est sans doute là, votre damnation : vous n’êtes pas tout à fait un monstre. Pas encore.</a:t>
            </a:r>
            <a:endParaRPr sz="1000" b="0" i="1" u="none" strike="noStrike" cap="none" spc="0">
              <a:solidFill>
                <a:schemeClr val="tx1">
                  <a:lumMod val="50000"/>
                  <a:lumOff val="50000"/>
                </a:schemeClr>
              </a:solidFill>
              <a:latin typeface="Arial"/>
              <a:cs typeface="Arial"/>
            </a:endParaRPr>
          </a:p>
        </p:txBody>
      </p:sp>
      <p:sp>
        <p:nvSpPr>
          <p:cNvPr id="838903772" name=""/>
          <p:cNvSpPr/>
          <p:nvPr/>
        </p:nvSpPr>
        <p:spPr bwMode="auto">
          <a:xfrm>
            <a:off x="3282427" y="22347"/>
            <a:ext cx="3571425"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Georgia"/>
                <a:ea typeface="Georgia"/>
                <a:cs typeface="Georgia"/>
              </a:rPr>
              <a:t>Les </a:t>
            </a:r>
            <a:r>
              <a:rPr sz="2200" b="1">
                <a:solidFill>
                  <a:srgbClr val="BFBFBF"/>
                </a:solidFill>
                <a:latin typeface="Georgia"/>
                <a:ea typeface="Georgia"/>
                <a:cs typeface="Georgia"/>
              </a:rPr>
              <a:t>monstres </a:t>
            </a:r>
            <a:r>
              <a:rPr sz="1600">
                <a:solidFill>
                  <a:srgbClr val="BFBFBF"/>
                </a:solidFill>
                <a:latin typeface="Georgia"/>
                <a:ea typeface="Georgia"/>
                <a:cs typeface="Georgia"/>
              </a:rPr>
              <a:t>que nous sommes</a:t>
            </a:r>
            <a:endParaRPr sz="2000">
              <a:solidFill>
                <a:srgbClr val="BFBFBF"/>
              </a:solidFill>
              <a:latin typeface="Georgia"/>
              <a:cs typeface="Georgia"/>
            </a:endParaRPr>
          </a:p>
        </p:txBody>
      </p:sp>
      <p:sp>
        <p:nvSpPr>
          <p:cNvPr id="688203079" name="Flèche : pentagone 1325137089"/>
          <p:cNvSpPr/>
          <p:nvPr/>
        </p:nvSpPr>
        <p:spPr bwMode="auto">
          <a:xfrm>
            <a:off x="5982669" y="6851058"/>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48119760" name="Flèche : pentagone 295922856"/>
          <p:cNvSpPr/>
          <p:nvPr/>
        </p:nvSpPr>
        <p:spPr bwMode="auto">
          <a:xfrm>
            <a:off x="6171444" y="6851058"/>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21256989" name="Flèche : pentagone 1961547672"/>
          <p:cNvSpPr/>
          <p:nvPr/>
        </p:nvSpPr>
        <p:spPr bwMode="auto">
          <a:xfrm>
            <a:off x="6360220" y="6851058"/>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107451739" name="Connecteur droit 266926011"/>
          <p:cNvCxnSpPr/>
          <p:nvPr/>
        </p:nvCxnSpPr>
        <p:spPr bwMode="auto">
          <a:xfrm flipV="1">
            <a:off x="-56173" y="361948"/>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9711983" name="ZoneTexte 1043763612"/>
          <p:cNvSpPr txBox="1"/>
          <p:nvPr/>
        </p:nvSpPr>
        <p:spPr bwMode="auto">
          <a:xfrm>
            <a:off x="972" y="178886"/>
            <a:ext cx="477476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Le courroux du Leshy</a:t>
            </a:r>
            <a:endParaRPr/>
          </a:p>
        </p:txBody>
      </p:sp>
      <p:cxnSp>
        <p:nvCxnSpPr>
          <p:cNvPr id="572972557" name="Connecteur droit 1586327141"/>
          <p:cNvCxnSpPr/>
          <p:nvPr/>
        </p:nvCxnSpPr>
        <p:spPr bwMode="auto">
          <a:xfrm flipV="1">
            <a:off x="-56171" y="2325354"/>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99457483" name="ZoneTexte 1691387439"/>
          <p:cNvSpPr txBox="1"/>
          <p:nvPr/>
        </p:nvSpPr>
        <p:spPr bwMode="auto">
          <a:xfrm>
            <a:off x="-56170" y="2142291"/>
            <a:ext cx="478880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Formes du Leshy</a:t>
            </a:r>
            <a:endParaRPr/>
          </a:p>
        </p:txBody>
      </p:sp>
      <p:cxnSp>
        <p:nvCxnSpPr>
          <p:cNvPr id="206102866" name="Connecteur droit 1743707585"/>
          <p:cNvCxnSpPr/>
          <p:nvPr/>
        </p:nvCxnSpPr>
        <p:spPr bwMode="auto">
          <a:xfrm flipV="1">
            <a:off x="3252188" y="5857868"/>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457500196" name="ZoneTexte 1503300725"/>
          <p:cNvSpPr txBox="1"/>
          <p:nvPr/>
        </p:nvSpPr>
        <p:spPr bwMode="auto">
          <a:xfrm flipH="0" flipV="0">
            <a:off x="3183321" y="6067422"/>
            <a:ext cx="2002501" cy="64842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la nature est malmenée devant vous ou en présence de feu non contrôlé.</a:t>
            </a:r>
            <a:endParaRPr sz="800">
              <a:solidFill>
                <a:schemeClr val="tx1">
                  <a:lumMod val="50000"/>
                  <a:lumOff val="50000"/>
                </a:schemeClr>
              </a:solidFill>
            </a:endParaRPr>
          </a:p>
        </p:txBody>
      </p:sp>
      <p:sp>
        <p:nvSpPr>
          <p:cNvPr id="2037496980" name="Rectangle : avec coins arrondis en haut 1151560973"/>
          <p:cNvSpPr/>
          <p:nvPr/>
        </p:nvSpPr>
        <p:spPr bwMode="auto">
          <a:xfrm rot="5399942">
            <a:off x="5128596" y="6187618"/>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42296537" name="Flèche : pentagone 1610574377"/>
          <p:cNvSpPr/>
          <p:nvPr/>
        </p:nvSpPr>
        <p:spPr bwMode="auto">
          <a:xfrm>
            <a:off x="5746267" y="6175029"/>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21759136" name="Flèche : pentagone 463861063"/>
          <p:cNvSpPr/>
          <p:nvPr/>
        </p:nvSpPr>
        <p:spPr bwMode="auto">
          <a:xfrm>
            <a:off x="5935043" y="6175029"/>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89498139" name="Flèche : pentagone 272004907"/>
          <p:cNvSpPr/>
          <p:nvPr/>
        </p:nvSpPr>
        <p:spPr bwMode="auto">
          <a:xfrm>
            <a:off x="6123825" y="6175029"/>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17927727" name="Flèche : pentagone 28174069"/>
          <p:cNvSpPr/>
          <p:nvPr/>
        </p:nvSpPr>
        <p:spPr bwMode="auto">
          <a:xfrm>
            <a:off x="6312600" y="6175029"/>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92879959" name="Flèche : pentagone 978127220"/>
          <p:cNvSpPr/>
          <p:nvPr/>
        </p:nvSpPr>
        <p:spPr bwMode="auto">
          <a:xfrm>
            <a:off x="6501375" y="6175029"/>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96890144" name="ZoneTexte 1693594013"/>
          <p:cNvSpPr txBox="1"/>
          <p:nvPr/>
        </p:nvSpPr>
        <p:spPr bwMode="auto">
          <a:xfrm flipH="0" flipV="0">
            <a:off x="3252177" y="6794592"/>
            <a:ext cx="3613194" cy="301788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Pulsation cochée entraîne un</a:t>
            </a:r>
            <a:r>
              <a:rPr sz="800" b="1">
                <a:solidFill>
                  <a:schemeClr val="tx1">
                    <a:lumMod val="50000"/>
                    <a:lumOff val="50000"/>
                  </a:schemeClr>
                </a:solidFill>
              </a:rPr>
              <a:t> malus de -10 à la maîtrise de soi</a:t>
            </a:r>
            <a:r>
              <a:rPr sz="800">
                <a:solidFill>
                  <a:schemeClr val="tx1">
                    <a:lumMod val="50000"/>
                    <a:lumOff val="50000"/>
                  </a:schemeClr>
                </a:solidFill>
              </a:rPr>
              <a:t>.</a:t>
            </a:r>
            <a:r>
              <a:rPr sz="800">
                <a:solidFill>
                  <a:schemeClr val="tx1">
                    <a:lumMod val="50000"/>
                    <a:lumOff val="50000"/>
                  </a:schemeClr>
                </a:solidFill>
              </a:rPr>
              <a:t> Si vous échouez une épreuve </a:t>
            </a:r>
            <a:r>
              <a:rPr lang="fr-FR" sz="800" b="0" i="0" u="none" strike="noStrike" cap="none" spc="0">
                <a:solidFill>
                  <a:schemeClr val="tx1">
                    <a:lumMod val="50000"/>
                    <a:lumOff val="50000"/>
                  </a:schemeClr>
                </a:solidFill>
                <a:latin typeface="Arial"/>
                <a:ea typeface="Arial"/>
                <a:cs typeface="Arial"/>
              </a:rPr>
              <a:t>de maîtrise de soi, cochez une case de pulsation. Si vous réussissez un choc de maîtrise de soi, cochez une case de pulsation. Si vous échouez à un choc de maîtrise de soi, cochez une case de colère.</a:t>
            </a:r>
            <a:r>
              <a:rPr lang="fr-FR" sz="800" b="0" i="0" u="none" strike="noStrike" cap="none" spc="0">
                <a:solidFill>
                  <a:schemeClr val="tx1">
                    <a:lumMod val="50000"/>
                    <a:lumOff val="50000"/>
                  </a:schemeClr>
                </a:solidFill>
                <a:latin typeface="Arial"/>
                <a:ea typeface="Arial"/>
                <a:cs typeface="Arial"/>
              </a:rPr>
              <a:t> Vous pouvez effacer une case de pulsation en vous harmonisant à la nature.</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la première case de colère, le leshy vous submerge et vous force à réagir avec excès.</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La seconde case de colère cochée vous oblige à passer en forme transitoire et vous perdez le contrôle pour une scène. </a:t>
            </a:r>
            <a:r>
              <a:rPr sz="800" b="1">
                <a:solidFill>
                  <a:schemeClr val="tx1">
                    <a:lumMod val="50000"/>
                    <a:lumOff val="50000"/>
                  </a:schemeClr>
                </a:solidFill>
              </a:rPr>
              <a:t>Perdez 1d6 points en maîtrise de soi</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Si vous cochez la troisième case de colère, votre personnage passe en forme de greffé et vous en perdez complètement le contrôle. Le personnage devient PNJ tant qu’il n’a pas été ramené du bon côté et </a:t>
            </a:r>
            <a:r>
              <a:rPr sz="800" b="1">
                <a:solidFill>
                  <a:schemeClr val="tx1">
                    <a:lumMod val="50000"/>
                    <a:lumOff val="50000"/>
                  </a:schemeClr>
                </a:solidFill>
              </a:rPr>
              <a:t>perd 2d6 points en maîtrise de soi</a:t>
            </a:r>
            <a:r>
              <a:rPr sz="800">
                <a:solidFill>
                  <a:schemeClr val="tx1">
                    <a:lumMod val="50000"/>
                    <a:lumOff val="50000"/>
                  </a:schemeClr>
                </a:solidFill>
              </a:rPr>
              <a:t>.</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mn-lt"/>
                <a:ea typeface="+mn-ea"/>
                <a:cs typeface="+mn-cs"/>
              </a:rPr>
              <a:t>Lorsque la nouvelle lune apparaît dans le ciel pour la première fois lors du cycle lunaire, cochez la première case de colère si elle ne l’était pas.</a:t>
            </a:r>
            <a:endParaRPr lang="fr-FR" sz="800" b="0" i="0" u="none" strike="noStrike" cap="none" spc="0">
              <a:solidFill>
                <a:schemeClr val="tx1">
                  <a:lumMod val="50000"/>
                  <a:lumOff val="50000"/>
                </a:schemeClr>
              </a:solidFill>
              <a:latin typeface="Arial"/>
              <a:ea typeface="Arial"/>
              <a:cs typeface="Arial"/>
            </a:endParaRPr>
          </a:p>
          <a:p>
            <a:pPr algn="l">
              <a:defRPr/>
            </a:pPr>
            <a:endParaRPr lang="fr-FR" sz="800" b="0" i="0" u="none" strike="noStrike" cap="none" spc="0">
              <a:solidFill>
                <a:schemeClr val="tx1">
                  <a:lumMod val="50000"/>
                  <a:lumOff val="50000"/>
                </a:schemeClr>
              </a:solidFill>
              <a:latin typeface="Arial"/>
              <a:ea typeface="Arial"/>
              <a:cs typeface="Arial"/>
            </a:endParaRPr>
          </a:p>
          <a:p>
            <a:pPr algn="l">
              <a:defRPr/>
            </a:pPr>
            <a:r>
              <a:rPr lang="fr-FR" sz="800" b="0" i="0" u="none" strike="noStrike" cap="none" spc="0">
                <a:solidFill>
                  <a:schemeClr val="tx1">
                    <a:lumMod val="50000"/>
                    <a:lumOff val="50000"/>
                  </a:schemeClr>
                </a:solidFill>
                <a:latin typeface="Arial"/>
                <a:ea typeface="Arial"/>
                <a:cs typeface="Arial"/>
              </a:rPr>
              <a:t>Tant que vous n’avez pas coché les 3 cases de colère, vous effacez une case de colère au début d’un nouveau scénario.</a:t>
            </a:r>
            <a:endParaRPr lang="fr-FR" sz="800" b="0" i="0" u="none" strike="noStrike" cap="none" spc="0">
              <a:solidFill>
                <a:schemeClr val="tx1">
                  <a:lumMod val="50000"/>
                  <a:lumOff val="50000"/>
                </a:schemeClr>
              </a:solidFill>
              <a:latin typeface="Arial"/>
              <a:ea typeface="Arial"/>
              <a:cs typeface="Arial"/>
            </a:endParaRPr>
          </a:p>
        </p:txBody>
      </p:sp>
      <p:sp>
        <p:nvSpPr>
          <p:cNvPr id="1834342420" name="ZoneTexte 1975797288"/>
          <p:cNvSpPr txBox="1"/>
          <p:nvPr/>
        </p:nvSpPr>
        <p:spPr bwMode="auto">
          <a:xfrm>
            <a:off x="3296619" y="5674807"/>
            <a:ext cx="228002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Pulsation &amp; Colère</a:t>
            </a:r>
            <a:endParaRPr/>
          </a:p>
        </p:txBody>
      </p:sp>
      <p:sp>
        <p:nvSpPr>
          <p:cNvPr id="1348892442" name="ZoneTexte 2064865984"/>
          <p:cNvSpPr txBox="1"/>
          <p:nvPr/>
        </p:nvSpPr>
        <p:spPr bwMode="auto">
          <a:xfrm flipH="0" flipV="0">
            <a:off x="972" y="3243357"/>
            <a:ext cx="1802709" cy="19815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Humaine</a:t>
            </a:r>
            <a:endParaRPr/>
          </a:p>
          <a:p>
            <a:pPr>
              <a:defRPr/>
            </a:pPr>
            <a:r>
              <a:rPr lang="fr-FR" sz="800" b="0" i="0" u="none" strike="noStrike" cap="none" spc="0">
                <a:solidFill>
                  <a:schemeClr val="tx1">
                    <a:lumMod val="50000"/>
                    <a:lumOff val="50000"/>
                  </a:schemeClr>
                </a:solidFill>
                <a:latin typeface="Arial"/>
                <a:ea typeface="Arial"/>
                <a:cs typeface="Arial"/>
              </a:rPr>
              <a:t>Peu après la greffe qui a fait de vous un leshy, les traits suivants augmentent : </a:t>
            </a:r>
            <a:r>
              <a:rPr lang="fr-FR" sz="800" b="1" i="0" u="none" strike="noStrike" cap="none" spc="0">
                <a:solidFill>
                  <a:schemeClr val="tx1">
                    <a:lumMod val="50000"/>
                    <a:lumOff val="50000"/>
                  </a:schemeClr>
                </a:solidFill>
                <a:latin typeface="Arial"/>
                <a:ea typeface="Arial"/>
                <a:cs typeface="Arial"/>
              </a:rPr>
              <a:t>+10 en nature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résistance mentale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Ces bonus ne sont pas des modificateurs et font maintenant partie de vos scores. </a:t>
            </a:r>
            <a:endParaRPr lang="fr-FR" sz="800" b="0" i="0" u="none" strike="noStrike" cap="none" spc="0">
              <a:solidFill>
                <a:schemeClr val="tx1">
                  <a:lumMod val="50000"/>
                  <a:lumOff val="50000"/>
                </a:schemeClr>
              </a:solidFill>
              <a:latin typeface="Arial"/>
              <a:ea typeface="Arial"/>
              <a:cs typeface="Arial"/>
            </a:endParaRPr>
          </a:p>
          <a:p>
            <a:pPr>
              <a:defRPr/>
            </a:pPr>
            <a:endParaRPr sz="800">
              <a:solidFill>
                <a:schemeClr val="tx1">
                  <a:lumMod val="50000"/>
                  <a:lumOff val="50000"/>
                </a:schemeClr>
              </a:solidFill>
            </a:endParaRPr>
          </a:p>
          <a:p>
            <a:pPr>
              <a:defRPr/>
            </a:pPr>
            <a:r>
              <a:rPr lang="fr-FR" sz="800" b="0" i="0" u="none" strike="noStrike" cap="none" spc="0">
                <a:solidFill>
                  <a:schemeClr val="tx1">
                    <a:lumMod val="50000"/>
                    <a:lumOff val="50000"/>
                  </a:schemeClr>
                </a:solidFill>
                <a:latin typeface="Arial"/>
                <a:ea typeface="Arial"/>
                <a:cs typeface="Arial"/>
              </a:rPr>
              <a:t>Votre corps est capable de régénérer lentement de ses blessures : vous récupérez </a:t>
            </a:r>
            <a:r>
              <a:rPr lang="fr-FR" sz="800" b="1" i="0" u="none" strike="noStrike" cap="none" spc="0">
                <a:solidFill>
                  <a:schemeClr val="tx1">
                    <a:lumMod val="50000"/>
                    <a:lumOff val="50000"/>
                  </a:schemeClr>
                </a:solidFill>
                <a:latin typeface="Arial"/>
                <a:ea typeface="Arial"/>
                <a:cs typeface="Arial"/>
              </a:rPr>
              <a:t>un de vos stress physiques</a:t>
            </a:r>
            <a:r>
              <a:rPr lang="fr-FR" sz="800" b="0" i="0" u="none" strike="noStrike" cap="none" spc="0">
                <a:solidFill>
                  <a:schemeClr val="tx1">
                    <a:lumMod val="50000"/>
                    <a:lumOff val="50000"/>
                  </a:schemeClr>
                </a:solidFill>
                <a:latin typeface="Arial"/>
                <a:ea typeface="Arial"/>
                <a:cs typeface="Arial"/>
              </a:rPr>
              <a:t> à la fin de chaque scène.</a:t>
            </a:r>
            <a:endParaRPr lang="fr-FR" sz="800" b="0" i="0" u="none" strike="noStrike" cap="none" spc="0">
              <a:solidFill>
                <a:schemeClr val="tx1">
                  <a:lumMod val="50000"/>
                  <a:lumOff val="50000"/>
                </a:schemeClr>
              </a:solidFill>
              <a:latin typeface="Arial"/>
              <a:ea typeface="Arial"/>
              <a:cs typeface="Arial"/>
            </a:endParaRPr>
          </a:p>
        </p:txBody>
      </p:sp>
      <p:sp>
        <p:nvSpPr>
          <p:cNvPr id="1127560200" name="ZoneTexte 1387173154"/>
          <p:cNvSpPr txBox="1"/>
          <p:nvPr/>
        </p:nvSpPr>
        <p:spPr bwMode="auto">
          <a:xfrm flipH="0" flipV="0">
            <a:off x="1715349" y="3244244"/>
            <a:ext cx="2471378" cy="23473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a:t>
            </a:r>
            <a:r>
              <a:rPr sz="1200"/>
              <a:t>Transitoire</a:t>
            </a:r>
            <a:endParaRPr lang="fr-FR" sz="1200"/>
          </a:p>
          <a:p>
            <a:pPr>
              <a:defRPr/>
            </a:pPr>
            <a:r>
              <a:rPr lang="fr-FR" sz="800" b="0" i="0" u="none" strike="noStrike" cap="none" spc="0">
                <a:solidFill>
                  <a:schemeClr val="tx1">
                    <a:lumMod val="50000"/>
                    <a:lumOff val="50000"/>
                  </a:schemeClr>
                </a:solidFill>
                <a:latin typeface="Arial"/>
                <a:ea typeface="Arial"/>
                <a:cs typeface="Arial"/>
              </a:rPr>
              <a:t>C’est sous cette forme que vous ressentez plus fortement la pulsation qui bat en vous ainsi que le hurlement de la nature autour de vous. Vous devenez capable de vous enraciner au sol. Votre musculature devient plus dense, vos traits empruntent à ceux du règne végétal et votre peau se durcit comme l’écorce, limitant considérablement vos activités sociales. Votre voix est également plus rauque mais votre diction suffisante pour être compris.</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 vous obtenez un modificateur de </a:t>
            </a:r>
            <a:r>
              <a:rPr lang="fr-FR" sz="800" b="1" i="0" u="none" strike="noStrike" cap="none" spc="0">
                <a:solidFill>
                  <a:schemeClr val="tx1">
                    <a:lumMod val="50000"/>
                    <a:lumOff val="50000"/>
                  </a:schemeClr>
                </a:solidFill>
                <a:latin typeface="Arial"/>
                <a:ea typeface="Arial"/>
                <a:cs typeface="Arial"/>
              </a:rPr>
              <a:t>+20 en Combat</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+10 en Nature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Votre corps est maintenant capable de régénérer rapidement de ses blessures : 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a:t>
            </a:r>
            <a:endParaRPr sz="800">
              <a:solidFill>
                <a:schemeClr val="tx1">
                  <a:lumMod val="50000"/>
                  <a:lumOff val="50000"/>
                </a:schemeClr>
              </a:solidFill>
            </a:endParaRPr>
          </a:p>
        </p:txBody>
      </p:sp>
      <p:sp>
        <p:nvSpPr>
          <p:cNvPr id="865256640" name="ZoneTexte 523755832"/>
          <p:cNvSpPr txBox="1"/>
          <p:nvPr/>
        </p:nvSpPr>
        <p:spPr bwMode="auto">
          <a:xfrm flipH="0" flipV="0">
            <a:off x="4185291" y="3244245"/>
            <a:ext cx="2672120" cy="23473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 de Greffé</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de Greffé, vous devenez le vengeur de la nature malmenée. Vous n’avez plus aucune maîtrise de vous-même et prenez l’apparence d’une créature d’écorce, de ronces et de bois terrifiante pour la durée d’une scène.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 vous recevez un modificateur de </a:t>
            </a:r>
            <a:r>
              <a:rPr lang="fr-FR" sz="800" b="1" i="0" u="none" strike="noStrike" cap="none" spc="0">
                <a:solidFill>
                  <a:schemeClr val="tx1">
                    <a:lumMod val="50000"/>
                    <a:lumOff val="50000"/>
                  </a:schemeClr>
                </a:solidFill>
                <a:latin typeface="Arial"/>
                <a:ea typeface="Arial"/>
                <a:cs typeface="Arial"/>
              </a:rPr>
              <a:t>+50 en Combat</a:t>
            </a:r>
            <a:r>
              <a:rPr lang="fr-FR" sz="800" b="0" i="0" u="none" strike="noStrike" cap="none" spc="0">
                <a:solidFill>
                  <a:schemeClr val="tx1">
                    <a:lumMod val="50000"/>
                    <a:lumOff val="50000"/>
                  </a:schemeClr>
                </a:solidFill>
                <a:latin typeface="Arial"/>
                <a:ea typeface="Arial"/>
                <a:cs typeface="Arial"/>
              </a:rPr>
              <a:t>, de </a:t>
            </a:r>
            <a:r>
              <a:rPr lang="fr-FR" sz="800" b="1" i="0" u="none" strike="noStrike" cap="none" spc="0">
                <a:solidFill>
                  <a:schemeClr val="tx1">
                    <a:lumMod val="50000"/>
                    <a:lumOff val="50000"/>
                  </a:schemeClr>
                </a:solidFill>
                <a:latin typeface="Arial"/>
                <a:ea typeface="Arial"/>
                <a:cs typeface="Arial"/>
              </a:rPr>
              <a:t>+20 en résistance physique</a:t>
            </a:r>
            <a:r>
              <a:rPr lang="fr-FR" sz="800" b="0" i="0" u="none" strike="noStrike" cap="none" spc="0">
                <a:solidFill>
                  <a:schemeClr val="tx1">
                    <a:lumMod val="50000"/>
                    <a:lumOff val="50000"/>
                  </a:schemeClr>
                </a:solidFill>
                <a:latin typeface="Arial"/>
                <a:ea typeface="Arial"/>
                <a:cs typeface="Arial"/>
              </a:rPr>
              <a:t> et de </a:t>
            </a:r>
            <a:r>
              <a:rPr lang="fr-FR" sz="800" b="1" i="0" u="none" strike="noStrike" cap="none" spc="0">
                <a:solidFill>
                  <a:schemeClr val="tx1">
                    <a:lumMod val="50000"/>
                    <a:lumOff val="50000"/>
                  </a:schemeClr>
                </a:solidFill>
                <a:latin typeface="Arial"/>
                <a:ea typeface="Arial"/>
                <a:cs typeface="Arial"/>
              </a:rPr>
              <a:t>+10 en Vigilance</a:t>
            </a:r>
            <a:r>
              <a:rPr lang="fr-FR" sz="800" b="0" i="0" u="none" strike="noStrike" cap="none" spc="0">
                <a:solidFill>
                  <a:schemeClr val="tx1">
                    <a:lumMod val="50000"/>
                    <a:lumOff val="50000"/>
                  </a:schemeClr>
                </a:solidFill>
                <a:latin typeface="Arial"/>
                <a:ea typeface="Arial"/>
                <a:cs typeface="Arial"/>
              </a:rPr>
              <a:t>. Votre corps est maintenant capable de régénérer rapidement de ses blessures : 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 Vos griffes et vos bois sont des armes létales et vous octroient un bonus de +20 en dégâts..</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Les témoins ont tendance à rationaliser et à trouver toute explication que leur esprit peut accepter plutôt que celle de la terrible réalité.</a:t>
            </a:r>
            <a:endParaRPr sz="800">
              <a:solidFill>
                <a:schemeClr val="tx1">
                  <a:lumMod val="50000"/>
                  <a:lumOff val="50000"/>
                </a:schemeClr>
              </a:solidFill>
            </a:endParaRPr>
          </a:p>
        </p:txBody>
      </p:sp>
      <p:cxnSp>
        <p:nvCxnSpPr>
          <p:cNvPr id="1400833397" name="Connecteur droit 2085669542"/>
          <p:cNvCxnSpPr/>
          <p:nvPr/>
        </p:nvCxnSpPr>
        <p:spPr bwMode="auto">
          <a:xfrm flipV="1">
            <a:off x="-37125" y="5857869"/>
            <a:ext cx="294322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072586787" name="ZoneTexte 34398067"/>
          <p:cNvSpPr txBox="1"/>
          <p:nvPr/>
        </p:nvSpPr>
        <p:spPr bwMode="auto">
          <a:xfrm>
            <a:off x="-5859" y="5674806"/>
            <a:ext cx="284207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Les Pouvoirs du Greffé</a:t>
            </a:r>
            <a:endParaRPr/>
          </a:p>
        </p:txBody>
      </p:sp>
      <p:sp>
        <p:nvSpPr>
          <p:cNvPr id="1815105411" name="ZoneTexte 273581705"/>
          <p:cNvSpPr txBox="1"/>
          <p:nvPr/>
        </p:nvSpPr>
        <p:spPr bwMode="auto">
          <a:xfrm>
            <a:off x="972" y="6076494"/>
            <a:ext cx="2994759" cy="359217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pouvoir personnel, considérez que chaque pouvoir occupe 40% des chances d’obtention. Un nouveau pouvoir débute avec un score de 50.</a:t>
            </a:r>
            <a:endParaRPr sz="600">
              <a:solidFill>
                <a:schemeClr val="tx1">
                  <a:lumMod val="50000"/>
                  <a:lumOff val="50000"/>
                </a:schemeClr>
              </a:solidFill>
            </a:endParaRPr>
          </a:p>
        </p:txBody>
      </p:sp>
      <p:sp>
        <p:nvSpPr>
          <p:cNvPr id="1444903832" name="ZoneTexte 1727393832"/>
          <p:cNvSpPr txBox="1"/>
          <p:nvPr/>
        </p:nvSpPr>
        <p:spPr bwMode="auto">
          <a:xfrm flipH="0" flipV="0">
            <a:off x="5541295" y="5925115"/>
            <a:ext cx="1386368" cy="335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600" b="1">
                <a:solidFill>
                  <a:schemeClr val="bg1">
                    <a:lumMod val="65000"/>
                  </a:schemeClr>
                </a:solidFill>
                <a:latin typeface="Arial"/>
                <a:ea typeface="Arial"/>
                <a:cs typeface="Arial"/>
              </a:rPr>
              <a:t>PULSATION</a:t>
            </a:r>
            <a:endParaRPr/>
          </a:p>
        </p:txBody>
      </p:sp>
      <p:sp>
        <p:nvSpPr>
          <p:cNvPr id="1102876424" name="ZoneTexte 504516740"/>
          <p:cNvSpPr txBox="1"/>
          <p:nvPr/>
        </p:nvSpPr>
        <p:spPr bwMode="auto">
          <a:xfrm flipH="0" flipV="0">
            <a:off x="5746266" y="6490585"/>
            <a:ext cx="1229439"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COLERE</a:t>
            </a:r>
            <a:endParaRPr/>
          </a:p>
        </p:txBody>
      </p:sp>
      <p:sp>
        <p:nvSpPr>
          <p:cNvPr id="1801707526" name="ZoneTexte 1"/>
          <p:cNvSpPr txBox="1"/>
          <p:nvPr/>
        </p:nvSpPr>
        <p:spPr bwMode="auto">
          <a:xfrm flipH="0" flipV="0">
            <a:off x="3449952" y="531372"/>
            <a:ext cx="3426099" cy="17224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1000" b="0" i="1" u="none" strike="noStrike" cap="none" spc="0">
                <a:solidFill>
                  <a:schemeClr val="tx1">
                    <a:lumMod val="50000"/>
                    <a:lumOff val="50000"/>
                  </a:schemeClr>
                </a:solidFill>
                <a:latin typeface="Arial"/>
                <a:ea typeface="Arial"/>
                <a:cs typeface="Arial"/>
              </a:rPr>
              <a:t>Si vous n'y prenez pas garde, vous pourriez vous transformer en greffé, une créature de chair et de bois évoquant un cauchemar issu de la nature sauvage en quête de vengeance. </a:t>
            </a:r>
            <a:r>
              <a:rPr lang="fr-FR" sz="1000" b="0" i="1" u="none" strike="noStrike" cap="none" spc="0">
                <a:solidFill>
                  <a:schemeClr val="tx1">
                    <a:lumMod val="50000"/>
                    <a:lumOff val="50000"/>
                  </a:schemeClr>
                </a:solidFill>
                <a:latin typeface="Arial"/>
                <a:ea typeface="Arial"/>
                <a:cs typeface="Arial"/>
              </a:rPr>
              <a:t>Vous avez cependant appris à utiliser la forme transitoire, qui au moins vous garantit de garder votre lucidité. </a:t>
            </a:r>
            <a:endParaRPr sz="1000" b="0" i="1" u="none" strike="noStrike" cap="none" spc="0">
              <a:solidFill>
                <a:schemeClr val="tx1">
                  <a:lumMod val="50000"/>
                  <a:lumOff val="50000"/>
                </a:schemeClr>
              </a:solidFill>
              <a:latin typeface="Times New Roman"/>
              <a:cs typeface="Times New Roman"/>
            </a:endParaRPr>
          </a:p>
          <a:p>
            <a:pPr>
              <a:defRPr/>
            </a:pPr>
            <a:endParaRPr sz="700" b="0" i="1" u="none" strike="noStrike" cap="none" spc="0">
              <a:solidFill>
                <a:schemeClr val="tx1">
                  <a:lumMod val="50000"/>
                  <a:lumOff val="50000"/>
                </a:schemeClr>
              </a:solidFill>
              <a:latin typeface="Times New Roman"/>
              <a:cs typeface="Times New Roman"/>
            </a:endParaRPr>
          </a:p>
          <a:p>
            <a:pPr>
              <a:defRPr/>
            </a:pPr>
            <a:r>
              <a:rPr lang="fr-FR" sz="1000" b="0" i="1" u="none" strike="noStrike" cap="none" spc="0">
                <a:solidFill>
                  <a:schemeClr val="tx1">
                    <a:lumMod val="50000"/>
                    <a:lumOff val="50000"/>
                  </a:schemeClr>
                </a:solidFill>
                <a:latin typeface="Arial"/>
                <a:ea typeface="Arial"/>
                <a:cs typeface="Arial"/>
              </a:rPr>
              <a:t>Les animaux ne vous craignent plus et vous considèrent même comme une forme de gardien. Vous êtes cependant devenu extrêmement susceptible au feu et vous éloignez de toute flamme dès que possible.</a:t>
            </a:r>
            <a:endParaRPr sz="1000" b="0" i="1" u="none" strike="noStrike" cap="none" spc="0">
              <a:solidFill>
                <a:schemeClr val="tx1">
                  <a:lumMod val="50000"/>
                  <a:lumOff val="50000"/>
                </a:schemeClr>
              </a:solidFill>
              <a:latin typeface="Times New Roman"/>
              <a:cs typeface="Times New Roman"/>
            </a:endParaRPr>
          </a:p>
        </p:txBody>
      </p:sp>
      <p:sp>
        <p:nvSpPr>
          <p:cNvPr id="2138140197" name="ZoneTexte 2"/>
          <p:cNvSpPr txBox="1"/>
          <p:nvPr/>
        </p:nvSpPr>
        <p:spPr bwMode="auto">
          <a:xfrm>
            <a:off x="-5163" y="533754"/>
            <a:ext cx="3444993" cy="15700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1000" b="0" i="1" u="none" strike="noStrike" cap="none" spc="0">
                <a:solidFill>
                  <a:schemeClr val="tx1">
                    <a:lumMod val="50000"/>
                    <a:lumOff val="50000"/>
                  </a:schemeClr>
                </a:solidFill>
                <a:latin typeface="Arial"/>
                <a:ea typeface="Arial"/>
                <a:cs typeface="Arial"/>
              </a:rPr>
              <a:t>Vous auriez du mourir lors de cet accident dans la forêt, mais quelque chose vous a choisi. Un esprit protecteur aussi ancien que la forêt elle-même s'est greffé à vous, faisant vibrer votre cœur au rythme de la nature, de sa pulsation que vous ressentez maintenant comme un second cœur. </a:t>
            </a:r>
            <a:br>
              <a:rPr lang="fr-FR" sz="1000" b="0" i="1" u="none" strike="noStrike" cap="none" spc="0">
                <a:solidFill>
                  <a:schemeClr val="tx1">
                    <a:lumMod val="50000"/>
                    <a:lumOff val="50000"/>
                  </a:schemeClr>
                </a:solidFill>
                <a:latin typeface="Arial"/>
                <a:ea typeface="Arial"/>
                <a:cs typeface="Arial"/>
              </a:rPr>
            </a:br>
            <a:br>
              <a:rPr lang="fr-FR" sz="700" b="0" i="1" u="none" strike="noStrike" cap="none" spc="0">
                <a:solidFill>
                  <a:schemeClr val="tx1">
                    <a:lumMod val="50000"/>
                    <a:lumOff val="50000"/>
                  </a:schemeClr>
                </a:solidFill>
                <a:latin typeface="Arial"/>
                <a:ea typeface="Arial"/>
                <a:cs typeface="Arial"/>
              </a:rPr>
            </a:br>
            <a:r>
              <a:rPr lang="fr-FR" sz="1000" b="0" i="1" u="none" strike="noStrike" cap="none" spc="0">
                <a:solidFill>
                  <a:schemeClr val="tx1">
                    <a:lumMod val="50000"/>
                    <a:lumOff val="50000"/>
                  </a:schemeClr>
                </a:solidFill>
                <a:latin typeface="Arial"/>
                <a:ea typeface="Arial"/>
                <a:cs typeface="Arial"/>
              </a:rPr>
              <a:t>Vous avez régénéré de vos blessures à une vitesse improbable et ressentez depuis lors les blessures infligées à la nature sauvage de manière viscérale. </a:t>
            </a:r>
            <a:endParaRPr sz="1800" i="1"/>
          </a:p>
        </p:txBody>
      </p:sp>
      <p:sp>
        <p:nvSpPr>
          <p:cNvPr id="885455867" name=""/>
          <p:cNvSpPr/>
          <p:nvPr/>
        </p:nvSpPr>
        <p:spPr bwMode="auto">
          <a:xfrm rot="0" flipH="0" flipV="0">
            <a:off x="2344123" y="632925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8998078" name="Rectangle : avec coins arrondis en haut 1151560973"/>
          <p:cNvSpPr/>
          <p:nvPr/>
        </p:nvSpPr>
        <p:spPr bwMode="auto">
          <a:xfrm rot="5399909">
            <a:off x="2367315" y="6445714"/>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9299037" name=""/>
          <p:cNvSpPr/>
          <p:nvPr/>
        </p:nvSpPr>
        <p:spPr bwMode="auto">
          <a:xfrm rot="0" flipH="0" flipV="0">
            <a:off x="2353646" y="734843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34566368" name="Rectangle : avec coins arrondis en haut 1151560973"/>
          <p:cNvSpPr/>
          <p:nvPr/>
        </p:nvSpPr>
        <p:spPr bwMode="auto">
          <a:xfrm rot="5399909">
            <a:off x="2376838" y="7464888"/>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91782225" name=""/>
          <p:cNvSpPr/>
          <p:nvPr/>
        </p:nvSpPr>
        <p:spPr bwMode="auto">
          <a:xfrm rot="0" flipH="0" flipV="0">
            <a:off x="2353646" y="836760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46108779" name="Rectangle : avec coins arrondis en haut 1151560973"/>
          <p:cNvSpPr/>
          <p:nvPr/>
        </p:nvSpPr>
        <p:spPr bwMode="auto">
          <a:xfrm rot="5399909">
            <a:off x="2376838" y="8484063"/>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47249300" name=""/>
          <p:cNvSpPr txBox="1"/>
          <p:nvPr/>
        </p:nvSpPr>
        <p:spPr bwMode="auto">
          <a:xfrm rot="0" flipH="0" flipV="0">
            <a:off x="98431" y="2460486"/>
            <a:ext cx="3394661"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900" b="0" i="0" u="none" strike="noStrike" cap="none" spc="0">
                <a:solidFill>
                  <a:schemeClr val="tx1">
                    <a:lumMod val="50000"/>
                    <a:lumOff val="50000"/>
                  </a:schemeClr>
                </a:solidFill>
                <a:latin typeface="Arial"/>
                <a:ea typeface="Arial"/>
                <a:cs typeface="Arial"/>
              </a:rPr>
              <a:t>En tant que leshy, vous pouvez utiliser deux formes à volonté : la forme humaine et la forme transitoire. Quant à la forme de greffé, elle est incontrôlable et est à vous transforme en vengeur inhumain d'une nature malmenée. Toutes les formes ont ceci en commun :</a:t>
            </a:r>
            <a:endParaRPr lang="fr-FR" sz="900" b="0" i="0" u="none" strike="noStrike" cap="none" spc="0">
              <a:solidFill>
                <a:schemeClr val="tx1">
                  <a:lumMod val="50000"/>
                  <a:lumOff val="50000"/>
                </a:schemeClr>
              </a:solidFill>
              <a:latin typeface="Arial"/>
              <a:cs typeface="Arial"/>
            </a:endParaRPr>
          </a:p>
        </p:txBody>
      </p:sp>
      <p:sp>
        <p:nvSpPr>
          <p:cNvPr id="838184298" name=""/>
          <p:cNvSpPr txBox="1"/>
          <p:nvPr/>
        </p:nvSpPr>
        <p:spPr bwMode="auto">
          <a:xfrm rot="0" flipH="0" flipV="0">
            <a:off x="3434312" y="2460486"/>
            <a:ext cx="3399700"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échouez systématiquement un test de résistance physique contre le feu.</a:t>
            </a:r>
            <a:br>
              <a:rPr lang="fr-FR" sz="900" b="0" i="0" u="none" strike="noStrike" cap="none" spc="0">
                <a:solidFill>
                  <a:schemeClr val="tx1">
                    <a:lumMod val="50000"/>
                    <a:lumOff val="50000"/>
                  </a:schemeClr>
                </a:solidFill>
                <a:latin typeface="Arial"/>
                <a:ea typeface="Arial"/>
                <a:cs typeface="Arial"/>
              </a:rPr>
            </a:br>
            <a:endParaRPr lang="fr-FR" sz="900" b="0" i="0" u="none" strike="noStrike" cap="none" spc="0">
              <a:solidFill>
                <a:schemeClr val="tx1">
                  <a:lumMod val="50000"/>
                  <a:lumOff val="50000"/>
                </a:schemeClr>
              </a:solidFill>
              <a:latin typeface="Arial"/>
              <a:ea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pouvez guérir d'un trauma physique à chaque nuit de sommeil.</a:t>
            </a:r>
            <a:endParaRPr lang="fr-FR" sz="900" b="0" i="0" u="none" strike="noStrike" cap="none" spc="0">
              <a:solidFill>
                <a:schemeClr val="tx1">
                  <a:lumMod val="50000"/>
                  <a:lumOff val="50000"/>
                </a:schemeClr>
              </a:solidFill>
              <a:latin typeface="Arial"/>
              <a:cs typeface="Arial"/>
            </a:endParaRPr>
          </a:p>
        </p:txBody>
      </p:sp>
      <p:sp>
        <p:nvSpPr>
          <p:cNvPr id="1069371944" name=""/>
          <p:cNvSpPr/>
          <p:nvPr/>
        </p:nvSpPr>
        <p:spPr bwMode="auto">
          <a:xfrm>
            <a:off x="3282427" y="22347"/>
            <a:ext cx="3571425"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Georgia"/>
                <a:ea typeface="Georgia"/>
                <a:cs typeface="Georgia"/>
              </a:rPr>
              <a:t>Les </a:t>
            </a:r>
            <a:r>
              <a:rPr sz="2200" b="1">
                <a:solidFill>
                  <a:srgbClr val="BFBFBF"/>
                </a:solidFill>
                <a:latin typeface="Georgia"/>
                <a:ea typeface="Georgia"/>
                <a:cs typeface="Georgia"/>
              </a:rPr>
              <a:t>monstres </a:t>
            </a:r>
            <a:r>
              <a:rPr sz="1600">
                <a:solidFill>
                  <a:srgbClr val="BFBFBF"/>
                </a:solidFill>
                <a:latin typeface="Georgia"/>
                <a:ea typeface="Georgia"/>
                <a:cs typeface="Georgia"/>
              </a:rPr>
              <a:t>que nous sommes</a:t>
            </a:r>
            <a:endParaRPr sz="2000">
              <a:solidFill>
                <a:srgbClr val="BFBFBF"/>
              </a:solidFill>
              <a:latin typeface="Georgia"/>
              <a:cs typeface="Georgia"/>
            </a:endParaRPr>
          </a:p>
        </p:txBody>
      </p:sp>
      <p:sp>
        <p:nvSpPr>
          <p:cNvPr id="1410232571" name="Flèche : pentagone 463861063"/>
          <p:cNvSpPr/>
          <p:nvPr/>
        </p:nvSpPr>
        <p:spPr bwMode="auto">
          <a:xfrm>
            <a:off x="5935042" y="6391634"/>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02060082" name="Flèche : pentagone 272004907"/>
          <p:cNvSpPr/>
          <p:nvPr/>
        </p:nvSpPr>
        <p:spPr bwMode="auto">
          <a:xfrm>
            <a:off x="6123825" y="6391634"/>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3431040" name="Flèche : pentagone 28174069"/>
          <p:cNvSpPr/>
          <p:nvPr/>
        </p:nvSpPr>
        <p:spPr bwMode="auto">
          <a:xfrm>
            <a:off x="6312600" y="6391634"/>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211</cp:revision>
  <dcterms:created xsi:type="dcterms:W3CDTF">2012-12-03T06:56:55Z</dcterms:created>
  <dcterms:modified xsi:type="dcterms:W3CDTF">2026-08-11T16:42:51Z</dcterms:modified>
</cp:coreProperties>
</file>